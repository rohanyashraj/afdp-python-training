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56" r:id="rId5"/>
    <p:sldId id="260" r:id="rId6"/>
    <p:sldId id="266" r:id="rId7"/>
    <p:sldId id="261" r:id="rId8"/>
    <p:sldId id="259" r:id="rId9"/>
    <p:sldId id="264" r:id="rId10"/>
    <p:sldId id="262" r:id="rId11"/>
    <p:sldId id="267" r:id="rId12"/>
    <p:sldId id="263" r:id="rId13"/>
    <p:sldId id="268" r:id="rId14"/>
    <p:sldId id="265" r:id="rId15"/>
    <p:sldId id="269"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417" autoAdjust="0"/>
    <p:restoredTop sz="55063" autoAdjust="0"/>
  </p:normalViewPr>
  <p:slideViewPr>
    <p:cSldViewPr snapToGrid="0">
      <p:cViewPr varScale="1">
        <p:scale>
          <a:sx n="57" d="100"/>
          <a:sy n="57" d="100"/>
        </p:scale>
        <p:origin x="1416"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_rels/data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ata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_rels/data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03F4AB-83E2-4950-9370-0BD43A7EC20B}" type="doc">
      <dgm:prSet loTypeId="urn:microsoft.com/office/officeart/2005/8/layout/hierarchy1" loCatId="hierarchy" qsTypeId="urn:microsoft.com/office/officeart/2005/8/quickstyle/simple1#1" qsCatId="simple" csTypeId="urn:microsoft.com/office/officeart/2005/8/colors/accent0_3#1" csCatId="mainScheme" phldr="1"/>
      <dgm:spPr/>
      <dgm:t>
        <a:bodyPr/>
        <a:lstStyle/>
        <a:p>
          <a:endParaRPr lang="en-US"/>
        </a:p>
      </dgm:t>
    </dgm:pt>
    <dgm:pt modelId="{128D5F4F-77D5-4D51-B47D-8DEA234415BB}">
      <dgm:prSet/>
      <dgm:spPr/>
      <dgm:t>
        <a:bodyPr/>
        <a:lstStyle/>
        <a:p>
          <a:r>
            <a:rPr lang="en-US"/>
            <a:t>Shift from Excel → Python</a:t>
          </a:r>
        </a:p>
      </dgm:t>
    </dgm:pt>
    <dgm:pt modelId="{EE25E263-4FE1-45DD-B312-0EC355BA1A8B}" type="parTrans" cxnId="{6C5A85FB-4223-4385-9220-CCBD4C872103}">
      <dgm:prSet/>
      <dgm:spPr/>
      <dgm:t>
        <a:bodyPr/>
        <a:lstStyle/>
        <a:p>
          <a:endParaRPr lang="en-US"/>
        </a:p>
      </dgm:t>
    </dgm:pt>
    <dgm:pt modelId="{02379BA7-3647-49B5-9C23-FD63D432B32C}" type="sibTrans" cxnId="{6C5A85FB-4223-4385-9220-CCBD4C872103}">
      <dgm:prSet/>
      <dgm:spPr/>
      <dgm:t>
        <a:bodyPr/>
        <a:lstStyle/>
        <a:p>
          <a:endParaRPr lang="en-US"/>
        </a:p>
      </dgm:t>
    </dgm:pt>
    <dgm:pt modelId="{1D1136BE-675A-4DC5-9CFF-339BD7035DD4}">
      <dgm:prSet/>
      <dgm:spPr/>
      <dgm:t>
        <a:bodyPr/>
        <a:lstStyle/>
        <a:p>
          <a:r>
            <a:rPr lang="en-US" dirty="0"/>
            <a:t>Industry demand (employers, </a:t>
          </a:r>
          <a:r>
            <a:rPr lang="en-US" dirty="0" err="1"/>
            <a:t>IFoA</a:t>
          </a:r>
          <a:r>
            <a:rPr lang="en-US" dirty="0"/>
            <a:t>, SOA, CAS)</a:t>
          </a:r>
        </a:p>
      </dgm:t>
    </dgm:pt>
    <dgm:pt modelId="{FF7E435B-81F3-4A79-934B-D598043C9A72}" type="parTrans" cxnId="{D7938A21-97A1-4785-AC89-F38BB0F06186}">
      <dgm:prSet/>
      <dgm:spPr/>
      <dgm:t>
        <a:bodyPr/>
        <a:lstStyle/>
        <a:p>
          <a:endParaRPr lang="en-US"/>
        </a:p>
      </dgm:t>
    </dgm:pt>
    <dgm:pt modelId="{0A3803B7-D97D-43FD-9EBD-93C48BCD762D}" type="sibTrans" cxnId="{D7938A21-97A1-4785-AC89-F38BB0F06186}">
      <dgm:prSet/>
      <dgm:spPr/>
      <dgm:t>
        <a:bodyPr/>
        <a:lstStyle/>
        <a:p>
          <a:endParaRPr lang="en-US"/>
        </a:p>
      </dgm:t>
    </dgm:pt>
    <dgm:pt modelId="{A08E72BC-EF6B-4702-8860-AE8A1E1AD114}">
      <dgm:prSet/>
      <dgm:spPr/>
      <dgm:t>
        <a:bodyPr/>
        <a:lstStyle/>
        <a:p>
          <a:r>
            <a:rPr lang="en-US"/>
            <a:t>Benefits for teaching and research</a:t>
          </a:r>
        </a:p>
      </dgm:t>
    </dgm:pt>
    <dgm:pt modelId="{ED3CCA18-6502-4C89-8C55-E08612D303DC}" type="parTrans" cxnId="{0D42E2C8-470A-4F03-ACB1-7F767022C1FB}">
      <dgm:prSet/>
      <dgm:spPr/>
      <dgm:t>
        <a:bodyPr/>
        <a:lstStyle/>
        <a:p>
          <a:endParaRPr lang="en-US"/>
        </a:p>
      </dgm:t>
    </dgm:pt>
    <dgm:pt modelId="{365E3C8D-74A9-4F92-BF2E-4B47A7CB3E31}" type="sibTrans" cxnId="{0D42E2C8-470A-4F03-ACB1-7F767022C1FB}">
      <dgm:prSet/>
      <dgm:spPr/>
      <dgm:t>
        <a:bodyPr/>
        <a:lstStyle/>
        <a:p>
          <a:endParaRPr lang="en-US"/>
        </a:p>
      </dgm:t>
    </dgm:pt>
    <dgm:pt modelId="{1C28AD56-F844-44F6-AA26-5C7367A92417}" type="pres">
      <dgm:prSet presAssocID="{0503F4AB-83E2-4950-9370-0BD43A7EC20B}" presName="hierChild1" presStyleCnt="0">
        <dgm:presLayoutVars>
          <dgm:chPref val="1"/>
          <dgm:dir/>
          <dgm:animOne val="branch"/>
          <dgm:animLvl val="lvl"/>
          <dgm:resizeHandles/>
        </dgm:presLayoutVars>
      </dgm:prSet>
      <dgm:spPr/>
    </dgm:pt>
    <dgm:pt modelId="{E2D3D06D-A6C6-42D5-BCD7-FE75D2522C01}" type="pres">
      <dgm:prSet presAssocID="{128D5F4F-77D5-4D51-B47D-8DEA234415BB}" presName="hierRoot1" presStyleCnt="0"/>
      <dgm:spPr/>
    </dgm:pt>
    <dgm:pt modelId="{9D81D067-7E0E-46A0-AFFE-03F2E209F7AD}" type="pres">
      <dgm:prSet presAssocID="{128D5F4F-77D5-4D51-B47D-8DEA234415BB}" presName="composite" presStyleCnt="0"/>
      <dgm:spPr/>
    </dgm:pt>
    <dgm:pt modelId="{461680C1-EFAB-48F3-94A8-94400796EE7A}" type="pres">
      <dgm:prSet presAssocID="{128D5F4F-77D5-4D51-B47D-8DEA234415BB}" presName="background" presStyleLbl="node0" presStyleIdx="0" presStyleCnt="3"/>
      <dgm:spPr/>
    </dgm:pt>
    <dgm:pt modelId="{25C264B9-A7D5-470B-8EB7-984511520F49}" type="pres">
      <dgm:prSet presAssocID="{128D5F4F-77D5-4D51-B47D-8DEA234415BB}" presName="text" presStyleLbl="fgAcc0" presStyleIdx="0" presStyleCnt="3">
        <dgm:presLayoutVars>
          <dgm:chPref val="3"/>
        </dgm:presLayoutVars>
      </dgm:prSet>
      <dgm:spPr/>
    </dgm:pt>
    <dgm:pt modelId="{D7639EC4-8763-4C33-AE29-D6A22B7C25DD}" type="pres">
      <dgm:prSet presAssocID="{128D5F4F-77D5-4D51-B47D-8DEA234415BB}" presName="hierChild2" presStyleCnt="0"/>
      <dgm:spPr/>
    </dgm:pt>
    <dgm:pt modelId="{8E49FDF5-D5A9-4484-A4A5-C26DA0D78D9D}" type="pres">
      <dgm:prSet presAssocID="{1D1136BE-675A-4DC5-9CFF-339BD7035DD4}" presName="hierRoot1" presStyleCnt="0"/>
      <dgm:spPr/>
    </dgm:pt>
    <dgm:pt modelId="{F7DA0B40-CE12-4E2D-8141-B5B28ABAA362}" type="pres">
      <dgm:prSet presAssocID="{1D1136BE-675A-4DC5-9CFF-339BD7035DD4}" presName="composite" presStyleCnt="0"/>
      <dgm:spPr/>
    </dgm:pt>
    <dgm:pt modelId="{CD730BF8-F696-4339-A17F-693C7318881E}" type="pres">
      <dgm:prSet presAssocID="{1D1136BE-675A-4DC5-9CFF-339BD7035DD4}" presName="background" presStyleLbl="node0" presStyleIdx="1" presStyleCnt="3"/>
      <dgm:spPr/>
    </dgm:pt>
    <dgm:pt modelId="{1A99CC1F-A261-4BD4-B6D4-1380608CE3DD}" type="pres">
      <dgm:prSet presAssocID="{1D1136BE-675A-4DC5-9CFF-339BD7035DD4}" presName="text" presStyleLbl="fgAcc0" presStyleIdx="1" presStyleCnt="3">
        <dgm:presLayoutVars>
          <dgm:chPref val="3"/>
        </dgm:presLayoutVars>
      </dgm:prSet>
      <dgm:spPr/>
    </dgm:pt>
    <dgm:pt modelId="{CA364815-CFAB-42B3-B496-B932C755A3A0}" type="pres">
      <dgm:prSet presAssocID="{1D1136BE-675A-4DC5-9CFF-339BD7035DD4}" presName="hierChild2" presStyleCnt="0"/>
      <dgm:spPr/>
    </dgm:pt>
    <dgm:pt modelId="{90526678-8905-4242-9FFD-AB33E523AF6E}" type="pres">
      <dgm:prSet presAssocID="{A08E72BC-EF6B-4702-8860-AE8A1E1AD114}" presName="hierRoot1" presStyleCnt="0"/>
      <dgm:spPr/>
    </dgm:pt>
    <dgm:pt modelId="{05507F2F-5101-4E8D-BDED-00EC75CAC2EE}" type="pres">
      <dgm:prSet presAssocID="{A08E72BC-EF6B-4702-8860-AE8A1E1AD114}" presName="composite" presStyleCnt="0"/>
      <dgm:spPr/>
    </dgm:pt>
    <dgm:pt modelId="{F87943C6-6B24-4017-AC90-C50B15E03ED9}" type="pres">
      <dgm:prSet presAssocID="{A08E72BC-EF6B-4702-8860-AE8A1E1AD114}" presName="background" presStyleLbl="node0" presStyleIdx="2" presStyleCnt="3"/>
      <dgm:spPr/>
    </dgm:pt>
    <dgm:pt modelId="{64967EBE-F58B-492D-894B-2A10CADEABEF}" type="pres">
      <dgm:prSet presAssocID="{A08E72BC-EF6B-4702-8860-AE8A1E1AD114}" presName="text" presStyleLbl="fgAcc0" presStyleIdx="2" presStyleCnt="3">
        <dgm:presLayoutVars>
          <dgm:chPref val="3"/>
        </dgm:presLayoutVars>
      </dgm:prSet>
      <dgm:spPr/>
    </dgm:pt>
    <dgm:pt modelId="{38D5C066-9F53-410D-9A5B-172FFDD8A67B}" type="pres">
      <dgm:prSet presAssocID="{A08E72BC-EF6B-4702-8860-AE8A1E1AD114}" presName="hierChild2" presStyleCnt="0"/>
      <dgm:spPr/>
    </dgm:pt>
  </dgm:ptLst>
  <dgm:cxnLst>
    <dgm:cxn modelId="{9E2A401F-CDCC-4806-ADF4-C23E3ACE843D}" type="presOf" srcId="{0503F4AB-83E2-4950-9370-0BD43A7EC20B}" destId="{1C28AD56-F844-44F6-AA26-5C7367A92417}" srcOrd="0" destOrd="0" presId="urn:microsoft.com/office/officeart/2005/8/layout/hierarchy1"/>
    <dgm:cxn modelId="{D7938A21-97A1-4785-AC89-F38BB0F06186}" srcId="{0503F4AB-83E2-4950-9370-0BD43A7EC20B}" destId="{1D1136BE-675A-4DC5-9CFF-339BD7035DD4}" srcOrd="1" destOrd="0" parTransId="{FF7E435B-81F3-4A79-934B-D598043C9A72}" sibTransId="{0A3803B7-D97D-43FD-9EBD-93C48BCD762D}"/>
    <dgm:cxn modelId="{27387268-92D4-4241-A3CA-66B2FB1E43AF}" type="presOf" srcId="{A08E72BC-EF6B-4702-8860-AE8A1E1AD114}" destId="{64967EBE-F58B-492D-894B-2A10CADEABEF}" srcOrd="0" destOrd="0" presId="urn:microsoft.com/office/officeart/2005/8/layout/hierarchy1"/>
    <dgm:cxn modelId="{8AE7259F-ABC3-439B-B6D4-4BF69F106225}" type="presOf" srcId="{128D5F4F-77D5-4D51-B47D-8DEA234415BB}" destId="{25C264B9-A7D5-470B-8EB7-984511520F49}" srcOrd="0" destOrd="0" presId="urn:microsoft.com/office/officeart/2005/8/layout/hierarchy1"/>
    <dgm:cxn modelId="{CD9C96A8-50A6-47E0-8830-BED353612F16}" type="presOf" srcId="{1D1136BE-675A-4DC5-9CFF-339BD7035DD4}" destId="{1A99CC1F-A261-4BD4-B6D4-1380608CE3DD}" srcOrd="0" destOrd="0" presId="urn:microsoft.com/office/officeart/2005/8/layout/hierarchy1"/>
    <dgm:cxn modelId="{0D42E2C8-470A-4F03-ACB1-7F767022C1FB}" srcId="{0503F4AB-83E2-4950-9370-0BD43A7EC20B}" destId="{A08E72BC-EF6B-4702-8860-AE8A1E1AD114}" srcOrd="2" destOrd="0" parTransId="{ED3CCA18-6502-4C89-8C55-E08612D303DC}" sibTransId="{365E3C8D-74A9-4F92-BF2E-4B47A7CB3E31}"/>
    <dgm:cxn modelId="{6C5A85FB-4223-4385-9220-CCBD4C872103}" srcId="{0503F4AB-83E2-4950-9370-0BD43A7EC20B}" destId="{128D5F4F-77D5-4D51-B47D-8DEA234415BB}" srcOrd="0" destOrd="0" parTransId="{EE25E263-4FE1-45DD-B312-0EC355BA1A8B}" sibTransId="{02379BA7-3647-49B5-9C23-FD63D432B32C}"/>
    <dgm:cxn modelId="{7B02F7C9-71AA-4410-B066-89CA790AEE49}" type="presParOf" srcId="{1C28AD56-F844-44F6-AA26-5C7367A92417}" destId="{E2D3D06D-A6C6-42D5-BCD7-FE75D2522C01}" srcOrd="0" destOrd="0" presId="urn:microsoft.com/office/officeart/2005/8/layout/hierarchy1"/>
    <dgm:cxn modelId="{6E0DCE79-5717-4FF1-B739-7CF1A3E2B516}" type="presParOf" srcId="{E2D3D06D-A6C6-42D5-BCD7-FE75D2522C01}" destId="{9D81D067-7E0E-46A0-AFFE-03F2E209F7AD}" srcOrd="0" destOrd="0" presId="urn:microsoft.com/office/officeart/2005/8/layout/hierarchy1"/>
    <dgm:cxn modelId="{94D751E9-0B4B-483D-869F-C09292E0FB96}" type="presParOf" srcId="{9D81D067-7E0E-46A0-AFFE-03F2E209F7AD}" destId="{461680C1-EFAB-48F3-94A8-94400796EE7A}" srcOrd="0" destOrd="0" presId="urn:microsoft.com/office/officeart/2005/8/layout/hierarchy1"/>
    <dgm:cxn modelId="{12E035EC-BC6B-41CA-82A2-7A2C88D9B4BA}" type="presParOf" srcId="{9D81D067-7E0E-46A0-AFFE-03F2E209F7AD}" destId="{25C264B9-A7D5-470B-8EB7-984511520F49}" srcOrd="1" destOrd="0" presId="urn:microsoft.com/office/officeart/2005/8/layout/hierarchy1"/>
    <dgm:cxn modelId="{28B19847-73B3-4D05-8111-689CBA83DFF7}" type="presParOf" srcId="{E2D3D06D-A6C6-42D5-BCD7-FE75D2522C01}" destId="{D7639EC4-8763-4C33-AE29-D6A22B7C25DD}" srcOrd="1" destOrd="0" presId="urn:microsoft.com/office/officeart/2005/8/layout/hierarchy1"/>
    <dgm:cxn modelId="{2C800DA5-BDA0-4825-AC26-C23E336A4912}" type="presParOf" srcId="{1C28AD56-F844-44F6-AA26-5C7367A92417}" destId="{8E49FDF5-D5A9-4484-A4A5-C26DA0D78D9D}" srcOrd="1" destOrd="0" presId="urn:microsoft.com/office/officeart/2005/8/layout/hierarchy1"/>
    <dgm:cxn modelId="{735A8FFC-1B13-44F8-9B88-C849078003B9}" type="presParOf" srcId="{8E49FDF5-D5A9-4484-A4A5-C26DA0D78D9D}" destId="{F7DA0B40-CE12-4E2D-8141-B5B28ABAA362}" srcOrd="0" destOrd="0" presId="urn:microsoft.com/office/officeart/2005/8/layout/hierarchy1"/>
    <dgm:cxn modelId="{A551EA64-0217-484F-9452-B17BE1B49764}" type="presParOf" srcId="{F7DA0B40-CE12-4E2D-8141-B5B28ABAA362}" destId="{CD730BF8-F696-4339-A17F-693C7318881E}" srcOrd="0" destOrd="0" presId="urn:microsoft.com/office/officeart/2005/8/layout/hierarchy1"/>
    <dgm:cxn modelId="{414C5922-1297-427A-BE89-809C9755FDEA}" type="presParOf" srcId="{F7DA0B40-CE12-4E2D-8141-B5B28ABAA362}" destId="{1A99CC1F-A261-4BD4-B6D4-1380608CE3DD}" srcOrd="1" destOrd="0" presId="urn:microsoft.com/office/officeart/2005/8/layout/hierarchy1"/>
    <dgm:cxn modelId="{8B07E2FE-2C0B-4D13-A55F-844295A20F3F}" type="presParOf" srcId="{8E49FDF5-D5A9-4484-A4A5-C26DA0D78D9D}" destId="{CA364815-CFAB-42B3-B496-B932C755A3A0}" srcOrd="1" destOrd="0" presId="urn:microsoft.com/office/officeart/2005/8/layout/hierarchy1"/>
    <dgm:cxn modelId="{41C45C07-5867-4AE9-8FA7-900AAFE06170}" type="presParOf" srcId="{1C28AD56-F844-44F6-AA26-5C7367A92417}" destId="{90526678-8905-4242-9FFD-AB33E523AF6E}" srcOrd="2" destOrd="0" presId="urn:microsoft.com/office/officeart/2005/8/layout/hierarchy1"/>
    <dgm:cxn modelId="{C2E55553-8E93-48F9-95B3-A4131690DCAF}" type="presParOf" srcId="{90526678-8905-4242-9FFD-AB33E523AF6E}" destId="{05507F2F-5101-4E8D-BDED-00EC75CAC2EE}" srcOrd="0" destOrd="0" presId="urn:microsoft.com/office/officeart/2005/8/layout/hierarchy1"/>
    <dgm:cxn modelId="{2C1DAE2C-2590-4814-AF9F-543AF37D49C6}" type="presParOf" srcId="{05507F2F-5101-4E8D-BDED-00EC75CAC2EE}" destId="{F87943C6-6B24-4017-AC90-C50B15E03ED9}" srcOrd="0" destOrd="0" presId="urn:microsoft.com/office/officeart/2005/8/layout/hierarchy1"/>
    <dgm:cxn modelId="{1161A582-AA04-4137-BDEB-EB04E89B4414}" type="presParOf" srcId="{05507F2F-5101-4E8D-BDED-00EC75CAC2EE}" destId="{64967EBE-F58B-492D-894B-2A10CADEABEF}" srcOrd="1" destOrd="0" presId="urn:microsoft.com/office/officeart/2005/8/layout/hierarchy1"/>
    <dgm:cxn modelId="{88694146-A5AC-41E8-9228-8FCF71A11D40}" type="presParOf" srcId="{90526678-8905-4242-9FFD-AB33E523AF6E}" destId="{38D5C066-9F53-410D-9A5B-172FFDD8A67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164B631-6969-4E86-B5EC-646AA0F02475}" type="doc">
      <dgm:prSet loTypeId="urn:microsoft.com/office/officeart/2018/2/layout/IconVerticalSolidList" loCatId="icon" qsTypeId="urn:microsoft.com/office/officeart/2005/8/quickstyle/simple1#2" qsCatId="simple" csTypeId="urn:microsoft.com/office/officeart/2005/8/colors/accent1_2#1" csCatId="accent1" phldr="1"/>
      <dgm:spPr/>
      <dgm:t>
        <a:bodyPr/>
        <a:lstStyle/>
        <a:p>
          <a:endParaRPr lang="en-US"/>
        </a:p>
      </dgm:t>
    </dgm:pt>
    <dgm:pt modelId="{FE57A6AF-1FF2-485F-B5B4-20E29B419F55}">
      <dgm:prSet/>
      <dgm:spPr/>
      <dgm:t>
        <a:bodyPr/>
        <a:lstStyle/>
        <a:p>
          <a:pPr>
            <a:lnSpc>
              <a:spcPct val="100000"/>
            </a:lnSpc>
          </a:pPr>
          <a:r>
            <a:rPr lang="en-US"/>
            <a:t>Working with DataFrames (Pandas)</a:t>
          </a:r>
        </a:p>
      </dgm:t>
    </dgm:pt>
    <dgm:pt modelId="{183C8796-D46D-4F73-8A00-B98EEA593348}" type="parTrans" cxnId="{3A17552B-52B8-4F63-8E1A-7F13CEB0DFF7}">
      <dgm:prSet/>
      <dgm:spPr/>
      <dgm:t>
        <a:bodyPr/>
        <a:lstStyle/>
        <a:p>
          <a:endParaRPr lang="en-US"/>
        </a:p>
      </dgm:t>
    </dgm:pt>
    <dgm:pt modelId="{44CA38AA-74CE-4607-BC00-098E2671A77B}" type="sibTrans" cxnId="{3A17552B-52B8-4F63-8E1A-7F13CEB0DFF7}">
      <dgm:prSet/>
      <dgm:spPr/>
      <dgm:t>
        <a:bodyPr/>
        <a:lstStyle/>
        <a:p>
          <a:endParaRPr lang="en-US"/>
        </a:p>
      </dgm:t>
    </dgm:pt>
    <dgm:pt modelId="{22B2FCC1-B49B-4D76-B31B-5A21D219E660}">
      <dgm:prSet/>
      <dgm:spPr/>
      <dgm:t>
        <a:bodyPr/>
        <a:lstStyle/>
        <a:p>
          <a:pPr>
            <a:lnSpc>
              <a:spcPct val="100000"/>
            </a:lnSpc>
          </a:pPr>
          <a:r>
            <a:rPr lang="en-US"/>
            <a:t>Filtering, grouping, summarizing</a:t>
          </a:r>
        </a:p>
      </dgm:t>
    </dgm:pt>
    <dgm:pt modelId="{C72F06D9-5F10-4B09-A7F7-CDF3288C9D3C}" type="parTrans" cxnId="{D601F5AA-306A-4AB5-9987-BC3C52CF8810}">
      <dgm:prSet/>
      <dgm:spPr/>
      <dgm:t>
        <a:bodyPr/>
        <a:lstStyle/>
        <a:p>
          <a:endParaRPr lang="en-US"/>
        </a:p>
      </dgm:t>
    </dgm:pt>
    <dgm:pt modelId="{7AF4775E-C487-46F6-B0F4-E7D4DEFA87C8}" type="sibTrans" cxnId="{D601F5AA-306A-4AB5-9987-BC3C52CF8810}">
      <dgm:prSet/>
      <dgm:spPr/>
      <dgm:t>
        <a:bodyPr/>
        <a:lstStyle/>
        <a:p>
          <a:endParaRPr lang="en-US"/>
        </a:p>
      </dgm:t>
    </dgm:pt>
    <dgm:pt modelId="{D8145560-6625-4C3D-A95A-1B150A6C0C16}">
      <dgm:prSet/>
      <dgm:spPr/>
      <dgm:t>
        <a:bodyPr/>
        <a:lstStyle/>
        <a:p>
          <a:pPr>
            <a:lnSpc>
              <a:spcPct val="100000"/>
            </a:lnSpc>
          </a:pPr>
          <a:r>
            <a:rPr lang="en-US"/>
            <a:t>Example: Claim frequency by age group</a:t>
          </a:r>
        </a:p>
      </dgm:t>
    </dgm:pt>
    <dgm:pt modelId="{1A317C88-3F7E-4CE5-8953-E2D7D6332CBA}" type="parTrans" cxnId="{A5DA68B5-A307-4E1A-821D-2FDD66BCD435}">
      <dgm:prSet/>
      <dgm:spPr/>
      <dgm:t>
        <a:bodyPr/>
        <a:lstStyle/>
        <a:p>
          <a:endParaRPr lang="en-US"/>
        </a:p>
      </dgm:t>
    </dgm:pt>
    <dgm:pt modelId="{5AC9807B-4DB8-42D7-AB9B-128071AF536C}" type="sibTrans" cxnId="{A5DA68B5-A307-4E1A-821D-2FDD66BCD435}">
      <dgm:prSet/>
      <dgm:spPr/>
      <dgm:t>
        <a:bodyPr/>
        <a:lstStyle/>
        <a:p>
          <a:endParaRPr lang="en-US"/>
        </a:p>
      </dgm:t>
    </dgm:pt>
    <dgm:pt modelId="{75568298-1A33-43B5-977F-BE7436A7C80F}">
      <dgm:prSet/>
      <dgm:spPr/>
      <dgm:t>
        <a:bodyPr/>
        <a:lstStyle/>
        <a:p>
          <a:pPr>
            <a:lnSpc>
              <a:spcPct val="100000"/>
            </a:lnSpc>
          </a:pPr>
          <a:r>
            <a:rPr lang="en-US"/>
            <a:t>Mathematical &amp; Statistical Functions</a:t>
          </a:r>
        </a:p>
      </dgm:t>
    </dgm:pt>
    <dgm:pt modelId="{69AF287D-AE7D-40F2-B3AF-93F8493951C1}" type="parTrans" cxnId="{6B36FFA2-3416-481D-A119-8E22DC4EDCB5}">
      <dgm:prSet/>
      <dgm:spPr/>
      <dgm:t>
        <a:bodyPr/>
        <a:lstStyle/>
        <a:p>
          <a:endParaRPr lang="en-US"/>
        </a:p>
      </dgm:t>
    </dgm:pt>
    <dgm:pt modelId="{9E16C81F-0821-4179-ADBF-4396CF2F94C8}" type="sibTrans" cxnId="{6B36FFA2-3416-481D-A119-8E22DC4EDCB5}">
      <dgm:prSet/>
      <dgm:spPr/>
      <dgm:t>
        <a:bodyPr/>
        <a:lstStyle/>
        <a:p>
          <a:endParaRPr lang="en-US"/>
        </a:p>
      </dgm:t>
    </dgm:pt>
    <dgm:pt modelId="{B0BEA45B-0CE3-4D91-9563-2822E9BF2490}">
      <dgm:prSet/>
      <dgm:spPr/>
      <dgm:t>
        <a:bodyPr/>
        <a:lstStyle/>
        <a:p>
          <a:pPr>
            <a:lnSpc>
              <a:spcPct val="100000"/>
            </a:lnSpc>
          </a:pPr>
          <a:r>
            <a:rPr lang="en-US"/>
            <a:t>NumPy, SciPy basics</a:t>
          </a:r>
        </a:p>
      </dgm:t>
    </dgm:pt>
    <dgm:pt modelId="{AE796FDC-4398-43CB-9D23-F948952FE8AC}" type="parTrans" cxnId="{9A3B9EDF-99C4-4293-BEB9-2DFEF2C96B11}">
      <dgm:prSet/>
      <dgm:spPr/>
      <dgm:t>
        <a:bodyPr/>
        <a:lstStyle/>
        <a:p>
          <a:endParaRPr lang="en-US"/>
        </a:p>
      </dgm:t>
    </dgm:pt>
    <dgm:pt modelId="{21426E00-9AEB-4C79-8E7F-1B227EE4AA61}" type="sibTrans" cxnId="{9A3B9EDF-99C4-4293-BEB9-2DFEF2C96B11}">
      <dgm:prSet/>
      <dgm:spPr/>
      <dgm:t>
        <a:bodyPr/>
        <a:lstStyle/>
        <a:p>
          <a:endParaRPr lang="en-US"/>
        </a:p>
      </dgm:t>
    </dgm:pt>
    <dgm:pt modelId="{1342A82B-E174-40CE-BE94-55E96441D8AB}">
      <dgm:prSet/>
      <dgm:spPr/>
      <dgm:t>
        <a:bodyPr/>
        <a:lstStyle/>
        <a:p>
          <a:pPr>
            <a:lnSpc>
              <a:spcPct val="100000"/>
            </a:lnSpc>
          </a:pPr>
          <a:r>
            <a:rPr lang="en-US"/>
            <a:t>Example: Calculate expected present value (EPV)</a:t>
          </a:r>
        </a:p>
      </dgm:t>
    </dgm:pt>
    <dgm:pt modelId="{0F0F2B95-3E18-4BCD-B803-1B9415AFF7A0}" type="parTrans" cxnId="{948B9966-93B3-42A6-BC00-E7BCDC2460E3}">
      <dgm:prSet/>
      <dgm:spPr/>
      <dgm:t>
        <a:bodyPr/>
        <a:lstStyle/>
        <a:p>
          <a:endParaRPr lang="en-US"/>
        </a:p>
      </dgm:t>
    </dgm:pt>
    <dgm:pt modelId="{DA0314BC-A367-46B5-826C-42486112FA66}" type="sibTrans" cxnId="{948B9966-93B3-42A6-BC00-E7BCDC2460E3}">
      <dgm:prSet/>
      <dgm:spPr/>
      <dgm:t>
        <a:bodyPr/>
        <a:lstStyle/>
        <a:p>
          <a:endParaRPr lang="en-US"/>
        </a:p>
      </dgm:t>
    </dgm:pt>
    <dgm:pt modelId="{C5D3033E-47E1-42E1-A872-96DBFFAF1E0B}">
      <dgm:prSet/>
      <dgm:spPr/>
      <dgm:t>
        <a:bodyPr/>
        <a:lstStyle/>
        <a:p>
          <a:pPr>
            <a:lnSpc>
              <a:spcPct val="100000"/>
            </a:lnSpc>
          </a:pPr>
          <a:r>
            <a:rPr lang="en-US"/>
            <a:t>Visualization</a:t>
          </a:r>
        </a:p>
      </dgm:t>
    </dgm:pt>
    <dgm:pt modelId="{F1B1FFCF-E91E-4C06-A6EA-165BF5D9B2B7}" type="parTrans" cxnId="{D2E277BC-1909-4A18-8942-79E9086D6510}">
      <dgm:prSet/>
      <dgm:spPr/>
      <dgm:t>
        <a:bodyPr/>
        <a:lstStyle/>
        <a:p>
          <a:endParaRPr lang="en-US"/>
        </a:p>
      </dgm:t>
    </dgm:pt>
    <dgm:pt modelId="{EE3E29E6-67E6-4060-BD81-AF205E317EE3}" type="sibTrans" cxnId="{D2E277BC-1909-4A18-8942-79E9086D6510}">
      <dgm:prSet/>
      <dgm:spPr/>
      <dgm:t>
        <a:bodyPr/>
        <a:lstStyle/>
        <a:p>
          <a:endParaRPr lang="en-US"/>
        </a:p>
      </dgm:t>
    </dgm:pt>
    <dgm:pt modelId="{A939B058-6C2C-4083-AE79-5399528A70FC}">
      <dgm:prSet/>
      <dgm:spPr/>
      <dgm:t>
        <a:bodyPr/>
        <a:lstStyle/>
        <a:p>
          <a:pPr>
            <a:lnSpc>
              <a:spcPct val="100000"/>
            </a:lnSpc>
          </a:pPr>
          <a:r>
            <a:rPr lang="en-US"/>
            <a:t>Matplotlib / Seaborn plots</a:t>
          </a:r>
        </a:p>
      </dgm:t>
    </dgm:pt>
    <dgm:pt modelId="{F8FC1C7D-9A67-442B-ABD0-45EA2B1554AF}" type="parTrans" cxnId="{371EC0A7-CA09-43FD-8D1C-2D53F1DCE0DB}">
      <dgm:prSet/>
      <dgm:spPr/>
      <dgm:t>
        <a:bodyPr/>
        <a:lstStyle/>
        <a:p>
          <a:endParaRPr lang="en-US"/>
        </a:p>
      </dgm:t>
    </dgm:pt>
    <dgm:pt modelId="{EF625B5F-4C72-45B2-8F1F-7E9368E39EC5}" type="sibTrans" cxnId="{371EC0A7-CA09-43FD-8D1C-2D53F1DCE0DB}">
      <dgm:prSet/>
      <dgm:spPr/>
      <dgm:t>
        <a:bodyPr/>
        <a:lstStyle/>
        <a:p>
          <a:endParaRPr lang="en-US"/>
        </a:p>
      </dgm:t>
    </dgm:pt>
    <dgm:pt modelId="{2AE4928F-896C-496C-A296-6868503C64F1}">
      <dgm:prSet/>
      <dgm:spPr/>
      <dgm:t>
        <a:bodyPr/>
        <a:lstStyle/>
        <a:p>
          <a:pPr>
            <a:lnSpc>
              <a:spcPct val="100000"/>
            </a:lnSpc>
          </a:pPr>
          <a:r>
            <a:rPr lang="en-US"/>
            <a:t>Example: Claim severity distribution graph</a:t>
          </a:r>
        </a:p>
      </dgm:t>
    </dgm:pt>
    <dgm:pt modelId="{64AA8075-A061-4B2D-8D3D-F38BBC53EEDA}" type="parTrans" cxnId="{26B2AD9F-705B-43E6-BBD2-4BD914E3FCB3}">
      <dgm:prSet/>
      <dgm:spPr/>
      <dgm:t>
        <a:bodyPr/>
        <a:lstStyle/>
        <a:p>
          <a:endParaRPr lang="en-US"/>
        </a:p>
      </dgm:t>
    </dgm:pt>
    <dgm:pt modelId="{6C02DCF4-F987-4C99-A241-05F6179213D1}" type="sibTrans" cxnId="{26B2AD9F-705B-43E6-BBD2-4BD914E3FCB3}">
      <dgm:prSet/>
      <dgm:spPr/>
      <dgm:t>
        <a:bodyPr/>
        <a:lstStyle/>
        <a:p>
          <a:endParaRPr lang="en-US"/>
        </a:p>
      </dgm:t>
    </dgm:pt>
    <dgm:pt modelId="{12F2782B-F2D5-4593-8D55-7E0D5E936EB2}" type="pres">
      <dgm:prSet presAssocID="{1164B631-6969-4E86-B5EC-646AA0F02475}" presName="root" presStyleCnt="0">
        <dgm:presLayoutVars>
          <dgm:dir/>
          <dgm:resizeHandles val="exact"/>
        </dgm:presLayoutVars>
      </dgm:prSet>
      <dgm:spPr/>
    </dgm:pt>
    <dgm:pt modelId="{F2B51DA2-9FC6-4C23-8FC0-7395EDFDEB88}" type="pres">
      <dgm:prSet presAssocID="{FE57A6AF-1FF2-485F-B5B4-20E29B419F55}" presName="compNode" presStyleCnt="0"/>
      <dgm:spPr/>
    </dgm:pt>
    <dgm:pt modelId="{49E7A878-01EA-4120-840A-3D565B62D415}" type="pres">
      <dgm:prSet presAssocID="{FE57A6AF-1FF2-485F-B5B4-20E29B419F55}" presName="bgRect" presStyleLbl="bgShp" presStyleIdx="0" presStyleCnt="3"/>
      <dgm:spPr/>
    </dgm:pt>
    <dgm:pt modelId="{937773F2-CB92-4057-A4B3-4FAAE372018D}" type="pres">
      <dgm:prSet presAssocID="{FE57A6AF-1FF2-485F-B5B4-20E29B419F5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anda"/>
        </a:ext>
      </dgm:extLst>
    </dgm:pt>
    <dgm:pt modelId="{E2DD0777-C4E2-482E-8CB2-F1C352B82E33}" type="pres">
      <dgm:prSet presAssocID="{FE57A6AF-1FF2-485F-B5B4-20E29B419F55}" presName="spaceRect" presStyleCnt="0"/>
      <dgm:spPr/>
    </dgm:pt>
    <dgm:pt modelId="{7BA14633-4DBC-4382-8163-E27DFB93DF89}" type="pres">
      <dgm:prSet presAssocID="{FE57A6AF-1FF2-485F-B5B4-20E29B419F55}" presName="parTx" presStyleLbl="revTx" presStyleIdx="0" presStyleCnt="6">
        <dgm:presLayoutVars>
          <dgm:chMax val="0"/>
          <dgm:chPref val="0"/>
        </dgm:presLayoutVars>
      </dgm:prSet>
      <dgm:spPr/>
    </dgm:pt>
    <dgm:pt modelId="{745C482C-625A-483E-A159-BA646E92F385}" type="pres">
      <dgm:prSet presAssocID="{FE57A6AF-1FF2-485F-B5B4-20E29B419F55}" presName="desTx" presStyleLbl="revTx" presStyleIdx="1" presStyleCnt="6">
        <dgm:presLayoutVars/>
      </dgm:prSet>
      <dgm:spPr/>
    </dgm:pt>
    <dgm:pt modelId="{770A2750-F35F-4338-886F-52C2B12A0D02}" type="pres">
      <dgm:prSet presAssocID="{44CA38AA-74CE-4607-BC00-098E2671A77B}" presName="sibTrans" presStyleCnt="0"/>
      <dgm:spPr/>
    </dgm:pt>
    <dgm:pt modelId="{E8F0C983-5322-463C-93C6-33885F03FE46}" type="pres">
      <dgm:prSet presAssocID="{75568298-1A33-43B5-977F-BE7436A7C80F}" presName="compNode" presStyleCnt="0"/>
      <dgm:spPr/>
    </dgm:pt>
    <dgm:pt modelId="{FFC93538-BFBE-4E71-A20B-049F4E9A5110}" type="pres">
      <dgm:prSet presAssocID="{75568298-1A33-43B5-977F-BE7436A7C80F}" presName="bgRect" presStyleLbl="bgShp" presStyleIdx="1" presStyleCnt="3"/>
      <dgm:spPr/>
    </dgm:pt>
    <dgm:pt modelId="{DB6C13D3-E137-42A4-A66C-5459A381A501}" type="pres">
      <dgm:prSet presAssocID="{75568298-1A33-43B5-977F-BE7436A7C80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lculator"/>
        </a:ext>
      </dgm:extLst>
    </dgm:pt>
    <dgm:pt modelId="{C4C78372-34C3-4E8C-B068-1DD111CAEFBB}" type="pres">
      <dgm:prSet presAssocID="{75568298-1A33-43B5-977F-BE7436A7C80F}" presName="spaceRect" presStyleCnt="0"/>
      <dgm:spPr/>
    </dgm:pt>
    <dgm:pt modelId="{B1D590E4-0D17-4EE0-AED0-4CC67610AE4A}" type="pres">
      <dgm:prSet presAssocID="{75568298-1A33-43B5-977F-BE7436A7C80F}" presName="parTx" presStyleLbl="revTx" presStyleIdx="2" presStyleCnt="6">
        <dgm:presLayoutVars>
          <dgm:chMax val="0"/>
          <dgm:chPref val="0"/>
        </dgm:presLayoutVars>
      </dgm:prSet>
      <dgm:spPr/>
    </dgm:pt>
    <dgm:pt modelId="{17A300BF-F48B-4D85-AD35-03E9C933833B}" type="pres">
      <dgm:prSet presAssocID="{75568298-1A33-43B5-977F-BE7436A7C80F}" presName="desTx" presStyleLbl="revTx" presStyleIdx="3" presStyleCnt="6">
        <dgm:presLayoutVars/>
      </dgm:prSet>
      <dgm:spPr/>
    </dgm:pt>
    <dgm:pt modelId="{5CAB26C1-6999-4A85-BC66-D565D54973B3}" type="pres">
      <dgm:prSet presAssocID="{9E16C81F-0821-4179-ADBF-4396CF2F94C8}" presName="sibTrans" presStyleCnt="0"/>
      <dgm:spPr/>
    </dgm:pt>
    <dgm:pt modelId="{C59C37F4-5A79-4FD7-9FF1-B24E30CEA9EE}" type="pres">
      <dgm:prSet presAssocID="{C5D3033E-47E1-42E1-A872-96DBFFAF1E0B}" presName="compNode" presStyleCnt="0"/>
      <dgm:spPr/>
    </dgm:pt>
    <dgm:pt modelId="{B9C9BF8A-C79D-48C5-8620-7FB7AF6FDADF}" type="pres">
      <dgm:prSet presAssocID="{C5D3033E-47E1-42E1-A872-96DBFFAF1E0B}" presName="bgRect" presStyleLbl="bgShp" presStyleIdx="2" presStyleCnt="3"/>
      <dgm:spPr/>
    </dgm:pt>
    <dgm:pt modelId="{E76C2D85-ED0E-4FBA-B9CB-4E65503EF9B1}" type="pres">
      <dgm:prSet presAssocID="{C5D3033E-47E1-42E1-A872-96DBFFAF1E0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tatistics"/>
        </a:ext>
      </dgm:extLst>
    </dgm:pt>
    <dgm:pt modelId="{6CBE2434-93DF-4588-AD3A-844FCDFBFEF4}" type="pres">
      <dgm:prSet presAssocID="{C5D3033E-47E1-42E1-A872-96DBFFAF1E0B}" presName="spaceRect" presStyleCnt="0"/>
      <dgm:spPr/>
    </dgm:pt>
    <dgm:pt modelId="{CB7F72DE-823A-4458-8C64-DD7C60371ECB}" type="pres">
      <dgm:prSet presAssocID="{C5D3033E-47E1-42E1-A872-96DBFFAF1E0B}" presName="parTx" presStyleLbl="revTx" presStyleIdx="4" presStyleCnt="6">
        <dgm:presLayoutVars>
          <dgm:chMax val="0"/>
          <dgm:chPref val="0"/>
        </dgm:presLayoutVars>
      </dgm:prSet>
      <dgm:spPr/>
    </dgm:pt>
    <dgm:pt modelId="{5481B552-C08E-4174-87D5-57B23CC20E0E}" type="pres">
      <dgm:prSet presAssocID="{C5D3033E-47E1-42E1-A872-96DBFFAF1E0B}" presName="desTx" presStyleLbl="revTx" presStyleIdx="5" presStyleCnt="6">
        <dgm:presLayoutVars/>
      </dgm:prSet>
      <dgm:spPr/>
    </dgm:pt>
  </dgm:ptLst>
  <dgm:cxnLst>
    <dgm:cxn modelId="{232B6C06-9944-40FF-82EA-0734AB5FE31A}" type="presOf" srcId="{D8145560-6625-4C3D-A95A-1B150A6C0C16}" destId="{745C482C-625A-483E-A159-BA646E92F385}" srcOrd="0" destOrd="1" presId="urn:microsoft.com/office/officeart/2018/2/layout/IconVerticalSolidList"/>
    <dgm:cxn modelId="{510C0708-AF9F-458F-B35F-4592D5BE48DE}" type="presOf" srcId="{1342A82B-E174-40CE-BE94-55E96441D8AB}" destId="{17A300BF-F48B-4D85-AD35-03E9C933833B}" srcOrd="0" destOrd="1" presId="urn:microsoft.com/office/officeart/2018/2/layout/IconVerticalSolidList"/>
    <dgm:cxn modelId="{2BE17B13-53D7-431E-9065-95977E83A166}" type="presOf" srcId="{FE57A6AF-1FF2-485F-B5B4-20E29B419F55}" destId="{7BA14633-4DBC-4382-8163-E27DFB93DF89}" srcOrd="0" destOrd="0" presId="urn:microsoft.com/office/officeart/2018/2/layout/IconVerticalSolidList"/>
    <dgm:cxn modelId="{3A17552B-52B8-4F63-8E1A-7F13CEB0DFF7}" srcId="{1164B631-6969-4E86-B5EC-646AA0F02475}" destId="{FE57A6AF-1FF2-485F-B5B4-20E29B419F55}" srcOrd="0" destOrd="0" parTransId="{183C8796-D46D-4F73-8A00-B98EEA593348}" sibTransId="{44CA38AA-74CE-4607-BC00-098E2671A77B}"/>
    <dgm:cxn modelId="{F43A933C-E4D9-46BD-866F-582EF90250F4}" type="presOf" srcId="{22B2FCC1-B49B-4D76-B31B-5A21D219E660}" destId="{745C482C-625A-483E-A159-BA646E92F385}" srcOrd="0" destOrd="0" presId="urn:microsoft.com/office/officeart/2018/2/layout/IconVerticalSolidList"/>
    <dgm:cxn modelId="{3539FE4A-ADFB-43EF-BB54-7D3A0F2B576F}" type="presOf" srcId="{75568298-1A33-43B5-977F-BE7436A7C80F}" destId="{B1D590E4-0D17-4EE0-AED0-4CC67610AE4A}" srcOrd="0" destOrd="0" presId="urn:microsoft.com/office/officeart/2018/2/layout/IconVerticalSolidList"/>
    <dgm:cxn modelId="{1037614F-967C-4E89-AFAA-3FEEA424C60E}" type="presOf" srcId="{A939B058-6C2C-4083-AE79-5399528A70FC}" destId="{5481B552-C08E-4174-87D5-57B23CC20E0E}" srcOrd="0" destOrd="0" presId="urn:microsoft.com/office/officeart/2018/2/layout/IconVerticalSolidList"/>
    <dgm:cxn modelId="{B1BD2050-41C6-426A-B7F4-26F73BAF7756}" type="presOf" srcId="{2AE4928F-896C-496C-A296-6868503C64F1}" destId="{5481B552-C08E-4174-87D5-57B23CC20E0E}" srcOrd="0" destOrd="1" presId="urn:microsoft.com/office/officeart/2018/2/layout/IconVerticalSolidList"/>
    <dgm:cxn modelId="{D56F2462-E306-4174-B2CC-A140D37F464C}" type="presOf" srcId="{C5D3033E-47E1-42E1-A872-96DBFFAF1E0B}" destId="{CB7F72DE-823A-4458-8C64-DD7C60371ECB}" srcOrd="0" destOrd="0" presId="urn:microsoft.com/office/officeart/2018/2/layout/IconVerticalSolidList"/>
    <dgm:cxn modelId="{948B9966-93B3-42A6-BC00-E7BCDC2460E3}" srcId="{75568298-1A33-43B5-977F-BE7436A7C80F}" destId="{1342A82B-E174-40CE-BE94-55E96441D8AB}" srcOrd="1" destOrd="0" parTransId="{0F0F2B95-3E18-4BCD-B803-1B9415AFF7A0}" sibTransId="{DA0314BC-A367-46B5-826C-42486112FA66}"/>
    <dgm:cxn modelId="{CEB8329F-138D-43B3-BE6F-E6865BD7E0E7}" type="presOf" srcId="{B0BEA45B-0CE3-4D91-9563-2822E9BF2490}" destId="{17A300BF-F48B-4D85-AD35-03E9C933833B}" srcOrd="0" destOrd="0" presId="urn:microsoft.com/office/officeart/2018/2/layout/IconVerticalSolidList"/>
    <dgm:cxn modelId="{26B2AD9F-705B-43E6-BBD2-4BD914E3FCB3}" srcId="{C5D3033E-47E1-42E1-A872-96DBFFAF1E0B}" destId="{2AE4928F-896C-496C-A296-6868503C64F1}" srcOrd="1" destOrd="0" parTransId="{64AA8075-A061-4B2D-8D3D-F38BBC53EEDA}" sibTransId="{6C02DCF4-F987-4C99-A241-05F6179213D1}"/>
    <dgm:cxn modelId="{6B36FFA2-3416-481D-A119-8E22DC4EDCB5}" srcId="{1164B631-6969-4E86-B5EC-646AA0F02475}" destId="{75568298-1A33-43B5-977F-BE7436A7C80F}" srcOrd="1" destOrd="0" parTransId="{69AF287D-AE7D-40F2-B3AF-93F8493951C1}" sibTransId="{9E16C81F-0821-4179-ADBF-4396CF2F94C8}"/>
    <dgm:cxn modelId="{371EC0A7-CA09-43FD-8D1C-2D53F1DCE0DB}" srcId="{C5D3033E-47E1-42E1-A872-96DBFFAF1E0B}" destId="{A939B058-6C2C-4083-AE79-5399528A70FC}" srcOrd="0" destOrd="0" parTransId="{F8FC1C7D-9A67-442B-ABD0-45EA2B1554AF}" sibTransId="{EF625B5F-4C72-45B2-8F1F-7E9368E39EC5}"/>
    <dgm:cxn modelId="{D601F5AA-306A-4AB5-9987-BC3C52CF8810}" srcId="{FE57A6AF-1FF2-485F-B5B4-20E29B419F55}" destId="{22B2FCC1-B49B-4D76-B31B-5A21D219E660}" srcOrd="0" destOrd="0" parTransId="{C72F06D9-5F10-4B09-A7F7-CDF3288C9D3C}" sibTransId="{7AF4775E-C487-46F6-B0F4-E7D4DEFA87C8}"/>
    <dgm:cxn modelId="{A5DA68B5-A307-4E1A-821D-2FDD66BCD435}" srcId="{FE57A6AF-1FF2-485F-B5B4-20E29B419F55}" destId="{D8145560-6625-4C3D-A95A-1B150A6C0C16}" srcOrd="1" destOrd="0" parTransId="{1A317C88-3F7E-4CE5-8953-E2D7D6332CBA}" sibTransId="{5AC9807B-4DB8-42D7-AB9B-128071AF536C}"/>
    <dgm:cxn modelId="{D2E277BC-1909-4A18-8942-79E9086D6510}" srcId="{1164B631-6969-4E86-B5EC-646AA0F02475}" destId="{C5D3033E-47E1-42E1-A872-96DBFFAF1E0B}" srcOrd="2" destOrd="0" parTransId="{F1B1FFCF-E91E-4C06-A6EA-165BF5D9B2B7}" sibTransId="{EE3E29E6-67E6-4060-BD81-AF205E317EE3}"/>
    <dgm:cxn modelId="{9A3B9EDF-99C4-4293-BEB9-2DFEF2C96B11}" srcId="{75568298-1A33-43B5-977F-BE7436A7C80F}" destId="{B0BEA45B-0CE3-4D91-9563-2822E9BF2490}" srcOrd="0" destOrd="0" parTransId="{AE796FDC-4398-43CB-9D23-F948952FE8AC}" sibTransId="{21426E00-9AEB-4C79-8E7F-1B227EE4AA61}"/>
    <dgm:cxn modelId="{DB1C26EB-9B7F-4E2F-87A3-5B295EDA2398}" type="presOf" srcId="{1164B631-6969-4E86-B5EC-646AA0F02475}" destId="{12F2782B-F2D5-4593-8D55-7E0D5E936EB2}" srcOrd="0" destOrd="0" presId="urn:microsoft.com/office/officeart/2018/2/layout/IconVerticalSolidList"/>
    <dgm:cxn modelId="{1E6D7FAE-5C4D-4126-86BA-88CDC2823912}" type="presParOf" srcId="{12F2782B-F2D5-4593-8D55-7E0D5E936EB2}" destId="{F2B51DA2-9FC6-4C23-8FC0-7395EDFDEB88}" srcOrd="0" destOrd="0" presId="urn:microsoft.com/office/officeart/2018/2/layout/IconVerticalSolidList"/>
    <dgm:cxn modelId="{F31166B2-06BC-4A7F-BC21-CEBE1E4B8947}" type="presParOf" srcId="{F2B51DA2-9FC6-4C23-8FC0-7395EDFDEB88}" destId="{49E7A878-01EA-4120-840A-3D565B62D415}" srcOrd="0" destOrd="0" presId="urn:microsoft.com/office/officeart/2018/2/layout/IconVerticalSolidList"/>
    <dgm:cxn modelId="{ABA75D4F-1AEE-483A-90AE-393546139785}" type="presParOf" srcId="{F2B51DA2-9FC6-4C23-8FC0-7395EDFDEB88}" destId="{937773F2-CB92-4057-A4B3-4FAAE372018D}" srcOrd="1" destOrd="0" presId="urn:microsoft.com/office/officeart/2018/2/layout/IconVerticalSolidList"/>
    <dgm:cxn modelId="{0AB10058-A95F-4D3E-86CA-C1AB94D85A57}" type="presParOf" srcId="{F2B51DA2-9FC6-4C23-8FC0-7395EDFDEB88}" destId="{E2DD0777-C4E2-482E-8CB2-F1C352B82E33}" srcOrd="2" destOrd="0" presId="urn:microsoft.com/office/officeart/2018/2/layout/IconVerticalSolidList"/>
    <dgm:cxn modelId="{09372E20-AF3D-43BF-8184-F2FE363FA4F3}" type="presParOf" srcId="{F2B51DA2-9FC6-4C23-8FC0-7395EDFDEB88}" destId="{7BA14633-4DBC-4382-8163-E27DFB93DF89}" srcOrd="3" destOrd="0" presId="urn:microsoft.com/office/officeart/2018/2/layout/IconVerticalSolidList"/>
    <dgm:cxn modelId="{220A009B-7C98-4AE8-94FB-7386D35D3DF6}" type="presParOf" srcId="{F2B51DA2-9FC6-4C23-8FC0-7395EDFDEB88}" destId="{745C482C-625A-483E-A159-BA646E92F385}" srcOrd="4" destOrd="0" presId="urn:microsoft.com/office/officeart/2018/2/layout/IconVerticalSolidList"/>
    <dgm:cxn modelId="{E05408AE-60E6-4DD4-B6FA-076D0C82549F}" type="presParOf" srcId="{12F2782B-F2D5-4593-8D55-7E0D5E936EB2}" destId="{770A2750-F35F-4338-886F-52C2B12A0D02}" srcOrd="1" destOrd="0" presId="urn:microsoft.com/office/officeart/2018/2/layout/IconVerticalSolidList"/>
    <dgm:cxn modelId="{4DD9E0FA-FBB1-43A2-80EC-39F234CBA994}" type="presParOf" srcId="{12F2782B-F2D5-4593-8D55-7E0D5E936EB2}" destId="{E8F0C983-5322-463C-93C6-33885F03FE46}" srcOrd="2" destOrd="0" presId="urn:microsoft.com/office/officeart/2018/2/layout/IconVerticalSolidList"/>
    <dgm:cxn modelId="{DBB4490A-6D21-44EB-88BE-A58420205508}" type="presParOf" srcId="{E8F0C983-5322-463C-93C6-33885F03FE46}" destId="{FFC93538-BFBE-4E71-A20B-049F4E9A5110}" srcOrd="0" destOrd="0" presId="urn:microsoft.com/office/officeart/2018/2/layout/IconVerticalSolidList"/>
    <dgm:cxn modelId="{524E25AB-6392-4D4E-8EE7-F4B28A3BCDD3}" type="presParOf" srcId="{E8F0C983-5322-463C-93C6-33885F03FE46}" destId="{DB6C13D3-E137-42A4-A66C-5459A381A501}" srcOrd="1" destOrd="0" presId="urn:microsoft.com/office/officeart/2018/2/layout/IconVerticalSolidList"/>
    <dgm:cxn modelId="{EB4F8BBB-4D0B-4650-A2BD-D370ABB5B4F6}" type="presParOf" srcId="{E8F0C983-5322-463C-93C6-33885F03FE46}" destId="{C4C78372-34C3-4E8C-B068-1DD111CAEFBB}" srcOrd="2" destOrd="0" presId="urn:microsoft.com/office/officeart/2018/2/layout/IconVerticalSolidList"/>
    <dgm:cxn modelId="{95F0AA0C-A3AF-44EF-B666-27A428720E53}" type="presParOf" srcId="{E8F0C983-5322-463C-93C6-33885F03FE46}" destId="{B1D590E4-0D17-4EE0-AED0-4CC67610AE4A}" srcOrd="3" destOrd="0" presId="urn:microsoft.com/office/officeart/2018/2/layout/IconVerticalSolidList"/>
    <dgm:cxn modelId="{F2B418DB-0A68-48E3-BE3F-1EF71EA1D472}" type="presParOf" srcId="{E8F0C983-5322-463C-93C6-33885F03FE46}" destId="{17A300BF-F48B-4D85-AD35-03E9C933833B}" srcOrd="4" destOrd="0" presId="urn:microsoft.com/office/officeart/2018/2/layout/IconVerticalSolidList"/>
    <dgm:cxn modelId="{8D9C239E-081F-4178-88E5-4ABC67222A31}" type="presParOf" srcId="{12F2782B-F2D5-4593-8D55-7E0D5E936EB2}" destId="{5CAB26C1-6999-4A85-BC66-D565D54973B3}" srcOrd="3" destOrd="0" presId="urn:microsoft.com/office/officeart/2018/2/layout/IconVerticalSolidList"/>
    <dgm:cxn modelId="{F697E9D7-93F9-4F51-9151-912623F0CD07}" type="presParOf" srcId="{12F2782B-F2D5-4593-8D55-7E0D5E936EB2}" destId="{C59C37F4-5A79-4FD7-9FF1-B24E30CEA9EE}" srcOrd="4" destOrd="0" presId="urn:microsoft.com/office/officeart/2018/2/layout/IconVerticalSolidList"/>
    <dgm:cxn modelId="{FBF7F390-F364-4C9B-9426-39BEF543201B}" type="presParOf" srcId="{C59C37F4-5A79-4FD7-9FF1-B24E30CEA9EE}" destId="{B9C9BF8A-C79D-48C5-8620-7FB7AF6FDADF}" srcOrd="0" destOrd="0" presId="urn:microsoft.com/office/officeart/2018/2/layout/IconVerticalSolidList"/>
    <dgm:cxn modelId="{401906F3-CECD-46C4-94AC-46600E52D607}" type="presParOf" srcId="{C59C37F4-5A79-4FD7-9FF1-B24E30CEA9EE}" destId="{E76C2D85-ED0E-4FBA-B9CB-4E65503EF9B1}" srcOrd="1" destOrd="0" presId="urn:microsoft.com/office/officeart/2018/2/layout/IconVerticalSolidList"/>
    <dgm:cxn modelId="{274ED9C7-2437-4D38-B9E7-8CA74A1912C4}" type="presParOf" srcId="{C59C37F4-5A79-4FD7-9FF1-B24E30CEA9EE}" destId="{6CBE2434-93DF-4588-AD3A-844FCDFBFEF4}" srcOrd="2" destOrd="0" presId="urn:microsoft.com/office/officeart/2018/2/layout/IconVerticalSolidList"/>
    <dgm:cxn modelId="{3E8E3111-8C88-445F-A6B5-2EF9EC7788C8}" type="presParOf" srcId="{C59C37F4-5A79-4FD7-9FF1-B24E30CEA9EE}" destId="{CB7F72DE-823A-4458-8C64-DD7C60371ECB}" srcOrd="3" destOrd="0" presId="urn:microsoft.com/office/officeart/2018/2/layout/IconVerticalSolidList"/>
    <dgm:cxn modelId="{5A9C6A9F-917D-4AD3-9DF5-CEB82189FF6A}" type="presParOf" srcId="{C59C37F4-5A79-4FD7-9FF1-B24E30CEA9EE}" destId="{5481B552-C08E-4174-87D5-57B23CC20E0E}"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7866CE-1EFC-40D1-A549-05E8933C97F1}" type="doc">
      <dgm:prSet loTypeId="urn:microsoft.com/office/officeart/2018/2/layout/IconLabelDescriptionList" loCatId="icon" qsTypeId="urn:microsoft.com/office/officeart/2005/8/quickstyle/simple1#3" qsCatId="simple" csTypeId="urn:microsoft.com/office/officeart/2005/8/colors/accent1_2#2" csCatId="accent1" phldr="1"/>
      <dgm:spPr/>
      <dgm:t>
        <a:bodyPr/>
        <a:lstStyle/>
        <a:p>
          <a:endParaRPr lang="en-US"/>
        </a:p>
      </dgm:t>
    </dgm:pt>
    <dgm:pt modelId="{2B57FBE6-3799-41A5-A94D-1FCBC00BE285}">
      <dgm:prSet/>
      <dgm:spPr/>
      <dgm:t>
        <a:bodyPr/>
        <a:lstStyle/>
        <a:p>
          <a:pPr>
            <a:lnSpc>
              <a:spcPct val="100000"/>
            </a:lnSpc>
            <a:defRPr b="1"/>
          </a:pPr>
          <a:r>
            <a:rPr lang="en-US"/>
            <a:t>What is Python? (simple, high-level intro)</a:t>
          </a:r>
        </a:p>
      </dgm:t>
    </dgm:pt>
    <dgm:pt modelId="{B8355D47-E006-45F9-AFC1-3E7534A7C594}" type="parTrans" cxnId="{3BE8F9C2-D0F9-4051-B322-A77B57268907}">
      <dgm:prSet/>
      <dgm:spPr/>
      <dgm:t>
        <a:bodyPr/>
        <a:lstStyle/>
        <a:p>
          <a:endParaRPr lang="en-US"/>
        </a:p>
      </dgm:t>
    </dgm:pt>
    <dgm:pt modelId="{96313167-63CB-4DAF-93A2-379B08D06706}" type="sibTrans" cxnId="{3BE8F9C2-D0F9-4051-B322-A77B57268907}">
      <dgm:prSet/>
      <dgm:spPr/>
      <dgm:t>
        <a:bodyPr/>
        <a:lstStyle/>
        <a:p>
          <a:endParaRPr lang="en-US"/>
        </a:p>
      </dgm:t>
    </dgm:pt>
    <dgm:pt modelId="{F2F5AE2F-0488-4A9D-8E28-CD54C44E15DE}">
      <dgm:prSet/>
      <dgm:spPr/>
      <dgm:t>
        <a:bodyPr/>
        <a:lstStyle/>
        <a:p>
          <a:pPr>
            <a:lnSpc>
              <a:spcPct val="100000"/>
            </a:lnSpc>
          </a:pPr>
          <a:r>
            <a:rPr lang="en-US"/>
            <a:t>Free, open-source, easy to learn</a:t>
          </a:r>
        </a:p>
      </dgm:t>
    </dgm:pt>
    <dgm:pt modelId="{08181838-630B-4D4C-9CDE-708319AAC172}" type="parTrans" cxnId="{3A2C76F9-12B2-407F-8174-7BB305ADD6EF}">
      <dgm:prSet/>
      <dgm:spPr/>
      <dgm:t>
        <a:bodyPr/>
        <a:lstStyle/>
        <a:p>
          <a:endParaRPr lang="en-US"/>
        </a:p>
      </dgm:t>
    </dgm:pt>
    <dgm:pt modelId="{E656EC43-CD40-4A84-AD41-7C66D545AC90}" type="sibTrans" cxnId="{3A2C76F9-12B2-407F-8174-7BB305ADD6EF}">
      <dgm:prSet/>
      <dgm:spPr/>
      <dgm:t>
        <a:bodyPr/>
        <a:lstStyle/>
        <a:p>
          <a:endParaRPr lang="en-US"/>
        </a:p>
      </dgm:t>
    </dgm:pt>
    <dgm:pt modelId="{DA248BFA-6C4C-4B67-965C-EC46DFB8F380}">
      <dgm:prSet/>
      <dgm:spPr/>
      <dgm:t>
        <a:bodyPr/>
        <a:lstStyle/>
        <a:p>
          <a:pPr>
            <a:lnSpc>
              <a:spcPct val="100000"/>
            </a:lnSpc>
          </a:pPr>
          <a:r>
            <a:rPr lang="en-US"/>
            <a:t>Widely used in actuarial + data science</a:t>
          </a:r>
        </a:p>
      </dgm:t>
    </dgm:pt>
    <dgm:pt modelId="{1B514E2D-0F3C-443A-A539-589BA5D26487}" type="parTrans" cxnId="{F8253200-E968-472C-845A-86D053E1D265}">
      <dgm:prSet/>
      <dgm:spPr/>
      <dgm:t>
        <a:bodyPr/>
        <a:lstStyle/>
        <a:p>
          <a:endParaRPr lang="en-US"/>
        </a:p>
      </dgm:t>
    </dgm:pt>
    <dgm:pt modelId="{D2051D22-D6B5-4CCC-AB2F-8F63A2C30C71}" type="sibTrans" cxnId="{F8253200-E968-472C-845A-86D053E1D265}">
      <dgm:prSet/>
      <dgm:spPr/>
      <dgm:t>
        <a:bodyPr/>
        <a:lstStyle/>
        <a:p>
          <a:endParaRPr lang="en-US"/>
        </a:p>
      </dgm:t>
    </dgm:pt>
    <dgm:pt modelId="{4883D6A3-5185-4642-A3A4-82460BBAB47D}">
      <dgm:prSet/>
      <dgm:spPr/>
      <dgm:t>
        <a:bodyPr/>
        <a:lstStyle/>
        <a:p>
          <a:pPr>
            <a:lnSpc>
              <a:spcPct val="100000"/>
            </a:lnSpc>
            <a:defRPr b="1"/>
          </a:pPr>
          <a:r>
            <a:rPr lang="en-US"/>
            <a:t>Setting Up the Environment</a:t>
          </a:r>
        </a:p>
      </dgm:t>
    </dgm:pt>
    <dgm:pt modelId="{2BEE15DB-89A3-47C5-A3C8-D666CE3F3AFD}" type="parTrans" cxnId="{3F55646F-C0FB-47C8-865E-7E9FDCF0C951}">
      <dgm:prSet/>
      <dgm:spPr/>
      <dgm:t>
        <a:bodyPr/>
        <a:lstStyle/>
        <a:p>
          <a:endParaRPr lang="en-US"/>
        </a:p>
      </dgm:t>
    </dgm:pt>
    <dgm:pt modelId="{7583F138-E26B-4E16-96AF-BA567612B027}" type="sibTrans" cxnId="{3F55646F-C0FB-47C8-865E-7E9FDCF0C951}">
      <dgm:prSet/>
      <dgm:spPr/>
      <dgm:t>
        <a:bodyPr/>
        <a:lstStyle/>
        <a:p>
          <a:endParaRPr lang="en-US"/>
        </a:p>
      </dgm:t>
    </dgm:pt>
    <dgm:pt modelId="{31A37EBB-B468-424E-B2AB-FBCECFB9AC73}">
      <dgm:prSet/>
      <dgm:spPr/>
      <dgm:t>
        <a:bodyPr/>
        <a:lstStyle/>
        <a:p>
          <a:pPr>
            <a:lnSpc>
              <a:spcPct val="100000"/>
            </a:lnSpc>
          </a:pPr>
          <a:r>
            <a:rPr lang="en-US"/>
            <a:t>Jupyter Notebook / Google Colab</a:t>
          </a:r>
        </a:p>
      </dgm:t>
    </dgm:pt>
    <dgm:pt modelId="{24817DE8-628E-4E5C-A6E7-89BE80635FC5}" type="parTrans" cxnId="{131C8E6C-E964-4A73-8449-587A8134C771}">
      <dgm:prSet/>
      <dgm:spPr/>
      <dgm:t>
        <a:bodyPr/>
        <a:lstStyle/>
        <a:p>
          <a:endParaRPr lang="en-US"/>
        </a:p>
      </dgm:t>
    </dgm:pt>
    <dgm:pt modelId="{BC85D611-40E9-4E30-8E97-C7904685DFAD}" type="sibTrans" cxnId="{131C8E6C-E964-4A73-8449-587A8134C771}">
      <dgm:prSet/>
      <dgm:spPr/>
      <dgm:t>
        <a:bodyPr/>
        <a:lstStyle/>
        <a:p>
          <a:endParaRPr lang="en-US"/>
        </a:p>
      </dgm:t>
    </dgm:pt>
    <dgm:pt modelId="{EF41CE72-ABB7-4A29-939B-8F02CF281A4C}">
      <dgm:prSet/>
      <dgm:spPr/>
      <dgm:t>
        <a:bodyPr/>
        <a:lstStyle/>
        <a:p>
          <a:pPr>
            <a:lnSpc>
              <a:spcPct val="100000"/>
            </a:lnSpc>
          </a:pPr>
          <a:r>
            <a:rPr lang="en-US"/>
            <a:t>Python packages (NumPy, Pandas, Matplotlib)</a:t>
          </a:r>
        </a:p>
      </dgm:t>
    </dgm:pt>
    <dgm:pt modelId="{E48F9B39-2129-4B3F-A09A-F6560F9DA327}" type="parTrans" cxnId="{7DA97D3B-6800-4EB8-81D7-8A1ADC348366}">
      <dgm:prSet/>
      <dgm:spPr/>
      <dgm:t>
        <a:bodyPr/>
        <a:lstStyle/>
        <a:p>
          <a:endParaRPr lang="en-US"/>
        </a:p>
      </dgm:t>
    </dgm:pt>
    <dgm:pt modelId="{C261EB94-F408-46C4-AF7E-32FB2CC51F78}" type="sibTrans" cxnId="{7DA97D3B-6800-4EB8-81D7-8A1ADC348366}">
      <dgm:prSet/>
      <dgm:spPr/>
      <dgm:t>
        <a:bodyPr/>
        <a:lstStyle/>
        <a:p>
          <a:endParaRPr lang="en-US"/>
        </a:p>
      </dgm:t>
    </dgm:pt>
    <dgm:pt modelId="{87698E75-8406-4B12-AAB7-57A72515EA2F}" type="pres">
      <dgm:prSet presAssocID="{A17866CE-1EFC-40D1-A549-05E8933C97F1}" presName="root" presStyleCnt="0">
        <dgm:presLayoutVars>
          <dgm:dir/>
          <dgm:resizeHandles val="exact"/>
        </dgm:presLayoutVars>
      </dgm:prSet>
      <dgm:spPr/>
    </dgm:pt>
    <dgm:pt modelId="{49C65DFB-776B-4D09-B63B-B722D5012D9A}" type="pres">
      <dgm:prSet presAssocID="{2B57FBE6-3799-41A5-A94D-1FCBC00BE285}" presName="compNode" presStyleCnt="0"/>
      <dgm:spPr/>
    </dgm:pt>
    <dgm:pt modelId="{9272FDBF-429C-45D2-991C-41EB5F25FB2C}" type="pres">
      <dgm:prSet presAssocID="{2B57FBE6-3799-41A5-A94D-1FCBC00BE285}"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grammer"/>
        </a:ext>
      </dgm:extLst>
    </dgm:pt>
    <dgm:pt modelId="{BE31D43A-E28F-4FD4-9086-03C408C73BCA}" type="pres">
      <dgm:prSet presAssocID="{2B57FBE6-3799-41A5-A94D-1FCBC00BE285}" presName="iconSpace" presStyleCnt="0"/>
      <dgm:spPr/>
    </dgm:pt>
    <dgm:pt modelId="{6507256E-C919-4026-9B97-4F59E3689FC9}" type="pres">
      <dgm:prSet presAssocID="{2B57FBE6-3799-41A5-A94D-1FCBC00BE285}" presName="parTx" presStyleLbl="revTx" presStyleIdx="0" presStyleCnt="4">
        <dgm:presLayoutVars>
          <dgm:chMax val="0"/>
          <dgm:chPref val="0"/>
        </dgm:presLayoutVars>
      </dgm:prSet>
      <dgm:spPr/>
    </dgm:pt>
    <dgm:pt modelId="{BE2E24C2-8CBF-4C21-A676-21D5FFBE0246}" type="pres">
      <dgm:prSet presAssocID="{2B57FBE6-3799-41A5-A94D-1FCBC00BE285}" presName="txSpace" presStyleCnt="0"/>
      <dgm:spPr/>
    </dgm:pt>
    <dgm:pt modelId="{EA3843CB-EFED-491E-8D72-1B0EE83295A7}" type="pres">
      <dgm:prSet presAssocID="{2B57FBE6-3799-41A5-A94D-1FCBC00BE285}" presName="desTx" presStyleLbl="revTx" presStyleIdx="1" presStyleCnt="4">
        <dgm:presLayoutVars/>
      </dgm:prSet>
      <dgm:spPr/>
    </dgm:pt>
    <dgm:pt modelId="{BA8AEE66-C5DC-4099-8E84-EEBA35D6B930}" type="pres">
      <dgm:prSet presAssocID="{96313167-63CB-4DAF-93A2-379B08D06706}" presName="sibTrans" presStyleCnt="0"/>
      <dgm:spPr/>
    </dgm:pt>
    <dgm:pt modelId="{2548C04C-24CB-4F1D-A9FA-E3B00AA159CE}" type="pres">
      <dgm:prSet presAssocID="{4883D6A3-5185-4642-A3A4-82460BBAB47D}" presName="compNode" presStyleCnt="0"/>
      <dgm:spPr/>
    </dgm:pt>
    <dgm:pt modelId="{FCCE1B8B-9815-4DFD-AF0F-DA4371D7E4E4}" type="pres">
      <dgm:prSet presAssocID="{4883D6A3-5185-4642-A3A4-82460BBAB47D}"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anda"/>
        </a:ext>
      </dgm:extLst>
    </dgm:pt>
    <dgm:pt modelId="{C65D750A-4006-4250-AB84-4A01409CF40C}" type="pres">
      <dgm:prSet presAssocID="{4883D6A3-5185-4642-A3A4-82460BBAB47D}" presName="iconSpace" presStyleCnt="0"/>
      <dgm:spPr/>
    </dgm:pt>
    <dgm:pt modelId="{4BE220BA-60A1-4F66-84A8-AFDF6FD917A9}" type="pres">
      <dgm:prSet presAssocID="{4883D6A3-5185-4642-A3A4-82460BBAB47D}" presName="parTx" presStyleLbl="revTx" presStyleIdx="2" presStyleCnt="4">
        <dgm:presLayoutVars>
          <dgm:chMax val="0"/>
          <dgm:chPref val="0"/>
        </dgm:presLayoutVars>
      </dgm:prSet>
      <dgm:spPr/>
    </dgm:pt>
    <dgm:pt modelId="{B1C683AE-E9A5-41F2-ADF3-D969F33B4182}" type="pres">
      <dgm:prSet presAssocID="{4883D6A3-5185-4642-A3A4-82460BBAB47D}" presName="txSpace" presStyleCnt="0"/>
      <dgm:spPr/>
    </dgm:pt>
    <dgm:pt modelId="{B948CA18-95F4-4E1C-8720-8F0715DD8CA8}" type="pres">
      <dgm:prSet presAssocID="{4883D6A3-5185-4642-A3A4-82460BBAB47D}" presName="desTx" presStyleLbl="revTx" presStyleIdx="3" presStyleCnt="4">
        <dgm:presLayoutVars/>
      </dgm:prSet>
      <dgm:spPr/>
    </dgm:pt>
  </dgm:ptLst>
  <dgm:cxnLst>
    <dgm:cxn modelId="{F8253200-E968-472C-845A-86D053E1D265}" srcId="{2B57FBE6-3799-41A5-A94D-1FCBC00BE285}" destId="{DA248BFA-6C4C-4B67-965C-EC46DFB8F380}" srcOrd="1" destOrd="0" parTransId="{1B514E2D-0F3C-443A-A539-589BA5D26487}" sibTransId="{D2051D22-D6B5-4CCC-AB2F-8F63A2C30C71}"/>
    <dgm:cxn modelId="{F9751417-0D6B-48AA-99C5-1412B29D0B7F}" type="presOf" srcId="{A17866CE-1EFC-40D1-A549-05E8933C97F1}" destId="{87698E75-8406-4B12-AAB7-57A72515EA2F}" srcOrd="0" destOrd="0" presId="urn:microsoft.com/office/officeart/2018/2/layout/IconLabelDescriptionList"/>
    <dgm:cxn modelId="{7DA97D3B-6800-4EB8-81D7-8A1ADC348366}" srcId="{4883D6A3-5185-4642-A3A4-82460BBAB47D}" destId="{EF41CE72-ABB7-4A29-939B-8F02CF281A4C}" srcOrd="1" destOrd="0" parTransId="{E48F9B39-2129-4B3F-A09A-F6560F9DA327}" sibTransId="{C261EB94-F408-46C4-AF7E-32FB2CC51F78}"/>
    <dgm:cxn modelId="{F5F4B248-2E1F-4D58-9AE3-3BBCF0E07A3A}" type="presOf" srcId="{4883D6A3-5185-4642-A3A4-82460BBAB47D}" destId="{4BE220BA-60A1-4F66-84A8-AFDF6FD917A9}" srcOrd="0" destOrd="0" presId="urn:microsoft.com/office/officeart/2018/2/layout/IconLabelDescriptionList"/>
    <dgm:cxn modelId="{131C8E6C-E964-4A73-8449-587A8134C771}" srcId="{4883D6A3-5185-4642-A3A4-82460BBAB47D}" destId="{31A37EBB-B468-424E-B2AB-FBCECFB9AC73}" srcOrd="0" destOrd="0" parTransId="{24817DE8-628E-4E5C-A6E7-89BE80635FC5}" sibTransId="{BC85D611-40E9-4E30-8E97-C7904685DFAD}"/>
    <dgm:cxn modelId="{3F55646F-C0FB-47C8-865E-7E9FDCF0C951}" srcId="{A17866CE-1EFC-40D1-A549-05E8933C97F1}" destId="{4883D6A3-5185-4642-A3A4-82460BBAB47D}" srcOrd="1" destOrd="0" parTransId="{2BEE15DB-89A3-47C5-A3C8-D666CE3F3AFD}" sibTransId="{7583F138-E26B-4E16-96AF-BA567612B027}"/>
    <dgm:cxn modelId="{2D628697-D26B-4239-A652-3DA5C63C4A71}" type="presOf" srcId="{31A37EBB-B468-424E-B2AB-FBCECFB9AC73}" destId="{B948CA18-95F4-4E1C-8720-8F0715DD8CA8}" srcOrd="0" destOrd="0" presId="urn:microsoft.com/office/officeart/2018/2/layout/IconLabelDescriptionList"/>
    <dgm:cxn modelId="{ADACD9BA-6889-4667-9351-7C1C77C168B6}" type="presOf" srcId="{EF41CE72-ABB7-4A29-939B-8F02CF281A4C}" destId="{B948CA18-95F4-4E1C-8720-8F0715DD8CA8}" srcOrd="0" destOrd="1" presId="urn:microsoft.com/office/officeart/2018/2/layout/IconLabelDescriptionList"/>
    <dgm:cxn modelId="{3BE8F9C2-D0F9-4051-B322-A77B57268907}" srcId="{A17866CE-1EFC-40D1-A549-05E8933C97F1}" destId="{2B57FBE6-3799-41A5-A94D-1FCBC00BE285}" srcOrd="0" destOrd="0" parTransId="{B8355D47-E006-45F9-AFC1-3E7534A7C594}" sibTransId="{96313167-63CB-4DAF-93A2-379B08D06706}"/>
    <dgm:cxn modelId="{AF1663C9-A7FE-445C-87A0-00E0DA1E779B}" type="presOf" srcId="{2B57FBE6-3799-41A5-A94D-1FCBC00BE285}" destId="{6507256E-C919-4026-9B97-4F59E3689FC9}" srcOrd="0" destOrd="0" presId="urn:microsoft.com/office/officeart/2018/2/layout/IconLabelDescriptionList"/>
    <dgm:cxn modelId="{88960AE7-CFDA-4992-81F2-ADB1A92F61F5}" type="presOf" srcId="{F2F5AE2F-0488-4A9D-8E28-CD54C44E15DE}" destId="{EA3843CB-EFED-491E-8D72-1B0EE83295A7}" srcOrd="0" destOrd="0" presId="urn:microsoft.com/office/officeart/2018/2/layout/IconLabelDescriptionList"/>
    <dgm:cxn modelId="{853C25F7-8B7D-4CA9-BA73-D69F5DC4ECCB}" type="presOf" srcId="{DA248BFA-6C4C-4B67-965C-EC46DFB8F380}" destId="{EA3843CB-EFED-491E-8D72-1B0EE83295A7}" srcOrd="0" destOrd="1" presId="urn:microsoft.com/office/officeart/2018/2/layout/IconLabelDescriptionList"/>
    <dgm:cxn modelId="{3A2C76F9-12B2-407F-8174-7BB305ADD6EF}" srcId="{2B57FBE6-3799-41A5-A94D-1FCBC00BE285}" destId="{F2F5AE2F-0488-4A9D-8E28-CD54C44E15DE}" srcOrd="0" destOrd="0" parTransId="{08181838-630B-4D4C-9CDE-708319AAC172}" sibTransId="{E656EC43-CD40-4A84-AD41-7C66D545AC90}"/>
    <dgm:cxn modelId="{6668B59E-4BFE-43FE-BC62-41E429969E36}" type="presParOf" srcId="{87698E75-8406-4B12-AAB7-57A72515EA2F}" destId="{49C65DFB-776B-4D09-B63B-B722D5012D9A}" srcOrd="0" destOrd="0" presId="urn:microsoft.com/office/officeart/2018/2/layout/IconLabelDescriptionList"/>
    <dgm:cxn modelId="{BEF13AE6-9E44-48E3-9E33-26FC9E6AF1FB}" type="presParOf" srcId="{49C65DFB-776B-4D09-B63B-B722D5012D9A}" destId="{9272FDBF-429C-45D2-991C-41EB5F25FB2C}" srcOrd="0" destOrd="0" presId="urn:microsoft.com/office/officeart/2018/2/layout/IconLabelDescriptionList"/>
    <dgm:cxn modelId="{EAABDA2E-9D45-4C8B-9467-381FFC3F6A66}" type="presParOf" srcId="{49C65DFB-776B-4D09-B63B-B722D5012D9A}" destId="{BE31D43A-E28F-4FD4-9086-03C408C73BCA}" srcOrd="1" destOrd="0" presId="urn:microsoft.com/office/officeart/2018/2/layout/IconLabelDescriptionList"/>
    <dgm:cxn modelId="{4D6AFA8C-48D2-4C23-8B60-BA9B8289894D}" type="presParOf" srcId="{49C65DFB-776B-4D09-B63B-B722D5012D9A}" destId="{6507256E-C919-4026-9B97-4F59E3689FC9}" srcOrd="2" destOrd="0" presId="urn:microsoft.com/office/officeart/2018/2/layout/IconLabelDescriptionList"/>
    <dgm:cxn modelId="{A2CCB297-9B9B-492C-939F-17897C277AFC}" type="presParOf" srcId="{49C65DFB-776B-4D09-B63B-B722D5012D9A}" destId="{BE2E24C2-8CBF-4C21-A676-21D5FFBE0246}" srcOrd="3" destOrd="0" presId="urn:microsoft.com/office/officeart/2018/2/layout/IconLabelDescriptionList"/>
    <dgm:cxn modelId="{D048280E-5E63-47ED-A7AE-83E115BB5A51}" type="presParOf" srcId="{49C65DFB-776B-4D09-B63B-B722D5012D9A}" destId="{EA3843CB-EFED-491E-8D72-1B0EE83295A7}" srcOrd="4" destOrd="0" presId="urn:microsoft.com/office/officeart/2018/2/layout/IconLabelDescriptionList"/>
    <dgm:cxn modelId="{166E0C75-C856-49DA-B137-00494C9380B7}" type="presParOf" srcId="{87698E75-8406-4B12-AAB7-57A72515EA2F}" destId="{BA8AEE66-C5DC-4099-8E84-EEBA35D6B930}" srcOrd="1" destOrd="0" presId="urn:microsoft.com/office/officeart/2018/2/layout/IconLabelDescriptionList"/>
    <dgm:cxn modelId="{02720B8F-9816-4972-9716-800302583D2F}" type="presParOf" srcId="{87698E75-8406-4B12-AAB7-57A72515EA2F}" destId="{2548C04C-24CB-4F1D-A9FA-E3B00AA159CE}" srcOrd="2" destOrd="0" presId="urn:microsoft.com/office/officeart/2018/2/layout/IconLabelDescriptionList"/>
    <dgm:cxn modelId="{4DFBF512-97CD-44A5-8126-85F0CCDDAB8C}" type="presParOf" srcId="{2548C04C-24CB-4F1D-A9FA-E3B00AA159CE}" destId="{FCCE1B8B-9815-4DFD-AF0F-DA4371D7E4E4}" srcOrd="0" destOrd="0" presId="urn:microsoft.com/office/officeart/2018/2/layout/IconLabelDescriptionList"/>
    <dgm:cxn modelId="{79C5BFA7-0FD2-4FE2-859D-343F842FE8A8}" type="presParOf" srcId="{2548C04C-24CB-4F1D-A9FA-E3B00AA159CE}" destId="{C65D750A-4006-4250-AB84-4A01409CF40C}" srcOrd="1" destOrd="0" presId="urn:microsoft.com/office/officeart/2018/2/layout/IconLabelDescriptionList"/>
    <dgm:cxn modelId="{1D65FE3C-01D2-4CA4-97D1-082EED14BABF}" type="presParOf" srcId="{2548C04C-24CB-4F1D-A9FA-E3B00AA159CE}" destId="{4BE220BA-60A1-4F66-84A8-AFDF6FD917A9}" srcOrd="2" destOrd="0" presId="urn:microsoft.com/office/officeart/2018/2/layout/IconLabelDescriptionList"/>
    <dgm:cxn modelId="{3777A4D7-0FEA-46C3-99DC-DA4B38BE073E}" type="presParOf" srcId="{2548C04C-24CB-4F1D-A9FA-E3B00AA159CE}" destId="{B1C683AE-E9A5-41F2-ADF3-D969F33B4182}" srcOrd="3" destOrd="0" presId="urn:microsoft.com/office/officeart/2018/2/layout/IconLabelDescriptionList"/>
    <dgm:cxn modelId="{49A1D1AE-D8FB-45F8-825F-339AEEA5D9FB}" type="presParOf" srcId="{2548C04C-24CB-4F1D-A9FA-E3B00AA159CE}" destId="{B948CA18-95F4-4E1C-8720-8F0715DD8CA8}"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444ADB8-DFB4-4D69-9BDE-098587A640FB}" type="doc">
      <dgm:prSet loTypeId="urn:microsoft.com/office/officeart/2018/2/layout/IconLabelDescriptionList" loCatId="icon" qsTypeId="urn:microsoft.com/office/officeart/2005/8/quickstyle/simple1#4" qsCatId="simple" csTypeId="urn:microsoft.com/office/officeart/2005/8/colors/accent1_2#3" csCatId="accent1" phldr="1"/>
      <dgm:spPr/>
      <dgm:t>
        <a:bodyPr/>
        <a:lstStyle/>
        <a:p>
          <a:endParaRPr lang="en-US"/>
        </a:p>
      </dgm:t>
    </dgm:pt>
    <dgm:pt modelId="{5A6F8DC5-338E-4579-BCFA-4C7235DE771F}">
      <dgm:prSet/>
      <dgm:spPr/>
      <dgm:t>
        <a:bodyPr/>
        <a:lstStyle/>
        <a:p>
          <a:pPr>
            <a:lnSpc>
              <a:spcPct val="100000"/>
            </a:lnSpc>
            <a:defRPr b="1"/>
          </a:pPr>
          <a:r>
            <a:rPr lang="en-US"/>
            <a:t>Python Essentials for Actuaries</a:t>
          </a:r>
        </a:p>
      </dgm:t>
    </dgm:pt>
    <dgm:pt modelId="{45E443EE-B9F0-4452-BAB5-BC5A9BBABB92}" type="parTrans" cxnId="{1EFE4524-845C-4214-A4FB-C2354A2A22B5}">
      <dgm:prSet/>
      <dgm:spPr/>
      <dgm:t>
        <a:bodyPr/>
        <a:lstStyle/>
        <a:p>
          <a:endParaRPr lang="en-US"/>
        </a:p>
      </dgm:t>
    </dgm:pt>
    <dgm:pt modelId="{7E957901-DB3D-4D67-B6A1-0DB618A22FCE}" type="sibTrans" cxnId="{1EFE4524-845C-4214-A4FB-C2354A2A22B5}">
      <dgm:prSet/>
      <dgm:spPr/>
      <dgm:t>
        <a:bodyPr/>
        <a:lstStyle/>
        <a:p>
          <a:endParaRPr lang="en-US"/>
        </a:p>
      </dgm:t>
    </dgm:pt>
    <dgm:pt modelId="{CADFB100-5A14-4241-B4B9-DE8578F1F1C9}">
      <dgm:prSet/>
      <dgm:spPr/>
      <dgm:t>
        <a:bodyPr/>
        <a:lstStyle/>
        <a:p>
          <a:pPr>
            <a:lnSpc>
              <a:spcPct val="100000"/>
            </a:lnSpc>
          </a:pPr>
          <a:r>
            <a:rPr lang="en-US"/>
            <a:t>Variables, data types, loops, functions (with actuarial-flavored examples, e.g., mortality table loop)</a:t>
          </a:r>
        </a:p>
      </dgm:t>
    </dgm:pt>
    <dgm:pt modelId="{F07A908E-3892-41F6-A0CB-EEB0434B9694}" type="parTrans" cxnId="{EFA3AA8E-A24E-4230-A5DA-3D1B841EB442}">
      <dgm:prSet/>
      <dgm:spPr/>
      <dgm:t>
        <a:bodyPr/>
        <a:lstStyle/>
        <a:p>
          <a:endParaRPr lang="en-US"/>
        </a:p>
      </dgm:t>
    </dgm:pt>
    <dgm:pt modelId="{9D3650A2-74DD-46F6-824E-9AEF37F5AC3D}" type="sibTrans" cxnId="{EFA3AA8E-A24E-4230-A5DA-3D1B841EB442}">
      <dgm:prSet/>
      <dgm:spPr/>
      <dgm:t>
        <a:bodyPr/>
        <a:lstStyle/>
        <a:p>
          <a:endParaRPr lang="en-US"/>
        </a:p>
      </dgm:t>
    </dgm:pt>
    <dgm:pt modelId="{9343DDDA-7784-4440-8DCB-BBB30F76A09D}">
      <dgm:prSet/>
      <dgm:spPr/>
      <dgm:t>
        <a:bodyPr/>
        <a:lstStyle/>
        <a:p>
          <a:pPr>
            <a:lnSpc>
              <a:spcPct val="100000"/>
            </a:lnSpc>
            <a:defRPr b="1"/>
          </a:pPr>
          <a:r>
            <a:rPr lang="en-US"/>
            <a:t>Data Handling</a:t>
          </a:r>
        </a:p>
      </dgm:t>
    </dgm:pt>
    <dgm:pt modelId="{19A4ED1A-72E0-4C72-A563-17A645612D33}" type="parTrans" cxnId="{C2A8DB4B-CA2E-4D47-AA8F-930CD6733597}">
      <dgm:prSet/>
      <dgm:spPr/>
      <dgm:t>
        <a:bodyPr/>
        <a:lstStyle/>
        <a:p>
          <a:endParaRPr lang="en-US"/>
        </a:p>
      </dgm:t>
    </dgm:pt>
    <dgm:pt modelId="{113C2C69-08A7-4AD2-B2D8-A21CCF3444E4}" type="sibTrans" cxnId="{C2A8DB4B-CA2E-4D47-AA8F-930CD6733597}">
      <dgm:prSet/>
      <dgm:spPr/>
      <dgm:t>
        <a:bodyPr/>
        <a:lstStyle/>
        <a:p>
          <a:endParaRPr lang="en-US"/>
        </a:p>
      </dgm:t>
    </dgm:pt>
    <dgm:pt modelId="{DB6F9DCD-6A55-4DFB-A81A-4A88ADAC7F8F}">
      <dgm:prSet/>
      <dgm:spPr/>
      <dgm:t>
        <a:bodyPr/>
        <a:lstStyle/>
        <a:p>
          <a:pPr>
            <a:lnSpc>
              <a:spcPct val="100000"/>
            </a:lnSpc>
          </a:pPr>
          <a:r>
            <a:rPr lang="en-US"/>
            <a:t>Reading Excel/CSV files</a:t>
          </a:r>
        </a:p>
      </dgm:t>
    </dgm:pt>
    <dgm:pt modelId="{FA22F665-8C38-438D-9530-9B12FC8EE89F}" type="parTrans" cxnId="{EBCD27F8-9D13-421A-A25E-F77A8ED19DA5}">
      <dgm:prSet/>
      <dgm:spPr/>
      <dgm:t>
        <a:bodyPr/>
        <a:lstStyle/>
        <a:p>
          <a:endParaRPr lang="en-US"/>
        </a:p>
      </dgm:t>
    </dgm:pt>
    <dgm:pt modelId="{7588E23F-8663-4771-9DB8-6AEFE6DC1334}" type="sibTrans" cxnId="{EBCD27F8-9D13-421A-A25E-F77A8ED19DA5}">
      <dgm:prSet/>
      <dgm:spPr/>
      <dgm:t>
        <a:bodyPr/>
        <a:lstStyle/>
        <a:p>
          <a:endParaRPr lang="en-US"/>
        </a:p>
      </dgm:t>
    </dgm:pt>
    <dgm:pt modelId="{0F53E758-C048-4613-84C6-C467325DE5E6}">
      <dgm:prSet/>
      <dgm:spPr/>
      <dgm:t>
        <a:bodyPr/>
        <a:lstStyle/>
        <a:p>
          <a:pPr>
            <a:lnSpc>
              <a:spcPct val="100000"/>
            </a:lnSpc>
          </a:pPr>
          <a:r>
            <a:rPr lang="en-US"/>
            <a:t>Data cleaning (missing values, formatting)</a:t>
          </a:r>
        </a:p>
      </dgm:t>
    </dgm:pt>
    <dgm:pt modelId="{B4CB8858-E077-4C57-8FD9-B682A344F50D}" type="parTrans" cxnId="{EB06C921-A440-4CBB-997F-9DF23E9BB8AD}">
      <dgm:prSet/>
      <dgm:spPr/>
      <dgm:t>
        <a:bodyPr/>
        <a:lstStyle/>
        <a:p>
          <a:endParaRPr lang="en-US"/>
        </a:p>
      </dgm:t>
    </dgm:pt>
    <dgm:pt modelId="{62CDB25A-981A-4167-97E0-CBABC9D9406B}" type="sibTrans" cxnId="{EB06C921-A440-4CBB-997F-9DF23E9BB8AD}">
      <dgm:prSet/>
      <dgm:spPr/>
      <dgm:t>
        <a:bodyPr/>
        <a:lstStyle/>
        <a:p>
          <a:endParaRPr lang="en-US"/>
        </a:p>
      </dgm:t>
    </dgm:pt>
    <dgm:pt modelId="{33B72FDA-4717-45A0-A310-49B77155E2AD}">
      <dgm:prSet/>
      <dgm:spPr/>
      <dgm:t>
        <a:bodyPr/>
        <a:lstStyle/>
        <a:p>
          <a:pPr>
            <a:lnSpc>
              <a:spcPct val="100000"/>
            </a:lnSpc>
          </a:pPr>
          <a:r>
            <a:rPr lang="en-US"/>
            <a:t>Simple actuarial example: Import policy data</a:t>
          </a:r>
        </a:p>
      </dgm:t>
    </dgm:pt>
    <dgm:pt modelId="{CF6C8D4A-0D27-4818-A53C-4CA6A4E85F5D}" type="parTrans" cxnId="{608E5A13-511D-4509-9942-8F0FE847A92B}">
      <dgm:prSet/>
      <dgm:spPr/>
      <dgm:t>
        <a:bodyPr/>
        <a:lstStyle/>
        <a:p>
          <a:endParaRPr lang="en-US"/>
        </a:p>
      </dgm:t>
    </dgm:pt>
    <dgm:pt modelId="{96EE6488-4CAA-47DC-A5B6-1D2E0A8280F7}" type="sibTrans" cxnId="{608E5A13-511D-4509-9942-8F0FE847A92B}">
      <dgm:prSet/>
      <dgm:spPr/>
      <dgm:t>
        <a:bodyPr/>
        <a:lstStyle/>
        <a:p>
          <a:endParaRPr lang="en-US"/>
        </a:p>
      </dgm:t>
    </dgm:pt>
    <dgm:pt modelId="{5B176FBE-8C7D-4115-9088-1DFFE54FE750}" type="pres">
      <dgm:prSet presAssocID="{C444ADB8-DFB4-4D69-9BDE-098587A640FB}" presName="root" presStyleCnt="0">
        <dgm:presLayoutVars>
          <dgm:dir/>
          <dgm:resizeHandles val="exact"/>
        </dgm:presLayoutVars>
      </dgm:prSet>
      <dgm:spPr/>
    </dgm:pt>
    <dgm:pt modelId="{6380DC6B-FE35-4DD0-8E1B-EC3EF20C5F37}" type="pres">
      <dgm:prSet presAssocID="{5A6F8DC5-338E-4579-BCFA-4C7235DE771F}" presName="compNode" presStyleCnt="0"/>
      <dgm:spPr/>
    </dgm:pt>
    <dgm:pt modelId="{0F3545F4-22D7-452B-B917-512A3FE33CED}" type="pres">
      <dgm:prSet presAssocID="{5A6F8DC5-338E-4579-BCFA-4C7235DE771F}"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erver"/>
        </a:ext>
      </dgm:extLst>
    </dgm:pt>
    <dgm:pt modelId="{35277547-CF57-474D-A152-1E4B7A23A6F9}" type="pres">
      <dgm:prSet presAssocID="{5A6F8DC5-338E-4579-BCFA-4C7235DE771F}" presName="iconSpace" presStyleCnt="0"/>
      <dgm:spPr/>
    </dgm:pt>
    <dgm:pt modelId="{30F59FBD-7AFA-42C0-AC1F-559B0AFFD329}" type="pres">
      <dgm:prSet presAssocID="{5A6F8DC5-338E-4579-BCFA-4C7235DE771F}" presName="parTx" presStyleLbl="revTx" presStyleIdx="0" presStyleCnt="4">
        <dgm:presLayoutVars>
          <dgm:chMax val="0"/>
          <dgm:chPref val="0"/>
        </dgm:presLayoutVars>
      </dgm:prSet>
      <dgm:spPr/>
    </dgm:pt>
    <dgm:pt modelId="{1B596CCF-E1A9-4D82-B7B2-9F42D18B26ED}" type="pres">
      <dgm:prSet presAssocID="{5A6F8DC5-338E-4579-BCFA-4C7235DE771F}" presName="txSpace" presStyleCnt="0"/>
      <dgm:spPr/>
    </dgm:pt>
    <dgm:pt modelId="{DA30B193-44ED-495F-899E-41D801589123}" type="pres">
      <dgm:prSet presAssocID="{5A6F8DC5-338E-4579-BCFA-4C7235DE771F}" presName="desTx" presStyleLbl="revTx" presStyleIdx="1" presStyleCnt="4">
        <dgm:presLayoutVars/>
      </dgm:prSet>
      <dgm:spPr/>
    </dgm:pt>
    <dgm:pt modelId="{374CC353-7EF0-43BA-BA2E-6EBABC7BFB30}" type="pres">
      <dgm:prSet presAssocID="{7E957901-DB3D-4D67-B6A1-0DB618A22FCE}" presName="sibTrans" presStyleCnt="0"/>
      <dgm:spPr/>
    </dgm:pt>
    <dgm:pt modelId="{3D8B247E-7783-47D8-A04C-F88D4883B9E6}" type="pres">
      <dgm:prSet presAssocID="{9343DDDA-7784-4440-8DCB-BBB30F76A09D}" presName="compNode" presStyleCnt="0"/>
      <dgm:spPr/>
    </dgm:pt>
    <dgm:pt modelId="{2A9CC789-243D-4FA4-9A91-1BAA579E6551}" type="pres">
      <dgm:prSet presAssocID="{9343DDDA-7784-4440-8DCB-BBB30F76A09D}"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Folder"/>
        </a:ext>
      </dgm:extLst>
    </dgm:pt>
    <dgm:pt modelId="{2A668015-DCF5-48DA-8EE7-8001DC0E3AEE}" type="pres">
      <dgm:prSet presAssocID="{9343DDDA-7784-4440-8DCB-BBB30F76A09D}" presName="iconSpace" presStyleCnt="0"/>
      <dgm:spPr/>
    </dgm:pt>
    <dgm:pt modelId="{88F733AF-91DE-4A8D-9E47-2A484815522A}" type="pres">
      <dgm:prSet presAssocID="{9343DDDA-7784-4440-8DCB-BBB30F76A09D}" presName="parTx" presStyleLbl="revTx" presStyleIdx="2" presStyleCnt="4">
        <dgm:presLayoutVars>
          <dgm:chMax val="0"/>
          <dgm:chPref val="0"/>
        </dgm:presLayoutVars>
      </dgm:prSet>
      <dgm:spPr/>
    </dgm:pt>
    <dgm:pt modelId="{2905C7B2-9FEF-4335-8309-F1A870D2E22A}" type="pres">
      <dgm:prSet presAssocID="{9343DDDA-7784-4440-8DCB-BBB30F76A09D}" presName="txSpace" presStyleCnt="0"/>
      <dgm:spPr/>
    </dgm:pt>
    <dgm:pt modelId="{91D49FDD-E7E7-4A41-958F-6CB0B420376A}" type="pres">
      <dgm:prSet presAssocID="{9343DDDA-7784-4440-8DCB-BBB30F76A09D}" presName="desTx" presStyleLbl="revTx" presStyleIdx="3" presStyleCnt="4">
        <dgm:presLayoutVars/>
      </dgm:prSet>
      <dgm:spPr/>
    </dgm:pt>
  </dgm:ptLst>
  <dgm:cxnLst>
    <dgm:cxn modelId="{608E5A13-511D-4509-9942-8F0FE847A92B}" srcId="{9343DDDA-7784-4440-8DCB-BBB30F76A09D}" destId="{33B72FDA-4717-45A0-A310-49B77155E2AD}" srcOrd="2" destOrd="0" parTransId="{CF6C8D4A-0D27-4818-A53C-4CA6A4E85F5D}" sibTransId="{96EE6488-4CAA-47DC-A5B6-1D2E0A8280F7}"/>
    <dgm:cxn modelId="{EB06C921-A440-4CBB-997F-9DF23E9BB8AD}" srcId="{9343DDDA-7784-4440-8DCB-BBB30F76A09D}" destId="{0F53E758-C048-4613-84C6-C467325DE5E6}" srcOrd="1" destOrd="0" parTransId="{B4CB8858-E077-4C57-8FD9-B682A344F50D}" sibTransId="{62CDB25A-981A-4167-97E0-CBABC9D9406B}"/>
    <dgm:cxn modelId="{1EFE4524-845C-4214-A4FB-C2354A2A22B5}" srcId="{C444ADB8-DFB4-4D69-9BDE-098587A640FB}" destId="{5A6F8DC5-338E-4579-BCFA-4C7235DE771F}" srcOrd="0" destOrd="0" parTransId="{45E443EE-B9F0-4452-BAB5-BC5A9BBABB92}" sibTransId="{7E957901-DB3D-4D67-B6A1-0DB618A22FCE}"/>
    <dgm:cxn modelId="{FD812242-BF30-400E-9E4C-F445144F7952}" type="presOf" srcId="{0F53E758-C048-4613-84C6-C467325DE5E6}" destId="{91D49FDD-E7E7-4A41-958F-6CB0B420376A}" srcOrd="0" destOrd="1" presId="urn:microsoft.com/office/officeart/2018/2/layout/IconLabelDescriptionList"/>
    <dgm:cxn modelId="{C2A8DB4B-CA2E-4D47-AA8F-930CD6733597}" srcId="{C444ADB8-DFB4-4D69-9BDE-098587A640FB}" destId="{9343DDDA-7784-4440-8DCB-BBB30F76A09D}" srcOrd="1" destOrd="0" parTransId="{19A4ED1A-72E0-4C72-A563-17A645612D33}" sibTransId="{113C2C69-08A7-4AD2-B2D8-A21CCF3444E4}"/>
    <dgm:cxn modelId="{6D581B72-46AF-4002-B283-F7F69F5CF88C}" type="presOf" srcId="{5A6F8DC5-338E-4579-BCFA-4C7235DE771F}" destId="{30F59FBD-7AFA-42C0-AC1F-559B0AFFD329}" srcOrd="0" destOrd="0" presId="urn:microsoft.com/office/officeart/2018/2/layout/IconLabelDescriptionList"/>
    <dgm:cxn modelId="{EFA3AA8E-A24E-4230-A5DA-3D1B841EB442}" srcId="{5A6F8DC5-338E-4579-BCFA-4C7235DE771F}" destId="{CADFB100-5A14-4241-B4B9-DE8578F1F1C9}" srcOrd="0" destOrd="0" parTransId="{F07A908E-3892-41F6-A0CB-EEB0434B9694}" sibTransId="{9D3650A2-74DD-46F6-824E-9AEF37F5AC3D}"/>
    <dgm:cxn modelId="{7363EA95-0F9C-4C47-B43C-F835593139CF}" type="presOf" srcId="{DB6F9DCD-6A55-4DFB-A81A-4A88ADAC7F8F}" destId="{91D49FDD-E7E7-4A41-958F-6CB0B420376A}" srcOrd="0" destOrd="0" presId="urn:microsoft.com/office/officeart/2018/2/layout/IconLabelDescriptionList"/>
    <dgm:cxn modelId="{16ED80A5-DB51-44A3-8ACB-EAA32F4D759D}" type="presOf" srcId="{CADFB100-5A14-4241-B4B9-DE8578F1F1C9}" destId="{DA30B193-44ED-495F-899E-41D801589123}" srcOrd="0" destOrd="0" presId="urn:microsoft.com/office/officeart/2018/2/layout/IconLabelDescriptionList"/>
    <dgm:cxn modelId="{BA90B8B0-C571-48F2-A03A-F606D9D2CFF5}" type="presOf" srcId="{33B72FDA-4717-45A0-A310-49B77155E2AD}" destId="{91D49FDD-E7E7-4A41-958F-6CB0B420376A}" srcOrd="0" destOrd="2" presId="urn:microsoft.com/office/officeart/2018/2/layout/IconLabelDescriptionList"/>
    <dgm:cxn modelId="{926895CB-8179-4A28-BB6F-6302C238D14B}" type="presOf" srcId="{9343DDDA-7784-4440-8DCB-BBB30F76A09D}" destId="{88F733AF-91DE-4A8D-9E47-2A484815522A}" srcOrd="0" destOrd="0" presId="urn:microsoft.com/office/officeart/2018/2/layout/IconLabelDescriptionList"/>
    <dgm:cxn modelId="{EBCD27F8-9D13-421A-A25E-F77A8ED19DA5}" srcId="{9343DDDA-7784-4440-8DCB-BBB30F76A09D}" destId="{DB6F9DCD-6A55-4DFB-A81A-4A88ADAC7F8F}" srcOrd="0" destOrd="0" parTransId="{FA22F665-8C38-438D-9530-9B12FC8EE89F}" sibTransId="{7588E23F-8663-4771-9DB8-6AEFE6DC1334}"/>
    <dgm:cxn modelId="{E1FE5BFA-2E63-48D2-9598-72D337E9EFDF}" type="presOf" srcId="{C444ADB8-DFB4-4D69-9BDE-098587A640FB}" destId="{5B176FBE-8C7D-4115-9088-1DFFE54FE750}" srcOrd="0" destOrd="0" presId="urn:microsoft.com/office/officeart/2018/2/layout/IconLabelDescriptionList"/>
    <dgm:cxn modelId="{E6D15CAF-E348-446C-B6E1-0DED2FFD66ED}" type="presParOf" srcId="{5B176FBE-8C7D-4115-9088-1DFFE54FE750}" destId="{6380DC6B-FE35-4DD0-8E1B-EC3EF20C5F37}" srcOrd="0" destOrd="0" presId="urn:microsoft.com/office/officeart/2018/2/layout/IconLabelDescriptionList"/>
    <dgm:cxn modelId="{C150AE90-F715-4851-889D-32E13A4089D9}" type="presParOf" srcId="{6380DC6B-FE35-4DD0-8E1B-EC3EF20C5F37}" destId="{0F3545F4-22D7-452B-B917-512A3FE33CED}" srcOrd="0" destOrd="0" presId="urn:microsoft.com/office/officeart/2018/2/layout/IconLabelDescriptionList"/>
    <dgm:cxn modelId="{A252B7A1-8B1E-43F6-9C44-87E7A3BFBC19}" type="presParOf" srcId="{6380DC6B-FE35-4DD0-8E1B-EC3EF20C5F37}" destId="{35277547-CF57-474D-A152-1E4B7A23A6F9}" srcOrd="1" destOrd="0" presId="urn:microsoft.com/office/officeart/2018/2/layout/IconLabelDescriptionList"/>
    <dgm:cxn modelId="{4B36427E-0A64-4515-B6BC-F734CF69394E}" type="presParOf" srcId="{6380DC6B-FE35-4DD0-8E1B-EC3EF20C5F37}" destId="{30F59FBD-7AFA-42C0-AC1F-559B0AFFD329}" srcOrd="2" destOrd="0" presId="urn:microsoft.com/office/officeart/2018/2/layout/IconLabelDescriptionList"/>
    <dgm:cxn modelId="{83494505-4BC0-44B9-A09D-20F316496D58}" type="presParOf" srcId="{6380DC6B-FE35-4DD0-8E1B-EC3EF20C5F37}" destId="{1B596CCF-E1A9-4D82-B7B2-9F42D18B26ED}" srcOrd="3" destOrd="0" presId="urn:microsoft.com/office/officeart/2018/2/layout/IconLabelDescriptionList"/>
    <dgm:cxn modelId="{33B16F59-A1D1-43CE-B6D6-A5F77B39B953}" type="presParOf" srcId="{6380DC6B-FE35-4DD0-8E1B-EC3EF20C5F37}" destId="{DA30B193-44ED-495F-899E-41D801589123}" srcOrd="4" destOrd="0" presId="urn:microsoft.com/office/officeart/2018/2/layout/IconLabelDescriptionList"/>
    <dgm:cxn modelId="{5C8177CF-CE94-463F-B7D5-84E4D8D9D464}" type="presParOf" srcId="{5B176FBE-8C7D-4115-9088-1DFFE54FE750}" destId="{374CC353-7EF0-43BA-BA2E-6EBABC7BFB30}" srcOrd="1" destOrd="0" presId="urn:microsoft.com/office/officeart/2018/2/layout/IconLabelDescriptionList"/>
    <dgm:cxn modelId="{D1798162-3918-4B47-9E6F-AF87B78F8A1D}" type="presParOf" srcId="{5B176FBE-8C7D-4115-9088-1DFFE54FE750}" destId="{3D8B247E-7783-47D8-A04C-F88D4883B9E6}" srcOrd="2" destOrd="0" presId="urn:microsoft.com/office/officeart/2018/2/layout/IconLabelDescriptionList"/>
    <dgm:cxn modelId="{8562A6A8-3BEF-4E15-AFD0-763C6137516E}" type="presParOf" srcId="{3D8B247E-7783-47D8-A04C-F88D4883B9E6}" destId="{2A9CC789-243D-4FA4-9A91-1BAA579E6551}" srcOrd="0" destOrd="0" presId="urn:microsoft.com/office/officeart/2018/2/layout/IconLabelDescriptionList"/>
    <dgm:cxn modelId="{DC477980-7D26-4058-8BDF-4B166F1C082E}" type="presParOf" srcId="{3D8B247E-7783-47D8-A04C-F88D4883B9E6}" destId="{2A668015-DCF5-48DA-8EE7-8001DC0E3AEE}" srcOrd="1" destOrd="0" presId="urn:microsoft.com/office/officeart/2018/2/layout/IconLabelDescriptionList"/>
    <dgm:cxn modelId="{F7601260-9D81-4B3E-BACD-21E42E6461D4}" type="presParOf" srcId="{3D8B247E-7783-47D8-A04C-F88D4883B9E6}" destId="{88F733AF-91DE-4A8D-9E47-2A484815522A}" srcOrd="2" destOrd="0" presId="urn:microsoft.com/office/officeart/2018/2/layout/IconLabelDescriptionList"/>
    <dgm:cxn modelId="{12A750B2-6AB5-4E90-9085-E1A0D28061B3}" type="presParOf" srcId="{3D8B247E-7783-47D8-A04C-F88D4883B9E6}" destId="{2905C7B2-9FEF-4335-8309-F1A870D2E22A}" srcOrd="3" destOrd="0" presId="urn:microsoft.com/office/officeart/2018/2/layout/IconLabelDescriptionList"/>
    <dgm:cxn modelId="{15B36594-85A5-4EA8-8B34-1552B281BA58}" type="presParOf" srcId="{3D8B247E-7783-47D8-A04C-F88D4883B9E6}" destId="{91D49FDD-E7E7-4A41-958F-6CB0B420376A}"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4205BBA-A50A-445B-96FA-C30D95F93673}" type="doc">
      <dgm:prSet loTypeId="urn:microsoft.com/office/officeart/2018/2/layout/IconLabelDescriptionList" loCatId="icon" qsTypeId="urn:microsoft.com/office/officeart/2005/8/quickstyle/simple1#5" qsCatId="simple" csTypeId="urn:microsoft.com/office/officeart/2005/8/colors/accent1_2#4" csCatId="accent1" phldr="1"/>
      <dgm:spPr/>
      <dgm:t>
        <a:bodyPr/>
        <a:lstStyle/>
        <a:p>
          <a:endParaRPr lang="en-US"/>
        </a:p>
      </dgm:t>
    </dgm:pt>
    <dgm:pt modelId="{63F1ACB1-4CB1-4F7A-8CAB-60471AA85C8B}">
      <dgm:prSet/>
      <dgm:spPr/>
      <dgm:t>
        <a:bodyPr/>
        <a:lstStyle/>
        <a:p>
          <a:pPr>
            <a:lnSpc>
              <a:spcPct val="100000"/>
            </a:lnSpc>
            <a:defRPr b="1"/>
          </a:pPr>
          <a:r>
            <a:rPr lang="en-US"/>
            <a:t>Automation</a:t>
          </a:r>
        </a:p>
      </dgm:t>
    </dgm:pt>
    <dgm:pt modelId="{CA1E4646-756E-4918-944E-68DD19B3AED8}" type="parTrans" cxnId="{3CB43287-C972-41B6-B151-003442FDC772}">
      <dgm:prSet/>
      <dgm:spPr/>
      <dgm:t>
        <a:bodyPr/>
        <a:lstStyle/>
        <a:p>
          <a:endParaRPr lang="en-US"/>
        </a:p>
      </dgm:t>
    </dgm:pt>
    <dgm:pt modelId="{356D097C-59B2-43FE-ADC1-5C388719D5F1}" type="sibTrans" cxnId="{3CB43287-C972-41B6-B151-003442FDC772}">
      <dgm:prSet/>
      <dgm:spPr/>
      <dgm:t>
        <a:bodyPr/>
        <a:lstStyle/>
        <a:p>
          <a:endParaRPr lang="en-US"/>
        </a:p>
      </dgm:t>
    </dgm:pt>
    <dgm:pt modelId="{A02EA427-2E82-47C0-B9C7-D1C462A11F82}">
      <dgm:prSet/>
      <dgm:spPr/>
      <dgm:t>
        <a:bodyPr/>
        <a:lstStyle/>
        <a:p>
          <a:pPr>
            <a:lnSpc>
              <a:spcPct val="100000"/>
            </a:lnSpc>
          </a:pPr>
          <a:r>
            <a:rPr lang="en-US"/>
            <a:t>Generating reports automatically</a:t>
          </a:r>
        </a:p>
      </dgm:t>
    </dgm:pt>
    <dgm:pt modelId="{322B687C-43BC-4450-8FDD-3471ACDB4E61}" type="parTrans" cxnId="{B6C45E7F-E36F-47B4-8649-E22E5525C85C}">
      <dgm:prSet/>
      <dgm:spPr/>
      <dgm:t>
        <a:bodyPr/>
        <a:lstStyle/>
        <a:p>
          <a:endParaRPr lang="en-US"/>
        </a:p>
      </dgm:t>
    </dgm:pt>
    <dgm:pt modelId="{3DA6945E-82FF-4938-90BA-A1A5F826987F}" type="sibTrans" cxnId="{B6C45E7F-E36F-47B4-8649-E22E5525C85C}">
      <dgm:prSet/>
      <dgm:spPr/>
      <dgm:t>
        <a:bodyPr/>
        <a:lstStyle/>
        <a:p>
          <a:endParaRPr lang="en-US"/>
        </a:p>
      </dgm:t>
    </dgm:pt>
    <dgm:pt modelId="{5942D886-291D-4270-92EC-D55684D8AB0C}">
      <dgm:prSet/>
      <dgm:spPr/>
      <dgm:t>
        <a:bodyPr/>
        <a:lstStyle/>
        <a:p>
          <a:pPr>
            <a:lnSpc>
              <a:spcPct val="100000"/>
            </a:lnSpc>
          </a:pPr>
          <a:r>
            <a:rPr lang="en-US"/>
            <a:t>Example: Quarterly reserving tables</a:t>
          </a:r>
        </a:p>
      </dgm:t>
    </dgm:pt>
    <dgm:pt modelId="{CD12ADBE-5B6D-47C4-AE4E-EFD70A3296F6}" type="parTrans" cxnId="{69B0FEEF-BE6D-4630-AD74-7BE5107131C6}">
      <dgm:prSet/>
      <dgm:spPr/>
      <dgm:t>
        <a:bodyPr/>
        <a:lstStyle/>
        <a:p>
          <a:endParaRPr lang="en-US"/>
        </a:p>
      </dgm:t>
    </dgm:pt>
    <dgm:pt modelId="{26BDCFAB-7511-4D5B-8501-E7682E913B7D}" type="sibTrans" cxnId="{69B0FEEF-BE6D-4630-AD74-7BE5107131C6}">
      <dgm:prSet/>
      <dgm:spPr/>
      <dgm:t>
        <a:bodyPr/>
        <a:lstStyle/>
        <a:p>
          <a:endParaRPr lang="en-US"/>
        </a:p>
      </dgm:t>
    </dgm:pt>
    <dgm:pt modelId="{F8099940-360F-4014-8422-31596211BE43}">
      <dgm:prSet/>
      <dgm:spPr/>
      <dgm:t>
        <a:bodyPr/>
        <a:lstStyle/>
        <a:p>
          <a:pPr>
            <a:lnSpc>
              <a:spcPct val="100000"/>
            </a:lnSpc>
            <a:defRPr b="1"/>
          </a:pPr>
          <a:r>
            <a:rPr lang="en-US"/>
            <a:t>Predictive Modelling</a:t>
          </a:r>
        </a:p>
      </dgm:t>
    </dgm:pt>
    <dgm:pt modelId="{E75D251A-B868-49DD-8FBC-8B811B580530}" type="parTrans" cxnId="{C35B1C2A-A376-4295-8097-70DE799F224D}">
      <dgm:prSet/>
      <dgm:spPr/>
      <dgm:t>
        <a:bodyPr/>
        <a:lstStyle/>
        <a:p>
          <a:endParaRPr lang="en-US"/>
        </a:p>
      </dgm:t>
    </dgm:pt>
    <dgm:pt modelId="{C39CE90A-928F-4469-8635-88F1EBDE4406}" type="sibTrans" cxnId="{C35B1C2A-A376-4295-8097-70DE799F224D}">
      <dgm:prSet/>
      <dgm:spPr/>
      <dgm:t>
        <a:bodyPr/>
        <a:lstStyle/>
        <a:p>
          <a:endParaRPr lang="en-US"/>
        </a:p>
      </dgm:t>
    </dgm:pt>
    <dgm:pt modelId="{B9C16885-9648-435D-9CE8-8960E4157F4C}">
      <dgm:prSet/>
      <dgm:spPr/>
      <dgm:t>
        <a:bodyPr/>
        <a:lstStyle/>
        <a:p>
          <a:pPr>
            <a:lnSpc>
              <a:spcPct val="100000"/>
            </a:lnSpc>
          </a:pPr>
          <a:r>
            <a:rPr lang="en-US"/>
            <a:t>Logistic regression, survival analysis</a:t>
          </a:r>
        </a:p>
      </dgm:t>
    </dgm:pt>
    <dgm:pt modelId="{53D2DE3B-685D-4923-82CA-8D24B83F627B}" type="parTrans" cxnId="{53C34FFC-7199-434E-80EB-6031035AC9ED}">
      <dgm:prSet/>
      <dgm:spPr/>
      <dgm:t>
        <a:bodyPr/>
        <a:lstStyle/>
        <a:p>
          <a:endParaRPr lang="en-US"/>
        </a:p>
      </dgm:t>
    </dgm:pt>
    <dgm:pt modelId="{0BEAD4B2-729F-4CB1-B133-3A44972F47DC}" type="sibTrans" cxnId="{53C34FFC-7199-434E-80EB-6031035AC9ED}">
      <dgm:prSet/>
      <dgm:spPr/>
      <dgm:t>
        <a:bodyPr/>
        <a:lstStyle/>
        <a:p>
          <a:endParaRPr lang="en-US"/>
        </a:p>
      </dgm:t>
    </dgm:pt>
    <dgm:pt modelId="{C067F26A-BA7B-479E-A674-03951A830CC1}">
      <dgm:prSet/>
      <dgm:spPr/>
      <dgm:t>
        <a:bodyPr/>
        <a:lstStyle/>
        <a:p>
          <a:pPr>
            <a:lnSpc>
              <a:spcPct val="100000"/>
            </a:lnSpc>
          </a:pPr>
          <a:r>
            <a:rPr lang="en-US"/>
            <a:t>Example: Lapse probability model</a:t>
          </a:r>
        </a:p>
      </dgm:t>
    </dgm:pt>
    <dgm:pt modelId="{38C2366A-35DC-4182-9B38-C8F06338245F}" type="parTrans" cxnId="{8160EFB1-BA26-46F2-80FC-8165E3939E70}">
      <dgm:prSet/>
      <dgm:spPr/>
      <dgm:t>
        <a:bodyPr/>
        <a:lstStyle/>
        <a:p>
          <a:endParaRPr lang="en-US"/>
        </a:p>
      </dgm:t>
    </dgm:pt>
    <dgm:pt modelId="{E996DF57-2ED2-4859-8245-22F52CD125E3}" type="sibTrans" cxnId="{8160EFB1-BA26-46F2-80FC-8165E3939E70}">
      <dgm:prSet/>
      <dgm:spPr/>
      <dgm:t>
        <a:bodyPr/>
        <a:lstStyle/>
        <a:p>
          <a:endParaRPr lang="en-US"/>
        </a:p>
      </dgm:t>
    </dgm:pt>
    <dgm:pt modelId="{3883F747-3E6F-44AF-BFB1-7743480ED2FD}" type="pres">
      <dgm:prSet presAssocID="{24205BBA-A50A-445B-96FA-C30D95F93673}" presName="root" presStyleCnt="0">
        <dgm:presLayoutVars>
          <dgm:dir/>
          <dgm:resizeHandles val="exact"/>
        </dgm:presLayoutVars>
      </dgm:prSet>
      <dgm:spPr/>
    </dgm:pt>
    <dgm:pt modelId="{B9716380-C9A4-42EA-8FD0-69D590C4DA42}" type="pres">
      <dgm:prSet presAssocID="{63F1ACB1-4CB1-4F7A-8CAB-60471AA85C8B}" presName="compNode" presStyleCnt="0"/>
      <dgm:spPr/>
    </dgm:pt>
    <dgm:pt modelId="{C53EB0BE-7417-4B5F-809C-A822C9A58F33}" type="pres">
      <dgm:prSet presAssocID="{63F1ACB1-4CB1-4F7A-8CAB-60471AA85C8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Table"/>
        </a:ext>
      </dgm:extLst>
    </dgm:pt>
    <dgm:pt modelId="{39B9A77C-46AD-418B-AE77-8905A1A13886}" type="pres">
      <dgm:prSet presAssocID="{63F1ACB1-4CB1-4F7A-8CAB-60471AA85C8B}" presName="iconSpace" presStyleCnt="0"/>
      <dgm:spPr/>
    </dgm:pt>
    <dgm:pt modelId="{5733F57F-6A5E-4F11-BB8C-176B6A8A8458}" type="pres">
      <dgm:prSet presAssocID="{63F1ACB1-4CB1-4F7A-8CAB-60471AA85C8B}" presName="parTx" presStyleLbl="revTx" presStyleIdx="0" presStyleCnt="4">
        <dgm:presLayoutVars>
          <dgm:chMax val="0"/>
          <dgm:chPref val="0"/>
        </dgm:presLayoutVars>
      </dgm:prSet>
      <dgm:spPr/>
    </dgm:pt>
    <dgm:pt modelId="{193DA878-81C2-49E1-AE25-C911D8456AEB}" type="pres">
      <dgm:prSet presAssocID="{63F1ACB1-4CB1-4F7A-8CAB-60471AA85C8B}" presName="txSpace" presStyleCnt="0"/>
      <dgm:spPr/>
    </dgm:pt>
    <dgm:pt modelId="{2B38742F-D5C7-4AFD-8F63-B18726D211E7}" type="pres">
      <dgm:prSet presAssocID="{63F1ACB1-4CB1-4F7A-8CAB-60471AA85C8B}" presName="desTx" presStyleLbl="revTx" presStyleIdx="1" presStyleCnt="4">
        <dgm:presLayoutVars/>
      </dgm:prSet>
      <dgm:spPr/>
    </dgm:pt>
    <dgm:pt modelId="{B1607388-3A5D-4EF3-8C0A-94AAC01FC800}" type="pres">
      <dgm:prSet presAssocID="{356D097C-59B2-43FE-ADC1-5C388719D5F1}" presName="sibTrans" presStyleCnt="0"/>
      <dgm:spPr/>
    </dgm:pt>
    <dgm:pt modelId="{E037FE03-AA0F-4C42-B5F6-5BD3ED396D5A}" type="pres">
      <dgm:prSet presAssocID="{F8099940-360F-4014-8422-31596211BE43}" presName="compNode" presStyleCnt="0"/>
      <dgm:spPr/>
    </dgm:pt>
    <dgm:pt modelId="{26DF1D00-C773-4546-99FC-DBD8680CFB8F}" type="pres">
      <dgm:prSet presAssocID="{F8099940-360F-4014-8422-31596211BE43}"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F06A9B01-74BC-4BFF-B89B-9075C051F031}" type="pres">
      <dgm:prSet presAssocID="{F8099940-360F-4014-8422-31596211BE43}" presName="iconSpace" presStyleCnt="0"/>
      <dgm:spPr/>
    </dgm:pt>
    <dgm:pt modelId="{AA4F65D3-79A7-47A9-9ABA-D2940E6CB3E0}" type="pres">
      <dgm:prSet presAssocID="{F8099940-360F-4014-8422-31596211BE43}" presName="parTx" presStyleLbl="revTx" presStyleIdx="2" presStyleCnt="4">
        <dgm:presLayoutVars>
          <dgm:chMax val="0"/>
          <dgm:chPref val="0"/>
        </dgm:presLayoutVars>
      </dgm:prSet>
      <dgm:spPr/>
    </dgm:pt>
    <dgm:pt modelId="{3A178CD7-BF31-4273-83B9-F2601D9BD7A0}" type="pres">
      <dgm:prSet presAssocID="{F8099940-360F-4014-8422-31596211BE43}" presName="txSpace" presStyleCnt="0"/>
      <dgm:spPr/>
    </dgm:pt>
    <dgm:pt modelId="{A04A8395-48BC-4E40-96D0-C6D760896BE2}" type="pres">
      <dgm:prSet presAssocID="{F8099940-360F-4014-8422-31596211BE43}" presName="desTx" presStyleLbl="revTx" presStyleIdx="3" presStyleCnt="4">
        <dgm:presLayoutVars/>
      </dgm:prSet>
      <dgm:spPr/>
    </dgm:pt>
  </dgm:ptLst>
  <dgm:cxnLst>
    <dgm:cxn modelId="{66B73E0D-C3EE-45AE-83B8-D74CAB5047EC}" type="presOf" srcId="{24205BBA-A50A-445B-96FA-C30D95F93673}" destId="{3883F747-3E6F-44AF-BFB1-7743480ED2FD}" srcOrd="0" destOrd="0" presId="urn:microsoft.com/office/officeart/2018/2/layout/IconLabelDescriptionList"/>
    <dgm:cxn modelId="{4D12F617-2734-4821-9F7D-130CFFA7E74D}" type="presOf" srcId="{F8099940-360F-4014-8422-31596211BE43}" destId="{AA4F65D3-79A7-47A9-9ABA-D2940E6CB3E0}" srcOrd="0" destOrd="0" presId="urn:microsoft.com/office/officeart/2018/2/layout/IconLabelDescriptionList"/>
    <dgm:cxn modelId="{C35B1C2A-A376-4295-8097-70DE799F224D}" srcId="{24205BBA-A50A-445B-96FA-C30D95F93673}" destId="{F8099940-360F-4014-8422-31596211BE43}" srcOrd="1" destOrd="0" parTransId="{E75D251A-B868-49DD-8FBC-8B811B580530}" sibTransId="{C39CE90A-928F-4469-8635-88F1EBDE4406}"/>
    <dgm:cxn modelId="{D3006D48-974F-4B66-A0BE-BE5E72BE6CB6}" type="presOf" srcId="{5942D886-291D-4270-92EC-D55684D8AB0C}" destId="{2B38742F-D5C7-4AFD-8F63-B18726D211E7}" srcOrd="0" destOrd="1" presId="urn:microsoft.com/office/officeart/2018/2/layout/IconLabelDescriptionList"/>
    <dgm:cxn modelId="{B6C45E7F-E36F-47B4-8649-E22E5525C85C}" srcId="{63F1ACB1-4CB1-4F7A-8CAB-60471AA85C8B}" destId="{A02EA427-2E82-47C0-B9C7-D1C462A11F82}" srcOrd="0" destOrd="0" parTransId="{322B687C-43BC-4450-8FDD-3471ACDB4E61}" sibTransId="{3DA6945E-82FF-4938-90BA-A1A5F826987F}"/>
    <dgm:cxn modelId="{3CB43287-C972-41B6-B151-003442FDC772}" srcId="{24205BBA-A50A-445B-96FA-C30D95F93673}" destId="{63F1ACB1-4CB1-4F7A-8CAB-60471AA85C8B}" srcOrd="0" destOrd="0" parTransId="{CA1E4646-756E-4918-944E-68DD19B3AED8}" sibTransId="{356D097C-59B2-43FE-ADC1-5C388719D5F1}"/>
    <dgm:cxn modelId="{AE7057A9-E568-451E-A088-064CFD570AE4}" type="presOf" srcId="{B9C16885-9648-435D-9CE8-8960E4157F4C}" destId="{A04A8395-48BC-4E40-96D0-C6D760896BE2}" srcOrd="0" destOrd="0" presId="urn:microsoft.com/office/officeart/2018/2/layout/IconLabelDescriptionList"/>
    <dgm:cxn modelId="{8160EFB1-BA26-46F2-80FC-8165E3939E70}" srcId="{F8099940-360F-4014-8422-31596211BE43}" destId="{C067F26A-BA7B-479E-A674-03951A830CC1}" srcOrd="1" destOrd="0" parTransId="{38C2366A-35DC-4182-9B38-C8F06338245F}" sibTransId="{E996DF57-2ED2-4859-8245-22F52CD125E3}"/>
    <dgm:cxn modelId="{4551C8D3-9F7D-465D-8861-2D6BEE36E3AA}" type="presOf" srcId="{63F1ACB1-4CB1-4F7A-8CAB-60471AA85C8B}" destId="{5733F57F-6A5E-4F11-BB8C-176B6A8A8458}" srcOrd="0" destOrd="0" presId="urn:microsoft.com/office/officeart/2018/2/layout/IconLabelDescriptionList"/>
    <dgm:cxn modelId="{9D4BB3E3-FBB4-435D-A703-1CA73C6BC385}" type="presOf" srcId="{A02EA427-2E82-47C0-B9C7-D1C462A11F82}" destId="{2B38742F-D5C7-4AFD-8F63-B18726D211E7}" srcOrd="0" destOrd="0" presId="urn:microsoft.com/office/officeart/2018/2/layout/IconLabelDescriptionList"/>
    <dgm:cxn modelId="{1EFFD6EB-8E14-471A-891B-3BE50B5B8F25}" type="presOf" srcId="{C067F26A-BA7B-479E-A674-03951A830CC1}" destId="{A04A8395-48BC-4E40-96D0-C6D760896BE2}" srcOrd="0" destOrd="1" presId="urn:microsoft.com/office/officeart/2018/2/layout/IconLabelDescriptionList"/>
    <dgm:cxn modelId="{69B0FEEF-BE6D-4630-AD74-7BE5107131C6}" srcId="{63F1ACB1-4CB1-4F7A-8CAB-60471AA85C8B}" destId="{5942D886-291D-4270-92EC-D55684D8AB0C}" srcOrd="1" destOrd="0" parTransId="{CD12ADBE-5B6D-47C4-AE4E-EFD70A3296F6}" sibTransId="{26BDCFAB-7511-4D5B-8501-E7682E913B7D}"/>
    <dgm:cxn modelId="{53C34FFC-7199-434E-80EB-6031035AC9ED}" srcId="{F8099940-360F-4014-8422-31596211BE43}" destId="{B9C16885-9648-435D-9CE8-8960E4157F4C}" srcOrd="0" destOrd="0" parTransId="{53D2DE3B-685D-4923-82CA-8D24B83F627B}" sibTransId="{0BEAD4B2-729F-4CB1-B133-3A44972F47DC}"/>
    <dgm:cxn modelId="{BA200DC6-8B36-4EBE-A7F4-9F3D206E3AF3}" type="presParOf" srcId="{3883F747-3E6F-44AF-BFB1-7743480ED2FD}" destId="{B9716380-C9A4-42EA-8FD0-69D590C4DA42}" srcOrd="0" destOrd="0" presId="urn:microsoft.com/office/officeart/2018/2/layout/IconLabelDescriptionList"/>
    <dgm:cxn modelId="{FFBEBF9E-C013-4B61-91A0-FCDC4E2C79DD}" type="presParOf" srcId="{B9716380-C9A4-42EA-8FD0-69D590C4DA42}" destId="{C53EB0BE-7417-4B5F-809C-A822C9A58F33}" srcOrd="0" destOrd="0" presId="urn:microsoft.com/office/officeart/2018/2/layout/IconLabelDescriptionList"/>
    <dgm:cxn modelId="{51EA2C4B-32E0-4677-9F3B-F2F712D15D31}" type="presParOf" srcId="{B9716380-C9A4-42EA-8FD0-69D590C4DA42}" destId="{39B9A77C-46AD-418B-AE77-8905A1A13886}" srcOrd="1" destOrd="0" presId="urn:microsoft.com/office/officeart/2018/2/layout/IconLabelDescriptionList"/>
    <dgm:cxn modelId="{531ACFBE-27F7-4CB2-8549-3B84B7E7F572}" type="presParOf" srcId="{B9716380-C9A4-42EA-8FD0-69D590C4DA42}" destId="{5733F57F-6A5E-4F11-BB8C-176B6A8A8458}" srcOrd="2" destOrd="0" presId="urn:microsoft.com/office/officeart/2018/2/layout/IconLabelDescriptionList"/>
    <dgm:cxn modelId="{054B6CBC-4DB5-4461-BA9B-291671111AE3}" type="presParOf" srcId="{B9716380-C9A4-42EA-8FD0-69D590C4DA42}" destId="{193DA878-81C2-49E1-AE25-C911D8456AEB}" srcOrd="3" destOrd="0" presId="urn:microsoft.com/office/officeart/2018/2/layout/IconLabelDescriptionList"/>
    <dgm:cxn modelId="{6D574F21-CDA6-4B26-8D45-F8EC5A2BA32E}" type="presParOf" srcId="{B9716380-C9A4-42EA-8FD0-69D590C4DA42}" destId="{2B38742F-D5C7-4AFD-8F63-B18726D211E7}" srcOrd="4" destOrd="0" presId="urn:microsoft.com/office/officeart/2018/2/layout/IconLabelDescriptionList"/>
    <dgm:cxn modelId="{FBC0D767-C4D8-4BBE-86C5-AC7A49A77753}" type="presParOf" srcId="{3883F747-3E6F-44AF-BFB1-7743480ED2FD}" destId="{B1607388-3A5D-4EF3-8C0A-94AAC01FC800}" srcOrd="1" destOrd="0" presId="urn:microsoft.com/office/officeart/2018/2/layout/IconLabelDescriptionList"/>
    <dgm:cxn modelId="{ACB9DA90-9F3E-4BD1-BE2A-8B24A9ABE089}" type="presParOf" srcId="{3883F747-3E6F-44AF-BFB1-7743480ED2FD}" destId="{E037FE03-AA0F-4C42-B5F6-5BD3ED396D5A}" srcOrd="2" destOrd="0" presId="urn:microsoft.com/office/officeart/2018/2/layout/IconLabelDescriptionList"/>
    <dgm:cxn modelId="{9244D49F-D120-4F41-9F78-FD768FAE449D}" type="presParOf" srcId="{E037FE03-AA0F-4C42-B5F6-5BD3ED396D5A}" destId="{26DF1D00-C773-4546-99FC-DBD8680CFB8F}" srcOrd="0" destOrd="0" presId="urn:microsoft.com/office/officeart/2018/2/layout/IconLabelDescriptionList"/>
    <dgm:cxn modelId="{75D9405B-209C-466D-9401-150D86B47BEF}" type="presParOf" srcId="{E037FE03-AA0F-4C42-B5F6-5BD3ED396D5A}" destId="{F06A9B01-74BC-4BFF-B89B-9075C051F031}" srcOrd="1" destOrd="0" presId="urn:microsoft.com/office/officeart/2018/2/layout/IconLabelDescriptionList"/>
    <dgm:cxn modelId="{0E2F2462-7F8F-4487-BE99-681F5DCF7182}" type="presParOf" srcId="{E037FE03-AA0F-4C42-B5F6-5BD3ED396D5A}" destId="{AA4F65D3-79A7-47A9-9ABA-D2940E6CB3E0}" srcOrd="2" destOrd="0" presId="urn:microsoft.com/office/officeart/2018/2/layout/IconLabelDescriptionList"/>
    <dgm:cxn modelId="{FC8B9CFC-76FB-42D1-A4FD-02A72613F383}" type="presParOf" srcId="{E037FE03-AA0F-4C42-B5F6-5BD3ED396D5A}" destId="{3A178CD7-BF31-4273-83B9-F2601D9BD7A0}" srcOrd="3" destOrd="0" presId="urn:microsoft.com/office/officeart/2018/2/layout/IconLabelDescriptionList"/>
    <dgm:cxn modelId="{25AEC6D5-B176-49FD-A039-C70B74E34D06}" type="presParOf" srcId="{E037FE03-AA0F-4C42-B5F6-5BD3ED396D5A}" destId="{A04A8395-48BC-4E40-96D0-C6D760896BE2}"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680C1-EFAB-48F3-94A8-94400796EE7A}">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C264B9-A7D5-470B-8EB7-984511520F49}">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Shift from Excel → Python</a:t>
          </a:r>
        </a:p>
      </dsp:txBody>
      <dsp:txXfrm>
        <a:off x="398656" y="1088253"/>
        <a:ext cx="2959127" cy="1837317"/>
      </dsp:txXfrm>
    </dsp:sp>
    <dsp:sp modelId="{CD730BF8-F696-4339-A17F-693C7318881E}">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99CC1F-A261-4BD4-B6D4-1380608CE3DD}">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Industry demand (employers, </a:t>
          </a:r>
          <a:r>
            <a:rPr lang="en-US" sz="2900" kern="1200" dirty="0" err="1"/>
            <a:t>IFoA</a:t>
          </a:r>
          <a:r>
            <a:rPr lang="en-US" sz="2900" kern="1200" dirty="0"/>
            <a:t>, SOA, CAS)</a:t>
          </a:r>
        </a:p>
      </dsp:txBody>
      <dsp:txXfrm>
        <a:off x="4155097" y="1088253"/>
        <a:ext cx="2959127" cy="1837317"/>
      </dsp:txXfrm>
    </dsp:sp>
    <dsp:sp modelId="{F87943C6-6B24-4017-AC90-C50B15E03ED9}">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967EBE-F58B-492D-894B-2A10CADEABEF}">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Benefits for teaching and research</a:t>
          </a:r>
        </a:p>
      </dsp:txBody>
      <dsp:txXfrm>
        <a:off x="7911539" y="1088253"/>
        <a:ext cx="2959127" cy="18373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7A878-01EA-4120-840A-3D565B62D415}">
      <dsp:nvSpPr>
        <dsp:cNvPr id="0" name=""/>
        <dsp:cNvSpPr/>
      </dsp:nvSpPr>
      <dsp:spPr>
        <a:xfrm>
          <a:off x="0" y="547"/>
          <a:ext cx="10515600" cy="12809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7773F2-CB92-4057-A4B3-4FAAE372018D}">
      <dsp:nvSpPr>
        <dsp:cNvPr id="0" name=""/>
        <dsp:cNvSpPr/>
      </dsp:nvSpPr>
      <dsp:spPr>
        <a:xfrm>
          <a:off x="387481" y="288756"/>
          <a:ext cx="704511" cy="7045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A14633-4DBC-4382-8163-E27DFB93DF89}">
      <dsp:nvSpPr>
        <dsp:cNvPr id="0" name=""/>
        <dsp:cNvSpPr/>
      </dsp:nvSpPr>
      <dsp:spPr>
        <a:xfrm>
          <a:off x="1479474" y="547"/>
          <a:ext cx="4732020" cy="128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565" tIns="135565" rIns="135565" bIns="135565" numCol="1" spcCol="1270" anchor="ctr" anchorCtr="0">
          <a:noAutofit/>
        </a:bodyPr>
        <a:lstStyle/>
        <a:p>
          <a:pPr marL="0" lvl="0" indent="0" algn="l" defTabSz="1111250">
            <a:lnSpc>
              <a:spcPct val="100000"/>
            </a:lnSpc>
            <a:spcBef>
              <a:spcPct val="0"/>
            </a:spcBef>
            <a:spcAft>
              <a:spcPct val="35000"/>
            </a:spcAft>
            <a:buNone/>
          </a:pPr>
          <a:r>
            <a:rPr lang="en-US" sz="2500" kern="1200"/>
            <a:t>Working with DataFrames (Pandas)</a:t>
          </a:r>
        </a:p>
      </dsp:txBody>
      <dsp:txXfrm>
        <a:off x="1479474" y="547"/>
        <a:ext cx="4732020" cy="1280930"/>
      </dsp:txXfrm>
    </dsp:sp>
    <dsp:sp modelId="{745C482C-625A-483E-A159-BA646E92F385}">
      <dsp:nvSpPr>
        <dsp:cNvPr id="0" name=""/>
        <dsp:cNvSpPr/>
      </dsp:nvSpPr>
      <dsp:spPr>
        <a:xfrm>
          <a:off x="6211494" y="547"/>
          <a:ext cx="4304105" cy="128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565" tIns="135565" rIns="135565" bIns="135565" numCol="1" spcCol="1270" anchor="ctr" anchorCtr="0">
          <a:noAutofit/>
        </a:bodyPr>
        <a:lstStyle/>
        <a:p>
          <a:pPr marL="0" lvl="0" indent="0" algn="l" defTabSz="800100">
            <a:lnSpc>
              <a:spcPct val="100000"/>
            </a:lnSpc>
            <a:spcBef>
              <a:spcPct val="0"/>
            </a:spcBef>
            <a:spcAft>
              <a:spcPct val="35000"/>
            </a:spcAft>
            <a:buNone/>
          </a:pPr>
          <a:r>
            <a:rPr lang="en-US" sz="1800" kern="1200"/>
            <a:t>Filtering, grouping, summarizing</a:t>
          </a:r>
        </a:p>
        <a:p>
          <a:pPr marL="0" lvl="0" indent="0" algn="l" defTabSz="800100">
            <a:lnSpc>
              <a:spcPct val="100000"/>
            </a:lnSpc>
            <a:spcBef>
              <a:spcPct val="0"/>
            </a:spcBef>
            <a:spcAft>
              <a:spcPct val="35000"/>
            </a:spcAft>
            <a:buNone/>
          </a:pPr>
          <a:r>
            <a:rPr lang="en-US" sz="1800" kern="1200"/>
            <a:t>Example: Claim frequency by age group</a:t>
          </a:r>
        </a:p>
      </dsp:txBody>
      <dsp:txXfrm>
        <a:off x="6211494" y="547"/>
        <a:ext cx="4304105" cy="1280930"/>
      </dsp:txXfrm>
    </dsp:sp>
    <dsp:sp modelId="{FFC93538-BFBE-4E71-A20B-049F4E9A5110}">
      <dsp:nvSpPr>
        <dsp:cNvPr id="0" name=""/>
        <dsp:cNvSpPr/>
      </dsp:nvSpPr>
      <dsp:spPr>
        <a:xfrm>
          <a:off x="0" y="1601709"/>
          <a:ext cx="10515600" cy="12809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6C13D3-E137-42A4-A66C-5459A381A501}">
      <dsp:nvSpPr>
        <dsp:cNvPr id="0" name=""/>
        <dsp:cNvSpPr/>
      </dsp:nvSpPr>
      <dsp:spPr>
        <a:xfrm>
          <a:off x="387481" y="1889919"/>
          <a:ext cx="704511" cy="7045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D590E4-0D17-4EE0-AED0-4CC67610AE4A}">
      <dsp:nvSpPr>
        <dsp:cNvPr id="0" name=""/>
        <dsp:cNvSpPr/>
      </dsp:nvSpPr>
      <dsp:spPr>
        <a:xfrm>
          <a:off x="1479474" y="1601709"/>
          <a:ext cx="4732020" cy="128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565" tIns="135565" rIns="135565" bIns="135565" numCol="1" spcCol="1270" anchor="ctr" anchorCtr="0">
          <a:noAutofit/>
        </a:bodyPr>
        <a:lstStyle/>
        <a:p>
          <a:pPr marL="0" lvl="0" indent="0" algn="l" defTabSz="1111250">
            <a:lnSpc>
              <a:spcPct val="100000"/>
            </a:lnSpc>
            <a:spcBef>
              <a:spcPct val="0"/>
            </a:spcBef>
            <a:spcAft>
              <a:spcPct val="35000"/>
            </a:spcAft>
            <a:buNone/>
          </a:pPr>
          <a:r>
            <a:rPr lang="en-US" sz="2500" kern="1200"/>
            <a:t>Mathematical &amp; Statistical Functions</a:t>
          </a:r>
        </a:p>
      </dsp:txBody>
      <dsp:txXfrm>
        <a:off x="1479474" y="1601709"/>
        <a:ext cx="4732020" cy="1280930"/>
      </dsp:txXfrm>
    </dsp:sp>
    <dsp:sp modelId="{17A300BF-F48B-4D85-AD35-03E9C933833B}">
      <dsp:nvSpPr>
        <dsp:cNvPr id="0" name=""/>
        <dsp:cNvSpPr/>
      </dsp:nvSpPr>
      <dsp:spPr>
        <a:xfrm>
          <a:off x="6211494" y="1601709"/>
          <a:ext cx="4304105" cy="128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565" tIns="135565" rIns="135565" bIns="135565" numCol="1" spcCol="1270" anchor="ctr" anchorCtr="0">
          <a:noAutofit/>
        </a:bodyPr>
        <a:lstStyle/>
        <a:p>
          <a:pPr marL="0" lvl="0" indent="0" algn="l" defTabSz="800100">
            <a:lnSpc>
              <a:spcPct val="100000"/>
            </a:lnSpc>
            <a:spcBef>
              <a:spcPct val="0"/>
            </a:spcBef>
            <a:spcAft>
              <a:spcPct val="35000"/>
            </a:spcAft>
            <a:buNone/>
          </a:pPr>
          <a:r>
            <a:rPr lang="en-US" sz="1800" kern="1200"/>
            <a:t>NumPy, SciPy basics</a:t>
          </a:r>
        </a:p>
        <a:p>
          <a:pPr marL="0" lvl="0" indent="0" algn="l" defTabSz="800100">
            <a:lnSpc>
              <a:spcPct val="100000"/>
            </a:lnSpc>
            <a:spcBef>
              <a:spcPct val="0"/>
            </a:spcBef>
            <a:spcAft>
              <a:spcPct val="35000"/>
            </a:spcAft>
            <a:buNone/>
          </a:pPr>
          <a:r>
            <a:rPr lang="en-US" sz="1800" kern="1200"/>
            <a:t>Example: Calculate expected present value (EPV)</a:t>
          </a:r>
        </a:p>
      </dsp:txBody>
      <dsp:txXfrm>
        <a:off x="6211494" y="1601709"/>
        <a:ext cx="4304105" cy="1280930"/>
      </dsp:txXfrm>
    </dsp:sp>
    <dsp:sp modelId="{B9C9BF8A-C79D-48C5-8620-7FB7AF6FDADF}">
      <dsp:nvSpPr>
        <dsp:cNvPr id="0" name=""/>
        <dsp:cNvSpPr/>
      </dsp:nvSpPr>
      <dsp:spPr>
        <a:xfrm>
          <a:off x="0" y="3202872"/>
          <a:ext cx="10515600" cy="12809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6C2D85-ED0E-4FBA-B9CB-4E65503EF9B1}">
      <dsp:nvSpPr>
        <dsp:cNvPr id="0" name=""/>
        <dsp:cNvSpPr/>
      </dsp:nvSpPr>
      <dsp:spPr>
        <a:xfrm>
          <a:off x="387481" y="3491081"/>
          <a:ext cx="704511" cy="7045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7F72DE-823A-4458-8C64-DD7C60371ECB}">
      <dsp:nvSpPr>
        <dsp:cNvPr id="0" name=""/>
        <dsp:cNvSpPr/>
      </dsp:nvSpPr>
      <dsp:spPr>
        <a:xfrm>
          <a:off x="1479474" y="3202872"/>
          <a:ext cx="4732020" cy="128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565" tIns="135565" rIns="135565" bIns="135565" numCol="1" spcCol="1270" anchor="ctr" anchorCtr="0">
          <a:noAutofit/>
        </a:bodyPr>
        <a:lstStyle/>
        <a:p>
          <a:pPr marL="0" lvl="0" indent="0" algn="l" defTabSz="1111250">
            <a:lnSpc>
              <a:spcPct val="100000"/>
            </a:lnSpc>
            <a:spcBef>
              <a:spcPct val="0"/>
            </a:spcBef>
            <a:spcAft>
              <a:spcPct val="35000"/>
            </a:spcAft>
            <a:buNone/>
          </a:pPr>
          <a:r>
            <a:rPr lang="en-US" sz="2500" kern="1200"/>
            <a:t>Visualization</a:t>
          </a:r>
        </a:p>
      </dsp:txBody>
      <dsp:txXfrm>
        <a:off x="1479474" y="3202872"/>
        <a:ext cx="4732020" cy="1280930"/>
      </dsp:txXfrm>
    </dsp:sp>
    <dsp:sp modelId="{5481B552-C08E-4174-87D5-57B23CC20E0E}">
      <dsp:nvSpPr>
        <dsp:cNvPr id="0" name=""/>
        <dsp:cNvSpPr/>
      </dsp:nvSpPr>
      <dsp:spPr>
        <a:xfrm>
          <a:off x="6211494" y="3202872"/>
          <a:ext cx="4304105" cy="128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565" tIns="135565" rIns="135565" bIns="135565" numCol="1" spcCol="1270" anchor="ctr" anchorCtr="0">
          <a:noAutofit/>
        </a:bodyPr>
        <a:lstStyle/>
        <a:p>
          <a:pPr marL="0" lvl="0" indent="0" algn="l" defTabSz="800100">
            <a:lnSpc>
              <a:spcPct val="100000"/>
            </a:lnSpc>
            <a:spcBef>
              <a:spcPct val="0"/>
            </a:spcBef>
            <a:spcAft>
              <a:spcPct val="35000"/>
            </a:spcAft>
            <a:buNone/>
          </a:pPr>
          <a:r>
            <a:rPr lang="en-US" sz="1800" kern="1200"/>
            <a:t>Matplotlib / Seaborn plots</a:t>
          </a:r>
        </a:p>
        <a:p>
          <a:pPr marL="0" lvl="0" indent="0" algn="l" defTabSz="800100">
            <a:lnSpc>
              <a:spcPct val="100000"/>
            </a:lnSpc>
            <a:spcBef>
              <a:spcPct val="0"/>
            </a:spcBef>
            <a:spcAft>
              <a:spcPct val="35000"/>
            </a:spcAft>
            <a:buNone/>
          </a:pPr>
          <a:r>
            <a:rPr lang="en-US" sz="1800" kern="1200"/>
            <a:t>Example: Claim severity distribution graph</a:t>
          </a:r>
        </a:p>
      </dsp:txBody>
      <dsp:txXfrm>
        <a:off x="6211494" y="3202872"/>
        <a:ext cx="4304105" cy="12809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72FDBF-429C-45D2-991C-41EB5F25FB2C}">
      <dsp:nvSpPr>
        <dsp:cNvPr id="0" name=""/>
        <dsp:cNvSpPr/>
      </dsp:nvSpPr>
      <dsp:spPr>
        <a:xfrm>
          <a:off x="559800" y="792753"/>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07256E-C919-4026-9B97-4F59E3689FC9}">
      <dsp:nvSpPr>
        <dsp:cNvPr id="0" name=""/>
        <dsp:cNvSpPr/>
      </dsp:nvSpPr>
      <dsp:spPr>
        <a:xfrm>
          <a:off x="559800" y="242940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kern="1200"/>
            <a:t>What is Python? (simple, high-level intro)</a:t>
          </a:r>
        </a:p>
      </dsp:txBody>
      <dsp:txXfrm>
        <a:off x="559800" y="2429403"/>
        <a:ext cx="4320000" cy="648000"/>
      </dsp:txXfrm>
    </dsp:sp>
    <dsp:sp modelId="{EA3843CB-EFED-491E-8D72-1B0EE83295A7}">
      <dsp:nvSpPr>
        <dsp:cNvPr id="0" name=""/>
        <dsp:cNvSpPr/>
      </dsp:nvSpPr>
      <dsp:spPr>
        <a:xfrm>
          <a:off x="559800" y="3135380"/>
          <a:ext cx="4320000" cy="556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r>
            <a:rPr lang="en-US" sz="1500" kern="1200"/>
            <a:t>Free, open-source, easy to learn</a:t>
          </a:r>
        </a:p>
        <a:p>
          <a:pPr marL="0" lvl="0" indent="0" algn="l" defTabSz="666750">
            <a:lnSpc>
              <a:spcPct val="100000"/>
            </a:lnSpc>
            <a:spcBef>
              <a:spcPct val="0"/>
            </a:spcBef>
            <a:spcAft>
              <a:spcPct val="35000"/>
            </a:spcAft>
            <a:buNone/>
          </a:pPr>
          <a:r>
            <a:rPr lang="en-US" sz="1500" kern="1200"/>
            <a:t>Widely used in actuarial + data science</a:t>
          </a:r>
        </a:p>
      </dsp:txBody>
      <dsp:txXfrm>
        <a:off x="559800" y="3135380"/>
        <a:ext cx="4320000" cy="556216"/>
      </dsp:txXfrm>
    </dsp:sp>
    <dsp:sp modelId="{FCCE1B8B-9815-4DFD-AF0F-DA4371D7E4E4}">
      <dsp:nvSpPr>
        <dsp:cNvPr id="0" name=""/>
        <dsp:cNvSpPr/>
      </dsp:nvSpPr>
      <dsp:spPr>
        <a:xfrm>
          <a:off x="5635800" y="792753"/>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E220BA-60A1-4F66-84A8-AFDF6FD917A9}">
      <dsp:nvSpPr>
        <dsp:cNvPr id="0" name=""/>
        <dsp:cNvSpPr/>
      </dsp:nvSpPr>
      <dsp:spPr>
        <a:xfrm>
          <a:off x="5635800" y="242940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kern="1200"/>
            <a:t>Setting Up the Environment</a:t>
          </a:r>
        </a:p>
      </dsp:txBody>
      <dsp:txXfrm>
        <a:off x="5635800" y="2429403"/>
        <a:ext cx="4320000" cy="648000"/>
      </dsp:txXfrm>
    </dsp:sp>
    <dsp:sp modelId="{B948CA18-95F4-4E1C-8720-8F0715DD8CA8}">
      <dsp:nvSpPr>
        <dsp:cNvPr id="0" name=""/>
        <dsp:cNvSpPr/>
      </dsp:nvSpPr>
      <dsp:spPr>
        <a:xfrm>
          <a:off x="5635800" y="3135380"/>
          <a:ext cx="4320000" cy="556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r>
            <a:rPr lang="en-US" sz="1500" kern="1200"/>
            <a:t>Jupyter Notebook / Google Colab</a:t>
          </a:r>
        </a:p>
        <a:p>
          <a:pPr marL="0" lvl="0" indent="0" algn="l" defTabSz="666750">
            <a:lnSpc>
              <a:spcPct val="100000"/>
            </a:lnSpc>
            <a:spcBef>
              <a:spcPct val="0"/>
            </a:spcBef>
            <a:spcAft>
              <a:spcPct val="35000"/>
            </a:spcAft>
            <a:buNone/>
          </a:pPr>
          <a:r>
            <a:rPr lang="en-US" sz="1500" kern="1200"/>
            <a:t>Python packages (NumPy, Pandas, Matplotlib)</a:t>
          </a:r>
        </a:p>
      </dsp:txBody>
      <dsp:txXfrm>
        <a:off x="5635800" y="3135380"/>
        <a:ext cx="4320000" cy="5562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3545F4-22D7-452B-B917-512A3FE33CED}">
      <dsp:nvSpPr>
        <dsp:cNvPr id="0" name=""/>
        <dsp:cNvSpPr/>
      </dsp:nvSpPr>
      <dsp:spPr>
        <a:xfrm>
          <a:off x="559800" y="568149"/>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F59FBD-7AFA-42C0-AC1F-559B0AFFD329}">
      <dsp:nvSpPr>
        <dsp:cNvPr id="0" name=""/>
        <dsp:cNvSpPr/>
      </dsp:nvSpPr>
      <dsp:spPr>
        <a:xfrm>
          <a:off x="559800" y="222411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US" sz="2400" kern="1200"/>
            <a:t>Python Essentials for Actuaries</a:t>
          </a:r>
        </a:p>
      </dsp:txBody>
      <dsp:txXfrm>
        <a:off x="559800" y="2224115"/>
        <a:ext cx="4320000" cy="648000"/>
      </dsp:txXfrm>
    </dsp:sp>
    <dsp:sp modelId="{DA30B193-44ED-495F-899E-41D801589123}">
      <dsp:nvSpPr>
        <dsp:cNvPr id="0" name=""/>
        <dsp:cNvSpPr/>
      </dsp:nvSpPr>
      <dsp:spPr>
        <a:xfrm>
          <a:off x="559800" y="2939076"/>
          <a:ext cx="4320000" cy="977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Variables, data types, loops, functions (with actuarial-flavored examples, e.g., mortality table loop)</a:t>
          </a:r>
        </a:p>
      </dsp:txBody>
      <dsp:txXfrm>
        <a:off x="559800" y="2939076"/>
        <a:ext cx="4320000" cy="977124"/>
      </dsp:txXfrm>
    </dsp:sp>
    <dsp:sp modelId="{2A9CC789-243D-4FA4-9A91-1BAA579E6551}">
      <dsp:nvSpPr>
        <dsp:cNvPr id="0" name=""/>
        <dsp:cNvSpPr/>
      </dsp:nvSpPr>
      <dsp:spPr>
        <a:xfrm>
          <a:off x="5635800" y="568149"/>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F733AF-91DE-4A8D-9E47-2A484815522A}">
      <dsp:nvSpPr>
        <dsp:cNvPr id="0" name=""/>
        <dsp:cNvSpPr/>
      </dsp:nvSpPr>
      <dsp:spPr>
        <a:xfrm>
          <a:off x="5635800" y="222411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US" sz="2400" kern="1200"/>
            <a:t>Data Handling</a:t>
          </a:r>
        </a:p>
      </dsp:txBody>
      <dsp:txXfrm>
        <a:off x="5635800" y="2224115"/>
        <a:ext cx="4320000" cy="648000"/>
      </dsp:txXfrm>
    </dsp:sp>
    <dsp:sp modelId="{91D49FDD-E7E7-4A41-958F-6CB0B420376A}">
      <dsp:nvSpPr>
        <dsp:cNvPr id="0" name=""/>
        <dsp:cNvSpPr/>
      </dsp:nvSpPr>
      <dsp:spPr>
        <a:xfrm>
          <a:off x="5635800" y="2939076"/>
          <a:ext cx="4320000" cy="977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Reading Excel/CSV files</a:t>
          </a:r>
        </a:p>
        <a:p>
          <a:pPr marL="0" lvl="0" indent="0" algn="l" defTabSz="755650">
            <a:lnSpc>
              <a:spcPct val="100000"/>
            </a:lnSpc>
            <a:spcBef>
              <a:spcPct val="0"/>
            </a:spcBef>
            <a:spcAft>
              <a:spcPct val="35000"/>
            </a:spcAft>
            <a:buNone/>
          </a:pPr>
          <a:r>
            <a:rPr lang="en-US" sz="1700" kern="1200"/>
            <a:t>Data cleaning (missing values, formatting)</a:t>
          </a:r>
        </a:p>
        <a:p>
          <a:pPr marL="0" lvl="0" indent="0" algn="l" defTabSz="755650">
            <a:lnSpc>
              <a:spcPct val="100000"/>
            </a:lnSpc>
            <a:spcBef>
              <a:spcPct val="0"/>
            </a:spcBef>
            <a:spcAft>
              <a:spcPct val="35000"/>
            </a:spcAft>
            <a:buNone/>
          </a:pPr>
          <a:r>
            <a:rPr lang="en-US" sz="1700" kern="1200"/>
            <a:t>Simple actuarial example: Import policy data</a:t>
          </a:r>
        </a:p>
      </dsp:txBody>
      <dsp:txXfrm>
        <a:off x="5635800" y="2939076"/>
        <a:ext cx="4320000" cy="9771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EB0BE-7417-4B5F-809C-A822C9A58F33}">
      <dsp:nvSpPr>
        <dsp:cNvPr id="0" name=""/>
        <dsp:cNvSpPr/>
      </dsp:nvSpPr>
      <dsp:spPr>
        <a:xfrm>
          <a:off x="559800" y="757281"/>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33F57F-6A5E-4F11-BB8C-176B6A8A8458}">
      <dsp:nvSpPr>
        <dsp:cNvPr id="0" name=""/>
        <dsp:cNvSpPr/>
      </dsp:nvSpPr>
      <dsp:spPr>
        <a:xfrm>
          <a:off x="559800" y="239698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a:t>Automation</a:t>
          </a:r>
        </a:p>
      </dsp:txBody>
      <dsp:txXfrm>
        <a:off x="559800" y="2396982"/>
        <a:ext cx="4320000" cy="648000"/>
      </dsp:txXfrm>
    </dsp:sp>
    <dsp:sp modelId="{2B38742F-D5C7-4AFD-8F63-B18726D211E7}">
      <dsp:nvSpPr>
        <dsp:cNvPr id="0" name=""/>
        <dsp:cNvSpPr/>
      </dsp:nvSpPr>
      <dsp:spPr>
        <a:xfrm>
          <a:off x="559800" y="3104378"/>
          <a:ext cx="4320000" cy="622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Generating reports automatically</a:t>
          </a:r>
        </a:p>
        <a:p>
          <a:pPr marL="0" lvl="0" indent="0" algn="l" defTabSz="755650">
            <a:lnSpc>
              <a:spcPct val="100000"/>
            </a:lnSpc>
            <a:spcBef>
              <a:spcPct val="0"/>
            </a:spcBef>
            <a:spcAft>
              <a:spcPct val="35000"/>
            </a:spcAft>
            <a:buNone/>
          </a:pPr>
          <a:r>
            <a:rPr lang="en-US" sz="1700" kern="1200"/>
            <a:t>Example: Quarterly reserving tables</a:t>
          </a:r>
        </a:p>
      </dsp:txBody>
      <dsp:txXfrm>
        <a:off x="559800" y="3104378"/>
        <a:ext cx="4320000" cy="622690"/>
      </dsp:txXfrm>
    </dsp:sp>
    <dsp:sp modelId="{26DF1D00-C773-4546-99FC-DBD8680CFB8F}">
      <dsp:nvSpPr>
        <dsp:cNvPr id="0" name=""/>
        <dsp:cNvSpPr/>
      </dsp:nvSpPr>
      <dsp:spPr>
        <a:xfrm>
          <a:off x="5635800" y="757281"/>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4F65D3-79A7-47A9-9ABA-D2940E6CB3E0}">
      <dsp:nvSpPr>
        <dsp:cNvPr id="0" name=""/>
        <dsp:cNvSpPr/>
      </dsp:nvSpPr>
      <dsp:spPr>
        <a:xfrm>
          <a:off x="5635800" y="239698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a:t>Predictive Modelling</a:t>
          </a:r>
        </a:p>
      </dsp:txBody>
      <dsp:txXfrm>
        <a:off x="5635800" y="2396982"/>
        <a:ext cx="4320000" cy="648000"/>
      </dsp:txXfrm>
    </dsp:sp>
    <dsp:sp modelId="{A04A8395-48BC-4E40-96D0-C6D760896BE2}">
      <dsp:nvSpPr>
        <dsp:cNvPr id="0" name=""/>
        <dsp:cNvSpPr/>
      </dsp:nvSpPr>
      <dsp:spPr>
        <a:xfrm>
          <a:off x="5635800" y="3104378"/>
          <a:ext cx="4320000" cy="622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Logistic regression, survival analysis</a:t>
          </a:r>
        </a:p>
        <a:p>
          <a:pPr marL="0" lvl="0" indent="0" algn="l" defTabSz="755650">
            <a:lnSpc>
              <a:spcPct val="100000"/>
            </a:lnSpc>
            <a:spcBef>
              <a:spcPct val="0"/>
            </a:spcBef>
            <a:spcAft>
              <a:spcPct val="35000"/>
            </a:spcAft>
            <a:buNone/>
          </a:pPr>
          <a:r>
            <a:rPr lang="en-US" sz="1700" kern="1200"/>
            <a:t>Example: Lapse probability model</a:t>
          </a:r>
        </a:p>
      </dsp:txBody>
      <dsp:txXfrm>
        <a:off x="5635800" y="3104378"/>
        <a:ext cx="4320000" cy="62269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87E9ED-FAFB-438A-8FBC-78BC5F57B1C8}" type="datetimeFigureOut">
              <a:rPr lang="en-US" smtClean="0"/>
              <a:t>9/3/26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1BD5E3-E8CB-4900-81BC-B2CBA7485AC0}" type="slidenum">
              <a:rPr lang="en-US" smtClean="0"/>
              <a:t>‹#›</a:t>
            </a:fld>
            <a:endParaRPr lang="en-US"/>
          </a:p>
        </p:txBody>
      </p:sp>
    </p:spTree>
    <p:extLst>
      <p:ext uri="{BB962C8B-B14F-4D97-AF65-F5344CB8AC3E}">
        <p14:creationId xmlns:p14="http://schemas.microsoft.com/office/powerpoint/2010/main" val="2670126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This is a two-hour, hands-on session. About a third of the time is me talking; the rest is you running code in Google Colab.</a:t>
            </a:r>
          </a:p>
          <a:p>
            <a:r>
              <a:t>Before we start: please make sure you can open colab.research.google.com in your browser and that you have downloaded the three notebooks and the CSV file. If anyone cannot, please raise a hand now rather than at minute 40.</a:t>
            </a:r>
          </a:p>
          <a:p>
            <a:r>
              <a:t>The aim is modest and specific: by the end you will have loaded a dataset, produced a claim-frequency table and a chart, and built a small AI agent that answers questions about that dataset. Nothing here needs prior programming.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 introductions. Keep this under a minute. Mention that both of us use Python daily in actuarial and teaching work, so every example today is drawn from things we actually do.</a:t>
            </a:r>
          </a:p>
          <a:p>
            <a:r>
              <a:t>(Update the names, titles and photographs here if the 2026 line-up differs from 2025.)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 minute.</a:t>
            </a:r>
          </a:p>
          <a:p>
            <a:r>
              <a:t>Walk through the table once. The point to land: this is mostly a doing session, and the three notebooks are cumulative - Notebook 3 uses the same dataset and the same functions as Notebook 2.</a:t>
            </a:r>
          </a:p>
          <a:p>
            <a:r>
              <a:t>Tell people that if they fall behind in a notebook, that is fine: every notebook is self-contained and they can run the remaining cells later at home.</a:t>
            </a:r>
          </a:p>
          <a:p>
            <a:r>
              <a:t>Keep the break honest - five minutes, at the 85-minute mark, before the agent segment, because that segment needs everyone to set up an API key.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about 4 minutes. Pick two of the five points below rather than reading all of them.</a:t>
            </a:r>
          </a:p>
          <a:p>
            <a:endParaRPr dirty="0"/>
          </a:p>
          <a:p>
            <a:r>
              <a:rPr dirty="0"/>
              <a:t>1. Keeps Your Teaching Relevant</a:t>
            </a:r>
          </a:p>
          <a:p>
            <a:r>
              <a:rPr dirty="0"/>
              <a:t>If you bring Python into class: You’re teaching with the same tools used by actuaries in companies. Students see direct value in what you teach.</a:t>
            </a:r>
          </a:p>
          <a:p>
            <a:r>
              <a:rPr dirty="0"/>
              <a:t>If you don’t: Students may feel they have to “relearn” everything later at work or through online courses, which makes your classes look a bit outdated.</a:t>
            </a:r>
          </a:p>
          <a:p>
            <a:r>
              <a:rPr dirty="0"/>
              <a:t>2. Makes Classes More Engaging</a:t>
            </a:r>
          </a:p>
          <a:p>
            <a:r>
              <a:rPr dirty="0"/>
              <a:t>With Python: Imagine showing students a real dataset — say mortality rates or claim histories — and running a quick simulation live in class. Students light up when they see theory in action.</a:t>
            </a:r>
          </a:p>
          <a:p>
            <a:r>
              <a:rPr dirty="0"/>
              <a:t>Without Python: Lessons can feel abstract, stuck in formulas and static Excel sheets. Students start wondering, “But how does this work in the real world?”</a:t>
            </a:r>
          </a:p>
          <a:p>
            <a:r>
              <a:rPr dirty="0"/>
              <a:t>3. Saves Teachers Time</a:t>
            </a:r>
          </a:p>
          <a:p>
            <a:r>
              <a:rPr dirty="0"/>
              <a:t>With Python: You can automate grading small assignments, re-use simulations year after year, or demonstrate complex topics (like Monte Carlo or GLMs) in minutes.</a:t>
            </a:r>
          </a:p>
          <a:p>
            <a:r>
              <a:rPr dirty="0"/>
              <a:t>Without Python: Every example needs manual effort — building new spreadsheets, slides, or long explanations that eat up your prep time.</a:t>
            </a:r>
          </a:p>
          <a:p>
            <a:r>
              <a:rPr dirty="0"/>
              <a:t>4. Boosts Student Careers (and Your Reputation)</a:t>
            </a:r>
          </a:p>
          <a:p>
            <a:r>
              <a:rPr dirty="0"/>
              <a:t>With Python: Your students get jobs faster and give credit to you for teaching them practical skills. This enhances your standing as a teacher who “gets it.”</a:t>
            </a:r>
          </a:p>
          <a:p>
            <a:r>
              <a:rPr dirty="0"/>
              <a:t>Without Python: Students may still succeed, but often after re-skilling outside. They remember the online course that helped them more than your class.</a:t>
            </a:r>
          </a:p>
          <a:p>
            <a:r>
              <a:rPr dirty="0"/>
              <a:t>5. Keeps You Future-Proof</a:t>
            </a:r>
          </a:p>
          <a:p>
            <a:r>
              <a:rPr dirty="0"/>
              <a:t>With Python: You stay aligned with global actuarial bodies (SOA, </a:t>
            </a:r>
            <a:r>
              <a:rPr dirty="0" err="1"/>
              <a:t>IFoA</a:t>
            </a:r>
            <a:r>
              <a:rPr dirty="0"/>
              <a:t>, CAS), all of which now emphasize data science and coding.</a:t>
            </a:r>
          </a:p>
          <a:p>
            <a:r>
              <a:rPr dirty="0"/>
              <a:t>Without Python: There’s a risk of your curriculum being viewed as “traditional but outdated.”</a:t>
            </a:r>
          </a:p>
          <a:p>
            <a:r>
              <a:rPr dirty="0"/>
              <a:t>🌟 In Simple Words</a:t>
            </a:r>
          </a:p>
          <a:p>
            <a:r>
              <a:rPr dirty="0"/>
              <a:t>Python is not about replacing what you already teach. It’s about making actuarial science come alive in the classroom, preparing students for the real world, and saving yourself effort along the way.</a:t>
            </a:r>
          </a:p>
          <a:p>
            <a:endParaRPr dirty="0"/>
          </a:p>
        </p:txBody>
      </p:sp>
      <p:sp>
        <p:nvSpPr>
          <p:cNvPr id="4" name="Slide Number Placeholder 3"/>
          <p:cNvSpPr>
            <a:spLocks noGrp="1"/>
          </p:cNvSpPr>
          <p:nvPr>
            <p:ph type="sldNum" sz="quarter" idx="5"/>
          </p:nvPr>
        </p:nvSpPr>
        <p:spPr/>
        <p:txBody>
          <a:bodyPr/>
          <a:lstStyle/>
          <a:p>
            <a:fld id="{731BD5E3-E8CB-4900-81BC-B2CBA7485AC0}" type="slidenum">
              <a:rPr lang="en-US" smtClean="0"/>
              <a:t>4</a:t>
            </a:fld>
            <a:endParaRPr lang="en-US"/>
          </a:p>
        </p:txBody>
      </p:sp>
    </p:spTree>
    <p:extLst>
      <p:ext uri="{BB962C8B-B14F-4D97-AF65-F5344CB8AC3E}">
        <p14:creationId xmlns:p14="http://schemas.microsoft.com/office/powerpoint/2010/main" val="649889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about 3 minutes. The seven points are on the slide; talk to two or three of them and let the rest sit. The line at the bottom is the one to leave them with.</a:t>
            </a:r>
          </a:p>
          <a:p>
            <a:endParaRPr dirty="0"/>
          </a:p>
          <a:p>
            <a:r>
              <a:rPr dirty="0"/>
              <a:t>1. Working with Big Data</a:t>
            </a:r>
          </a:p>
          <a:p>
            <a:r>
              <a:rPr dirty="0"/>
              <a:t>Insurance companies deal with millions of claims, policies, and transactions.</a:t>
            </a:r>
          </a:p>
          <a:p>
            <a:r>
              <a:rPr dirty="0"/>
              <a:t>✅ If you know Python: You can clean, process, and analyze data in minutes using libraries like Pandas. Imagine detecting fraud patterns across millions of health claims in a single afternoon.</a:t>
            </a:r>
          </a:p>
          <a:p>
            <a:r>
              <a:rPr dirty="0"/>
              <a:t>❌ If you don’t: You’ll be stuck with Excel crashing when you try to open a file with half a million rows.</a:t>
            </a:r>
          </a:p>
          <a:p>
            <a:r>
              <a:rPr dirty="0"/>
              <a:t>2. Predicting the Future (Literally!)</a:t>
            </a:r>
          </a:p>
          <a:p>
            <a:r>
              <a:rPr dirty="0"/>
              <a:t>Actuaries forecast risks — and Python is perfect for machine learning and predictive models.</a:t>
            </a:r>
          </a:p>
          <a:p>
            <a:r>
              <a:rPr dirty="0"/>
              <a:t>✅ If you know Python: You can build models that predict who is likely to cancel a policy or which customers are higher risk. That’s the kind of stuff companies love.</a:t>
            </a:r>
          </a:p>
          <a:p>
            <a:r>
              <a:rPr dirty="0"/>
              <a:t>❌ If you don’t: You risk being seen as “old-school,” while data scientists step in to do the exciting projects.</a:t>
            </a:r>
          </a:p>
          <a:p>
            <a:r>
              <a:rPr dirty="0"/>
              <a:t>3. Saving Time with Automation</a:t>
            </a:r>
          </a:p>
          <a:p>
            <a:r>
              <a:rPr dirty="0"/>
              <a:t>A lot of actuarial work is repetitive — reserve calculations, reports, compliance filings.</a:t>
            </a:r>
          </a:p>
          <a:p>
            <a:r>
              <a:rPr dirty="0"/>
              <a:t>✅ If you know Python: Write one script, and boom — quarterly reports generate automatically. More time for analysis and coffee ☕.</a:t>
            </a:r>
          </a:p>
          <a:p>
            <a:r>
              <a:rPr dirty="0"/>
              <a:t>❌ If you don’t: You’ll spend nights copy-pasting numbers, double-checking formulas, and hoping you didn’t miss a zero.</a:t>
            </a:r>
          </a:p>
          <a:p>
            <a:r>
              <a:rPr dirty="0"/>
              <a:t>4. Standing Out in Job Interviews</a:t>
            </a:r>
          </a:p>
          <a:p>
            <a:r>
              <a:rPr dirty="0"/>
              <a:t>Employers today want actuaries who can code, and Python is the most asked for.</a:t>
            </a:r>
          </a:p>
          <a:p>
            <a:r>
              <a:rPr dirty="0"/>
              <a:t>✅ If you know Python: You can walk into an interview and show a mini-project — maybe a claims reserving dashboard you built. Instant brownie points.</a:t>
            </a:r>
          </a:p>
          <a:p>
            <a:r>
              <a:rPr dirty="0"/>
              <a:t>❌ If you don’t: You might still get a job, but your growth could be slower, because companies prefer people who can do both — actuarial + coding.</a:t>
            </a:r>
          </a:p>
          <a:p>
            <a:r>
              <a:rPr dirty="0"/>
              <a:t>5. Connecting with Other Tools</a:t>
            </a:r>
          </a:p>
          <a:p>
            <a:r>
              <a:rPr dirty="0"/>
              <a:t>Python plays well with Excel, SQL, and even actuarial software like Prophet.</a:t>
            </a:r>
          </a:p>
          <a:p>
            <a:r>
              <a:rPr dirty="0"/>
              <a:t>✅ If you know Python: You can pull data from a database, clean it, and create an Excel dashboard — all in one go.</a:t>
            </a:r>
          </a:p>
          <a:p>
            <a:r>
              <a:rPr dirty="0"/>
              <a:t>❌ If you don’t: You’ll depend on IT or data teams for every little task, slowing you down.</a:t>
            </a:r>
          </a:p>
          <a:p>
            <a:r>
              <a:rPr dirty="0"/>
              <a:t>6. Keeping Up with the Profession</a:t>
            </a:r>
          </a:p>
          <a:p>
            <a:r>
              <a:rPr dirty="0"/>
              <a:t>Globally, actuarial bodies (SOA, </a:t>
            </a:r>
            <a:r>
              <a:rPr dirty="0" err="1"/>
              <a:t>IFoA</a:t>
            </a:r>
            <a:r>
              <a:rPr dirty="0"/>
              <a:t>, CAS) are encouraging Python.</a:t>
            </a:r>
          </a:p>
          <a:p>
            <a:r>
              <a:rPr dirty="0"/>
              <a:t>✅ If you know Python: You’ll be ready for case studies, research, and even overseas roles.</a:t>
            </a:r>
          </a:p>
          <a:p>
            <a:r>
              <a:rPr dirty="0"/>
              <a:t>❌ If you don’t: You might feel left behind when exams or projects expect you to code.</a:t>
            </a:r>
          </a:p>
          <a:p>
            <a:r>
              <a:rPr dirty="0"/>
              <a:t>7. Room for Innovation</a:t>
            </a:r>
          </a:p>
          <a:p>
            <a:r>
              <a:rPr dirty="0"/>
              <a:t>Python is free, open-source, and has endless libraries.</a:t>
            </a:r>
          </a:p>
          <a:p>
            <a:r>
              <a:rPr dirty="0"/>
              <a:t>✅ If you know Python: You can experiment — model climate risks, run catastrophe simulations, or even create an app for micro-insurance.</a:t>
            </a:r>
          </a:p>
          <a:p>
            <a:r>
              <a:rPr dirty="0"/>
              <a:t>❌ If you don’t: You’ll be limited to whatever traditional tools allow you to do.</a:t>
            </a:r>
          </a:p>
          <a:p>
            <a:r>
              <a:rPr dirty="0"/>
              <a:t>🌟 The Bottom Line</a:t>
            </a:r>
          </a:p>
          <a:p>
            <a:r>
              <a:rPr dirty="0"/>
              <a:t>Learning Python won’t make you less of an actuary — it’ll make you a smarter, faster, and more future-ready actuary.</a:t>
            </a:r>
          </a:p>
        </p:txBody>
      </p:sp>
      <p:sp>
        <p:nvSpPr>
          <p:cNvPr id="4" name="Slide Number Placeholder 3"/>
          <p:cNvSpPr>
            <a:spLocks noGrp="1"/>
          </p:cNvSpPr>
          <p:nvPr>
            <p:ph type="sldNum" sz="quarter" idx="5"/>
          </p:nvPr>
        </p:nvSpPr>
        <p:spPr/>
        <p:txBody>
          <a:bodyPr/>
          <a:lstStyle/>
          <a:p>
            <a:fld id="{731BD5E3-E8CB-4900-81BC-B2CBA7485AC0}" type="slidenum">
              <a:rPr lang="en-US" smtClean="0"/>
              <a:t>5</a:t>
            </a:fld>
            <a:endParaRPr lang="en-US"/>
          </a:p>
        </p:txBody>
      </p:sp>
    </p:spTree>
    <p:extLst>
      <p:ext uri="{BB962C8B-B14F-4D97-AF65-F5344CB8AC3E}">
        <p14:creationId xmlns:p14="http://schemas.microsoft.com/office/powerpoint/2010/main" val="2959354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about 2 minutes.</a:t>
            </a:r>
          </a:p>
          <a:p>
            <a:r>
              <a:t>Three families of things Python does for an actuary: tables of data, mathematics, and pictures. The three examples on the slide are not hypothetical - each one is in today's notebooks. Claim frequency by age group and the severity chart are in Notebook 2; the expected-present-value function is in Notebook 1.</a:t>
            </a:r>
          </a:p>
          <a:p>
            <a:r>
              <a:t>Say that explicitly: "you will build each of these in the next ninety minutes."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about 3 minutes.</a:t>
            </a:r>
          </a:p>
          <a:p>
            <a:r>
              <a:t>Left box: what Python is, in one breath. Free, open source, readable, and the most common language in insurance data teams and in the IFoA, SOA and CAS syllabus material.</a:t>
            </a:r>
          </a:p>
          <a:p>
            <a:r>
              <a:t>Right box: how we run it today. Google Colab - a notebook that runs in the browser, nothing to install, a Google account is all you need. Mention Anaconda/Jupyter only as the offline alternative; the instructions PDF covers it.</a:t>
            </a:r>
          </a:p>
          <a:p>
            <a:r>
              <a:t>Do a live 30-second demo: open Colab, File -&gt; Upload notebook, choose Notebook 1, press Shift+Enter on the first cell. That is the entire mechanic they need.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25 minutes including a 5-minute exercise.</a:t>
            </a:r>
          </a:p>
          <a:p>
            <a:r>
              <a:t>Suggested pacing: sections 1-3 (variables, arithmetic, if) in 8 minutes; section 4-5 (lists, loops, the mortality table) in 8 minutes; section 6 (functions and the EPV) in 5 minutes; exercise 4 minutes.</a:t>
            </a:r>
          </a:p>
          <a:p>
            <a:r>
              <a:t>Do not read the notebook aloud. Run each cell on the projector, say one sentence about the result, and let them run it themselves. Walk the room during the exercise.</a:t>
            </a:r>
          </a:p>
          <a:p>
            <a:r>
              <a:t>The mortality-table loop is the moment the room usually 'gets it' - a q_x column turning into l_x and d_x live, with numbers they can check by hand. Give it a beat.</a:t>
            </a:r>
          </a:p>
          <a:p>
            <a:r>
              <a:t>Common stumbles: indentation after the colon; forgetting that range(1, 6) stops at 5; lists start at position 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1 minute, then straight into Notebook 1.</a:t>
            </a:r>
          </a:p>
          <a:p>
            <a:r>
              <a:t>Left: the grammar - variables, arithmetic, if, loops, functions. Right: reading and cleaning data, which is Notebook 2.</a:t>
            </a:r>
          </a:p>
          <a:p>
            <a:r>
              <a:t>The mortality-table loop mentioned here is the finale of Notebook 1: a q_x list, a loop that produces l_x and d_x, and a function that turns it into an EPV.</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45 minutes including a 5-10 minute exercise.</a:t>
            </a:r>
          </a:p>
          <a:p>
            <a:r>
              <a:t>The five boxes are the workflow they should remember - load, explore, filter and group, chart, export. Say that this pattern does not change when the file has five million rows.</a:t>
            </a:r>
          </a:p>
          <a:p>
            <a:r>
              <a:t>Pacing: sections 1-4 (import, load, first look, filtering) 12 minutes; section 5 (claim frequency by age band) 8 minutes - slow down here, it is the actuarial heart of the notebook; sections 6-8 (severity, missing data, seaborn) 15 minutes; section 9 (Excel) 2 minutes; exercise 8 minutes.</a:t>
            </a:r>
          </a:p>
          <a:p>
            <a:r>
              <a:t>Loading the file: in Colab the loading cell opens a file-chooser. Have people do that first and confirm everyone sees "Loaded 1338 rows" before you move on - it is the one step that can strand someone.</a:t>
            </a:r>
          </a:p>
          <a:p>
            <a:r>
              <a:t>Point to make on the frequency table: frequency of large claims rises with age, but the smoker/non-smoker split explains far more of the cost. The heatmap at the end shows the same thing as a single number (about 0.79 correlation).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about 2 minutes. This is the "and then" slide - none of this is in today's notebooks, and say so.</a:t>
            </a:r>
          </a:p>
          <a:p>
            <a:r>
              <a:t>Automation: the quarterly reserving pack that regenerates itself from a script. Predictive modelling: GLMs, logistic regression for lapses, survival models - all a few lines once the data work from Notebook 2 is done.</a:t>
            </a:r>
          </a:p>
          <a:p>
            <a:r>
              <a:t>Bridge to the next slide: "and the newest layer on top of all of this is to let an AI agent drive these scripts for you."</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3 minutes. This is the only conceptual slide on agents - keep it plain.</a:t>
            </a:r>
          </a:p>
          <a:p>
            <a:r>
              <a:t>Definition in one breath: an agent is a model plus tools plus instructions, running in a loop. The four boxes are the four ingredients, and in the notebook each one is a visible line of code.</a:t>
            </a:r>
          </a:p>
          <a:p>
            <a:r>
              <a:t>The key message for this audience is the second bullet: the model never does the arithmetic. It calls a Python function you wrote - the same groupby from Notebook 2 - and turns the answer into sentences. If the number is wrong, it is your function that is wrong, and you can test that function on its own, without any AI involved.</a:t>
            </a:r>
          </a:p>
          <a:p>
            <a:r>
              <a:t>Anticipate the question "isn't this just ChatGPT?": ChatGPT does not have your data or your functions. The tools are what make it an agent, and the tools are the actuarial content.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20 minutes. Budget 5 of them for the API key - it is the step that goes wrong.</a:t>
            </a:r>
          </a:p>
          <a:p>
            <a:r>
              <a:t>Do the key setup on the projector, slowly: AI Studio, Create API key, copy; then Colab Secrets, name exactly GOOGLE_API_KEY, notebook access on. Warn people not to paste the key into a code cell - notebooks get shared.</a:t>
            </a:r>
          </a:p>
          <a:p>
            <a:r>
              <a:t>The teaching beat is the before/after: section 4 asks Gemini about our dataset with no tools and it cannot know the answer; section 5 gives it two functions and it answers with the correct pandas numbers, and you can see the "[tool called]" lines printed by your own functions. Let people see that contrast themselves.</a:t>
            </a:r>
          </a:p>
          <a:p>
            <a:r>
              <a:t>The second question in the notebook needs both tools and some reasoning - a nice moment to point out that nobody told the agent which tool to call, or in what order.</a:t>
            </a:r>
          </a:p>
          <a:p>
            <a:r>
              <a:t>If someone's key does not work (rate limits, region restrictions), pair them with a neighbour. Do not debug keys for more than a minute in front of the room.</a:t>
            </a:r>
          </a:p>
          <a:p>
            <a:r>
              <a:t>Mention Agno by name once: open source, Python, the same pattern scales to multi-agent teams - which is what the closing slide is about.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3 minutes.</a:t>
            </a:r>
          </a:p>
          <a:p>
            <a:r>
              <a:t>This slide is the argument for why a faculty programme should care about agents at all. Land three things.</a:t>
            </a:r>
          </a:p>
          <a:p>
            <a:r>
              <a:t>One: the model is the least important part. The tools carry the actuarial knowledge, and writing a good tool is writing a good, documented function - the skill from the first two notebooks.</a:t>
            </a:r>
          </a:p>
          <a:p>
            <a:r>
              <a:t>Two: the control lives with you. Instructions are policy, and every number is traceable to a line of Python you can test in isolation.</a:t>
            </a:r>
          </a:p>
          <a:p>
            <a:r>
              <a:t>Three: this is teachable. A student who has done Notebook 2 can build Notebook 3. The step from script to agent is small; the step from no code to script is the big one - which is why we spent 70 minutes on it.</a:t>
            </a:r>
          </a:p>
          <a:p>
            <a:r>
              <a:t>If asked about risks: hallucination is exactly what the 'no tools' demo showed; the answer is tools plus instructions plus a reviewer in the loop, not trusting the model's arithmetic.</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2 minutes, then open the floor.</a:t>
            </a:r>
          </a:p>
          <a:p>
            <a:r>
              <a:t>Three asks, in increasing size: re-run the notebooks this week; put one small Python cell into a course this term; and, if they teach a data or statistics module, consider making Notebook 2 an assignment as it stands.</a:t>
            </a:r>
          </a:p>
          <a:p>
            <a:r>
              <a:t>Point to the README in the folder - it lists what changed from 2025 and how to run everything in Colab.</a:t>
            </a:r>
          </a:p>
          <a:p>
            <a:r>
              <a:t>Close on the theme from the opening slides: Python does not replace what they teach. It lets them show it working.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8-10 minutes. Questions that come up every year: "which laptop / which version of Python" (any; Colab removes the question), "is Python replacing Excel" (no - it sits next to it, see the to_excel cell), and "how do I get students to install it" (do not; use Colab).</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8A2C7-7B3F-FA71-C03E-9F7A7AEAA4A3}"/>
              </a:ext>
            </a:extLst>
          </p:cNvPr>
          <p:cNvSpPr>
            <a:spLocks noGrp="1"/>
          </p:cNvSpPr>
          <p:nvPr>
            <p:ph type="ctrTitle" hasCustomPrompt="1"/>
          </p:nvPr>
        </p:nvSpPr>
        <p:spPr>
          <a:xfrm>
            <a:off x="1524000" y="2268415"/>
            <a:ext cx="9144000" cy="1241548"/>
          </a:xfrm>
        </p:spPr>
        <p:txBody>
          <a:bodyPr anchor="b"/>
          <a:lstStyle>
            <a:lvl1pPr algn="ctr">
              <a:defRPr sz="6000">
                <a:solidFill>
                  <a:schemeClr val="bg2"/>
                </a:solidFill>
              </a:defRPr>
            </a:lvl1pPr>
          </a:lstStyle>
          <a:p>
            <a:r>
              <a:rPr lang="en-US" dirty="0"/>
              <a:t>Presentation Title</a:t>
            </a:r>
          </a:p>
        </p:txBody>
      </p:sp>
      <p:sp>
        <p:nvSpPr>
          <p:cNvPr id="3" name="Subtitle 2">
            <a:extLst>
              <a:ext uri="{FF2B5EF4-FFF2-40B4-BE49-F238E27FC236}">
                <a16:creationId xmlns:a16="http://schemas.microsoft.com/office/drawing/2014/main" id="{20936DF0-7B43-70EB-245A-B2D205BC49A4}"/>
              </a:ext>
            </a:extLst>
          </p:cNvPr>
          <p:cNvSpPr>
            <a:spLocks noGrp="1"/>
          </p:cNvSpPr>
          <p:nvPr>
            <p:ph type="subTitle" idx="1" hasCustomPrompt="1"/>
          </p:nvPr>
        </p:nvSpPr>
        <p:spPr>
          <a:xfrm>
            <a:off x="1524000" y="3602038"/>
            <a:ext cx="9144000" cy="618270"/>
          </a:xfrm>
        </p:spPr>
        <p:txBody>
          <a:bodyPr/>
          <a:lstStyle>
            <a:lvl1pPr marL="0" indent="0" algn="ctr">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Name (s) | Presentation Date</a:t>
            </a:r>
          </a:p>
        </p:txBody>
      </p:sp>
    </p:spTree>
    <p:extLst>
      <p:ext uri="{BB962C8B-B14F-4D97-AF65-F5344CB8AC3E}">
        <p14:creationId xmlns:p14="http://schemas.microsoft.com/office/powerpoint/2010/main" val="1340799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C2F6A-EF3B-406C-8BD3-C280FED3793F}"/>
              </a:ext>
            </a:extLst>
          </p:cNvPr>
          <p:cNvSpPr>
            <a:spLocks noGrp="1"/>
          </p:cNvSpPr>
          <p:nvPr>
            <p:ph type="title" hasCustomPrompt="1"/>
          </p:nvPr>
        </p:nvSpPr>
        <p:spPr>
          <a:xfrm>
            <a:off x="0" y="24606"/>
            <a:ext cx="10515600" cy="681038"/>
          </a:xfrm>
          <a:noFill/>
        </p:spPr>
        <p:txBody>
          <a:bodyPr>
            <a:normAutofit/>
          </a:bodyPr>
          <a:lstStyle>
            <a:lvl1pPr>
              <a:defRPr sz="4000">
                <a:solidFill>
                  <a:schemeClr val="bg2"/>
                </a:solidFill>
              </a:defRPr>
            </a:lvl1pPr>
          </a:lstStyle>
          <a:p>
            <a:r>
              <a:rPr lang="en-US" dirty="0"/>
              <a:t>Click to edit title</a:t>
            </a:r>
          </a:p>
        </p:txBody>
      </p:sp>
      <p:sp>
        <p:nvSpPr>
          <p:cNvPr id="3" name="Content Placeholder 2">
            <a:extLst>
              <a:ext uri="{FF2B5EF4-FFF2-40B4-BE49-F238E27FC236}">
                <a16:creationId xmlns:a16="http://schemas.microsoft.com/office/drawing/2014/main" id="{3C917D18-6789-E0A1-6AC2-B3B201117369}"/>
              </a:ext>
            </a:extLst>
          </p:cNvPr>
          <p:cNvSpPr>
            <a:spLocks noGrp="1"/>
          </p:cNvSpPr>
          <p:nvPr>
            <p:ph idx="1" hasCustomPrompt="1"/>
          </p:nvPr>
        </p:nvSpPr>
        <p:spPr>
          <a:xfrm>
            <a:off x="838200" y="1167319"/>
            <a:ext cx="10515600" cy="5009644"/>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89450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235BF-EA1A-E787-D8D4-647F227EDA13}"/>
              </a:ext>
            </a:extLst>
          </p:cNvPr>
          <p:cNvSpPr>
            <a:spLocks noGrp="1"/>
          </p:cNvSpPr>
          <p:nvPr>
            <p:ph type="title" hasCustomPrompt="1"/>
          </p:nvPr>
        </p:nvSpPr>
        <p:spPr>
          <a:xfrm>
            <a:off x="169984" y="65615"/>
            <a:ext cx="10515600" cy="457200"/>
          </a:xfrm>
        </p:spPr>
        <p:txBody>
          <a:bodyPr>
            <a:noAutofit/>
          </a:bodyPr>
          <a:lstStyle>
            <a:lvl1pPr>
              <a:defRPr sz="3000">
                <a:solidFill>
                  <a:schemeClr val="bg2"/>
                </a:solidFill>
              </a:defRPr>
            </a:lvl1pPr>
          </a:lstStyle>
          <a:p>
            <a:r>
              <a:rPr lang="en-US" dirty="0"/>
              <a:t>Click to edit title</a:t>
            </a:r>
          </a:p>
        </p:txBody>
      </p:sp>
      <p:sp>
        <p:nvSpPr>
          <p:cNvPr id="8" name="Content Placeholder 2">
            <a:extLst>
              <a:ext uri="{FF2B5EF4-FFF2-40B4-BE49-F238E27FC236}">
                <a16:creationId xmlns:a16="http://schemas.microsoft.com/office/drawing/2014/main" id="{ACE90B42-1DAA-2DA7-1A6C-749FD1E13C33}"/>
              </a:ext>
            </a:extLst>
          </p:cNvPr>
          <p:cNvSpPr>
            <a:spLocks noGrp="1"/>
          </p:cNvSpPr>
          <p:nvPr>
            <p:ph idx="1" hasCustomPrompt="1"/>
          </p:nvPr>
        </p:nvSpPr>
        <p:spPr>
          <a:xfrm>
            <a:off x="838200" y="1167319"/>
            <a:ext cx="10515600" cy="5009644"/>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77783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EDCE2-A90E-46F5-45FB-ED0096C3DBD4}"/>
              </a:ext>
            </a:extLst>
          </p:cNvPr>
          <p:cNvSpPr>
            <a:spLocks noGrp="1"/>
          </p:cNvSpPr>
          <p:nvPr>
            <p:ph type="title" hasCustomPrompt="1"/>
          </p:nvPr>
        </p:nvSpPr>
        <p:spPr>
          <a:xfrm>
            <a:off x="838200" y="5556"/>
            <a:ext cx="10515600" cy="1278122"/>
          </a:xfrm>
        </p:spPr>
        <p:txBody>
          <a:bodyPr/>
          <a:lstStyle>
            <a:lvl1pPr>
              <a:defRPr>
                <a:solidFill>
                  <a:schemeClr val="bg2"/>
                </a:solidFill>
              </a:defRPr>
            </a:lvl1pPr>
          </a:lstStyle>
          <a:p>
            <a:r>
              <a:rPr lang="en-US" dirty="0"/>
              <a:t>Click to edit title</a:t>
            </a:r>
          </a:p>
        </p:txBody>
      </p:sp>
      <p:sp>
        <p:nvSpPr>
          <p:cNvPr id="9" name="Slide Number Placeholder 8">
            <a:extLst>
              <a:ext uri="{FF2B5EF4-FFF2-40B4-BE49-F238E27FC236}">
                <a16:creationId xmlns:a16="http://schemas.microsoft.com/office/drawing/2014/main" id="{633C8818-D324-F573-24F6-7E140DBF456E}"/>
              </a:ext>
            </a:extLst>
          </p:cNvPr>
          <p:cNvSpPr>
            <a:spLocks noGrp="1"/>
          </p:cNvSpPr>
          <p:nvPr>
            <p:ph type="sldNum" sz="quarter" idx="12"/>
          </p:nvPr>
        </p:nvSpPr>
        <p:spPr>
          <a:xfrm>
            <a:off x="8955656" y="6487319"/>
            <a:ext cx="2743200" cy="365125"/>
          </a:xfrm>
        </p:spPr>
        <p:txBody>
          <a:bodyPr/>
          <a:lstStyle/>
          <a:p>
            <a:fld id="{2E56E1C3-8280-5F44-A2EB-A8DA95340368}" type="slidenum">
              <a:rPr lang="en-US" smtClean="0"/>
              <a:t>‹#›</a:t>
            </a:fld>
            <a:endParaRPr lang="en-US"/>
          </a:p>
        </p:txBody>
      </p:sp>
      <p:sp>
        <p:nvSpPr>
          <p:cNvPr id="10" name="Content Placeholder 2">
            <a:extLst>
              <a:ext uri="{FF2B5EF4-FFF2-40B4-BE49-F238E27FC236}">
                <a16:creationId xmlns:a16="http://schemas.microsoft.com/office/drawing/2014/main" id="{0DFE914D-05F9-6767-44E9-64CAB53C24CD}"/>
              </a:ext>
            </a:extLst>
          </p:cNvPr>
          <p:cNvSpPr>
            <a:spLocks noGrp="1"/>
          </p:cNvSpPr>
          <p:nvPr>
            <p:ph idx="1" hasCustomPrompt="1"/>
          </p:nvPr>
        </p:nvSpPr>
        <p:spPr>
          <a:xfrm>
            <a:off x="838200" y="1692613"/>
            <a:ext cx="10515600" cy="4484350"/>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098364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DBDA82-57C3-EAFA-DD2C-0105CB85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1178F6-8D75-3C4A-C89A-138ECD9A4B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E70466-3213-3748-C1FA-B35E57BE2D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4th September</a:t>
            </a:r>
          </a:p>
        </p:txBody>
      </p:sp>
      <p:sp>
        <p:nvSpPr>
          <p:cNvPr id="5" name="Footer Placeholder 4">
            <a:extLst>
              <a:ext uri="{FF2B5EF4-FFF2-40B4-BE49-F238E27FC236}">
                <a16:creationId xmlns:a16="http://schemas.microsoft.com/office/drawing/2014/main" id="{D3D3E9B6-2BA4-A798-3ADF-318C5B0A00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A84664A-9130-43E0-6B2D-5643D95A56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600" b="1">
                <a:solidFill>
                  <a:schemeClr val="accent1"/>
                </a:solidFill>
              </a:defRPr>
            </a:lvl1pPr>
          </a:lstStyle>
          <a:p>
            <a:fld id="{2E56E1C3-8280-5F44-A2EB-A8DA95340368}" type="slidenum">
              <a:rPr lang="en-US" smtClean="0"/>
              <a:pPr/>
              <a:t>‹#›</a:t>
            </a:fld>
            <a:endParaRPr lang="en-US"/>
          </a:p>
        </p:txBody>
      </p:sp>
    </p:spTree>
    <p:extLst>
      <p:ext uri="{BB962C8B-B14F-4D97-AF65-F5344CB8AC3E}">
        <p14:creationId xmlns:p14="http://schemas.microsoft.com/office/powerpoint/2010/main" val="1446735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7D412-DA89-AFE4-304F-6F19D0799609}"/>
              </a:ext>
            </a:extLst>
          </p:cNvPr>
          <p:cNvSpPr>
            <a:spLocks noGrp="1"/>
          </p:cNvSpPr>
          <p:nvPr>
            <p:ph type="ctrTitle"/>
          </p:nvPr>
        </p:nvSpPr>
        <p:spPr/>
        <p:txBody>
          <a:bodyPr/>
          <a:lstStyle/>
          <a:p>
            <a:r>
              <a:rPr lang="en-US" dirty="0"/>
              <a:t>Introduction to Python</a:t>
            </a:r>
          </a:p>
        </p:txBody>
      </p:sp>
      <p:sp>
        <p:nvSpPr>
          <p:cNvPr id="3" name="Subtitle 2">
            <a:extLst>
              <a:ext uri="{FF2B5EF4-FFF2-40B4-BE49-F238E27FC236}">
                <a16:creationId xmlns:a16="http://schemas.microsoft.com/office/drawing/2014/main" id="{17BECCCB-6D06-269A-21FC-9FCE7F0EDE0D}"/>
              </a:ext>
            </a:extLst>
          </p:cNvPr>
          <p:cNvSpPr>
            <a:spLocks noGrp="1"/>
          </p:cNvSpPr>
          <p:nvPr>
            <p:ph type="subTitle" idx="1"/>
          </p:nvPr>
        </p:nvSpPr>
        <p:spPr/>
        <p:txBody>
          <a:bodyPr/>
          <a:lstStyle/>
          <a:p>
            <a:r>
              <a:t>Actuarial Faculty Development Program 2026</a:t>
            </a:r>
          </a:p>
        </p:txBody>
      </p:sp>
    </p:spTree>
    <p:extLst>
      <p:ext uri="{BB962C8B-B14F-4D97-AF65-F5344CB8AC3E}">
        <p14:creationId xmlns:p14="http://schemas.microsoft.com/office/powerpoint/2010/main" val="1185038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7687D-F450-5DB9-59C6-7BA553BC83DA}"/>
              </a:ext>
            </a:extLst>
          </p:cNvPr>
          <p:cNvSpPr>
            <a:spLocks noGrp="1"/>
          </p:cNvSpPr>
          <p:nvPr>
            <p:ph type="title"/>
          </p:nvPr>
        </p:nvSpPr>
        <p:spPr/>
        <p:txBody>
          <a:bodyPr/>
          <a:lstStyle/>
          <a:p>
            <a:r>
              <a:rPr lang="en-US" dirty="0"/>
              <a:t>Presenters</a:t>
            </a:r>
          </a:p>
        </p:txBody>
      </p:sp>
      <p:sp>
        <p:nvSpPr>
          <p:cNvPr id="4" name="Rectangle: Rounded Corners 3">
            <a:extLst>
              <a:ext uri="{FF2B5EF4-FFF2-40B4-BE49-F238E27FC236}">
                <a16:creationId xmlns:a16="http://schemas.microsoft.com/office/drawing/2014/main" id="{D903C817-6384-11BA-416B-889E9381915A}"/>
              </a:ext>
            </a:extLst>
          </p:cNvPr>
          <p:cNvSpPr/>
          <p:nvPr/>
        </p:nvSpPr>
        <p:spPr>
          <a:xfrm>
            <a:off x="2105026" y="1826604"/>
            <a:ext cx="7981950" cy="2088172"/>
          </a:xfrm>
          <a:prstGeom prst="roundRect">
            <a:avLst>
              <a:gd name="adj" fmla="val 1045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D65F8B36-8F9C-F648-E8AA-4BDB776C6A87}"/>
              </a:ext>
            </a:extLst>
          </p:cNvPr>
          <p:cNvSpPr/>
          <p:nvPr/>
        </p:nvSpPr>
        <p:spPr>
          <a:xfrm>
            <a:off x="2105025" y="4133851"/>
            <a:ext cx="7981951" cy="2088172"/>
          </a:xfrm>
          <a:prstGeom prst="roundRect">
            <a:avLst>
              <a:gd name="adj" fmla="val 1045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44EE9FB0-CE58-8EA5-B078-221936125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099" y="1990724"/>
            <a:ext cx="1762125" cy="1762125"/>
          </a:xfrm>
          <a:prstGeom prst="roundRect">
            <a:avLst>
              <a:gd name="adj" fmla="val 8594"/>
            </a:avLst>
          </a:prstGeom>
          <a:solidFill>
            <a:srgbClr val="FFFFFF">
              <a:shade val="85000"/>
            </a:srgbClr>
          </a:solidFill>
          <a:ln>
            <a:noFill/>
          </a:ln>
          <a:effectLst/>
        </p:spPr>
      </p:pic>
      <p:pic>
        <p:nvPicPr>
          <p:cNvPr id="1028" name="Picture 4">
            <a:extLst>
              <a:ext uri="{FF2B5EF4-FFF2-40B4-BE49-F238E27FC236}">
                <a16:creationId xmlns:a16="http://schemas.microsoft.com/office/drawing/2014/main" id="{BFC40371-245C-DE52-4583-8C77D4ABF6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4099" y="4305301"/>
            <a:ext cx="1762125" cy="1762125"/>
          </a:xfrm>
          <a:prstGeom prst="roundRect">
            <a:avLst>
              <a:gd name="adj" fmla="val 8594"/>
            </a:avLst>
          </a:prstGeom>
          <a:solidFill>
            <a:srgbClr val="FFFFFF">
              <a:shade val="85000"/>
            </a:srgbClr>
          </a:solidFill>
          <a:ln>
            <a:noFill/>
          </a:ln>
          <a:effectLst/>
        </p:spPr>
      </p:pic>
      <p:sp>
        <p:nvSpPr>
          <p:cNvPr id="6" name="TextBox 5">
            <a:extLst>
              <a:ext uri="{FF2B5EF4-FFF2-40B4-BE49-F238E27FC236}">
                <a16:creationId xmlns:a16="http://schemas.microsoft.com/office/drawing/2014/main" id="{93036312-C414-4436-F083-735AD6FB360D}"/>
              </a:ext>
            </a:extLst>
          </p:cNvPr>
          <p:cNvSpPr txBox="1"/>
          <p:nvPr/>
        </p:nvSpPr>
        <p:spPr>
          <a:xfrm>
            <a:off x="4305298" y="2304934"/>
            <a:ext cx="5343527" cy="830997"/>
          </a:xfrm>
          <a:prstGeom prst="rect">
            <a:avLst/>
          </a:prstGeom>
          <a:noFill/>
        </p:spPr>
        <p:txBody>
          <a:bodyPr wrap="square" rtlCol="0">
            <a:spAutoFit/>
          </a:bodyPr>
          <a:lstStyle/>
          <a:p>
            <a:r>
              <a:rPr lang="en-US" sz="2400" dirty="0">
                <a:solidFill>
                  <a:schemeClr val="bg1"/>
                </a:solidFill>
              </a:rPr>
              <a:t>Satya Sai Mudigonda</a:t>
            </a:r>
          </a:p>
          <a:p>
            <a:r>
              <a:rPr lang="en-US" sz="2400" dirty="0">
                <a:solidFill>
                  <a:schemeClr val="bg1"/>
                </a:solidFill>
              </a:rPr>
              <a:t>Chairman, SSSIA</a:t>
            </a:r>
          </a:p>
        </p:txBody>
      </p:sp>
      <p:sp>
        <p:nvSpPr>
          <p:cNvPr id="7" name="TextBox 6">
            <a:extLst>
              <a:ext uri="{FF2B5EF4-FFF2-40B4-BE49-F238E27FC236}">
                <a16:creationId xmlns:a16="http://schemas.microsoft.com/office/drawing/2014/main" id="{6C6D5B63-1524-49CE-547D-677C939751F7}"/>
              </a:ext>
            </a:extLst>
          </p:cNvPr>
          <p:cNvSpPr txBox="1"/>
          <p:nvPr/>
        </p:nvSpPr>
        <p:spPr>
          <a:xfrm>
            <a:off x="4305298" y="4762438"/>
            <a:ext cx="5343527" cy="830997"/>
          </a:xfrm>
          <a:prstGeom prst="rect">
            <a:avLst/>
          </a:prstGeom>
          <a:noFill/>
        </p:spPr>
        <p:txBody>
          <a:bodyPr wrap="square" rtlCol="0">
            <a:spAutoFit/>
          </a:bodyPr>
          <a:lstStyle/>
          <a:p>
            <a:r>
              <a:rPr lang="en-US" sz="2400" dirty="0">
                <a:solidFill>
                  <a:schemeClr val="bg1"/>
                </a:solidFill>
              </a:rPr>
              <a:t>Rohan Yashraj Gupta, PhD, FIAI</a:t>
            </a:r>
          </a:p>
          <a:p>
            <a:r>
              <a:rPr lang="en-US" sz="2400" dirty="0">
                <a:solidFill>
                  <a:schemeClr val="bg1"/>
                </a:solidFill>
              </a:rPr>
              <a:t>Adjunct Faculty, SSSIA</a:t>
            </a:r>
          </a:p>
        </p:txBody>
      </p:sp>
      <p:sp>
        <p:nvSpPr>
          <p:cNvPr id="3" name="Slide Number Placeholder 2">
            <a:extLst>
              <a:ext uri="{FF2B5EF4-FFF2-40B4-BE49-F238E27FC236}">
                <a16:creationId xmlns:a16="http://schemas.microsoft.com/office/drawing/2014/main" id="{DFFF9E28-DDF4-2722-E5D4-BC7C1478BA46}"/>
              </a:ext>
            </a:extLst>
          </p:cNvPr>
          <p:cNvSpPr>
            <a:spLocks noGrp="1"/>
          </p:cNvSpPr>
          <p:nvPr>
            <p:ph type="sldNum" sz="quarter" idx="12"/>
          </p:nvPr>
        </p:nvSpPr>
        <p:spPr/>
        <p:txBody>
          <a:bodyPr/>
          <a:lstStyle/>
          <a:p>
            <a:fld id="{2E56E1C3-8280-5F44-A2EB-A8DA95340368}" type="slidenum">
              <a:rPr lang="en-US" smtClean="0"/>
              <a:t>2</a:t>
            </a:fld>
            <a:endParaRPr lang="en-US"/>
          </a:p>
        </p:txBody>
      </p:sp>
    </p:spTree>
    <p:extLst>
      <p:ext uri="{BB962C8B-B14F-4D97-AF65-F5344CB8AC3E}">
        <p14:creationId xmlns:p14="http://schemas.microsoft.com/office/powerpoint/2010/main" val="2168224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Next Two Hours Run</a:t>
            </a:r>
          </a:p>
        </p:txBody>
      </p:sp>
      <p:graphicFrame>
        <p:nvGraphicFramePr>
          <p:cNvPr id="3" name="Table 2"/>
          <p:cNvGraphicFramePr>
            <a:graphicFrameLocks noGrp="1"/>
          </p:cNvGraphicFramePr>
          <p:nvPr/>
        </p:nvGraphicFramePr>
        <p:xfrm>
          <a:off x="838200" y="1750000"/>
          <a:ext cx="10515600" cy="3900000"/>
        </p:xfrm>
        <a:graphic>
          <a:graphicData uri="http://schemas.openxmlformats.org/drawingml/2006/table">
            <a:tbl>
              <a:tblPr firstRow="1" bandRow="1">
                <a:tableStyleId>{5C22544A-7EE6-4342-B048-85BDC9FD1C3A}</a:tableStyleId>
              </a:tblPr>
              <a:tblGrid>
                <a:gridCol w="1500000">
                  <a:extLst>
                    <a:ext uri="{9D8B030D-6E8A-4147-A177-3AD203B41FA5}">
                      <a16:colId xmlns:a16="http://schemas.microsoft.com/office/drawing/2014/main" val="20000"/>
                    </a:ext>
                  </a:extLst>
                </a:gridCol>
                <a:gridCol w="4300000">
                  <a:extLst>
                    <a:ext uri="{9D8B030D-6E8A-4147-A177-3AD203B41FA5}">
                      <a16:colId xmlns:a16="http://schemas.microsoft.com/office/drawing/2014/main" val="20001"/>
                    </a:ext>
                  </a:extLst>
                </a:gridCol>
                <a:gridCol w="4715600">
                  <a:extLst>
                    <a:ext uri="{9D8B030D-6E8A-4147-A177-3AD203B41FA5}">
                      <a16:colId xmlns:a16="http://schemas.microsoft.com/office/drawing/2014/main" val="20002"/>
                    </a:ext>
                  </a:extLst>
                </a:gridCol>
              </a:tblGrid>
              <a:tr h="557142">
                <a:tc>
                  <a:txBody>
                    <a:bodyPr/>
                    <a:lstStyle/>
                    <a:p>
                      <a:r>
                        <a:rPr sz="1600" b="1">
                          <a:solidFill>
                            <a:srgbClr val="FFFFFF"/>
                          </a:solidFill>
                        </a:rPr>
                        <a:t>Minutes</a:t>
                      </a:r>
                    </a:p>
                  </a:txBody>
                  <a:tcPr>
                    <a:solidFill>
                      <a:srgbClr val="0E2841"/>
                    </a:solidFill>
                  </a:tcPr>
                </a:tc>
                <a:tc>
                  <a:txBody>
                    <a:bodyPr/>
                    <a:lstStyle/>
                    <a:p>
                      <a:r>
                        <a:rPr sz="1600" b="1">
                          <a:solidFill>
                            <a:srgbClr val="FFFFFF"/>
                          </a:solidFill>
                        </a:rPr>
                        <a:t>Segment</a:t>
                      </a:r>
                    </a:p>
                  </a:txBody>
                  <a:tcPr>
                    <a:solidFill>
                      <a:srgbClr val="0E2841"/>
                    </a:solidFill>
                  </a:tcPr>
                </a:tc>
                <a:tc>
                  <a:txBody>
                    <a:bodyPr/>
                    <a:lstStyle/>
                    <a:p>
                      <a:r>
                        <a:rPr sz="1600" b="1">
                          <a:solidFill>
                            <a:srgbClr val="FFFFFF"/>
                          </a:solidFill>
                        </a:rPr>
                        <a:t>What you do</a:t>
                      </a:r>
                    </a:p>
                  </a:txBody>
                  <a:tcPr>
                    <a:solidFill>
                      <a:srgbClr val="0E2841"/>
                    </a:solidFill>
                  </a:tcPr>
                </a:tc>
                <a:extLst>
                  <a:ext uri="{0D108BD9-81ED-4DB2-BD59-A6C34878D82A}">
                    <a16:rowId xmlns:a16="http://schemas.microsoft.com/office/drawing/2014/main" val="10000"/>
                  </a:ext>
                </a:extLst>
              </a:tr>
              <a:tr h="557142">
                <a:tc>
                  <a:txBody>
                    <a:bodyPr/>
                    <a:lstStyle/>
                    <a:p>
                      <a:r>
                        <a:rPr sz="1500" b="0">
                          <a:solidFill>
                            <a:srgbClr val="262626"/>
                          </a:solidFill>
                        </a:rPr>
                        <a:t>0-15</a:t>
                      </a:r>
                    </a:p>
                  </a:txBody>
                  <a:tcPr>
                    <a:solidFill>
                      <a:srgbClr val="FFFFFF"/>
                    </a:solidFill>
                  </a:tcPr>
                </a:tc>
                <a:tc>
                  <a:txBody>
                    <a:bodyPr/>
                    <a:lstStyle/>
                    <a:p>
                      <a:r>
                        <a:rPr sz="1500" b="1">
                          <a:solidFill>
                            <a:srgbClr val="262626"/>
                          </a:solidFill>
                        </a:rPr>
                        <a:t>Why Python, and how we run it today</a:t>
                      </a:r>
                    </a:p>
                  </a:txBody>
                  <a:tcPr>
                    <a:solidFill>
                      <a:srgbClr val="FFFFFF"/>
                    </a:solidFill>
                  </a:tcPr>
                </a:tc>
                <a:tc>
                  <a:txBody>
                    <a:bodyPr/>
                    <a:lstStyle/>
                    <a:p>
                      <a:r>
                        <a:rPr sz="1500" b="0">
                          <a:solidFill>
                            <a:srgbClr val="262626"/>
                          </a:solidFill>
                        </a:rPr>
                        <a:t>Listen; open Google Colab</a:t>
                      </a:r>
                    </a:p>
                  </a:txBody>
                  <a:tcPr>
                    <a:solidFill>
                      <a:srgbClr val="FFFFFF"/>
                    </a:solidFill>
                  </a:tcPr>
                </a:tc>
                <a:extLst>
                  <a:ext uri="{0D108BD9-81ED-4DB2-BD59-A6C34878D82A}">
                    <a16:rowId xmlns:a16="http://schemas.microsoft.com/office/drawing/2014/main" val="10001"/>
                  </a:ext>
                </a:extLst>
              </a:tr>
              <a:tr h="557142">
                <a:tc>
                  <a:txBody>
                    <a:bodyPr/>
                    <a:lstStyle/>
                    <a:p>
                      <a:r>
                        <a:rPr sz="1500" b="0">
                          <a:solidFill>
                            <a:srgbClr val="262626"/>
                          </a:solidFill>
                        </a:rPr>
                        <a:t>15-40</a:t>
                      </a:r>
                    </a:p>
                  </a:txBody>
                  <a:tcPr>
                    <a:solidFill>
                      <a:srgbClr val="F3F6F8"/>
                    </a:solidFill>
                  </a:tcPr>
                </a:tc>
                <a:tc>
                  <a:txBody>
                    <a:bodyPr/>
                    <a:lstStyle/>
                    <a:p>
                      <a:r>
                        <a:rPr sz="1500" b="1">
                          <a:solidFill>
                            <a:srgbClr val="262626"/>
                          </a:solidFill>
                        </a:rPr>
                        <a:t>Notebook 1 - Python basics</a:t>
                      </a:r>
                    </a:p>
                  </a:txBody>
                  <a:tcPr>
                    <a:solidFill>
                      <a:srgbClr val="F3F6F8"/>
                    </a:solidFill>
                  </a:tcPr>
                </a:tc>
                <a:tc>
                  <a:txBody>
                    <a:bodyPr/>
                    <a:lstStyle/>
                    <a:p>
                      <a:r>
                        <a:rPr sz="1500" b="0">
                          <a:solidFill>
                            <a:srgbClr val="262626"/>
                          </a:solidFill>
                        </a:rPr>
                        <a:t>Variables, loops, functions; a mortality table and an EPV</a:t>
                      </a:r>
                    </a:p>
                  </a:txBody>
                  <a:tcPr>
                    <a:solidFill>
                      <a:srgbClr val="F3F6F8"/>
                    </a:solidFill>
                  </a:tcPr>
                </a:tc>
                <a:extLst>
                  <a:ext uri="{0D108BD9-81ED-4DB2-BD59-A6C34878D82A}">
                    <a16:rowId xmlns:a16="http://schemas.microsoft.com/office/drawing/2014/main" val="10002"/>
                  </a:ext>
                </a:extLst>
              </a:tr>
              <a:tr h="557142">
                <a:tc>
                  <a:txBody>
                    <a:bodyPr/>
                    <a:lstStyle/>
                    <a:p>
                      <a:r>
                        <a:rPr sz="1500" b="0">
                          <a:solidFill>
                            <a:srgbClr val="262626"/>
                          </a:solidFill>
                        </a:rPr>
                        <a:t>40-85</a:t>
                      </a:r>
                    </a:p>
                  </a:txBody>
                  <a:tcPr>
                    <a:solidFill>
                      <a:srgbClr val="FFFFFF"/>
                    </a:solidFill>
                  </a:tcPr>
                </a:tc>
                <a:tc>
                  <a:txBody>
                    <a:bodyPr/>
                    <a:lstStyle/>
                    <a:p>
                      <a:r>
                        <a:rPr sz="1500" b="1">
                          <a:solidFill>
                            <a:srgbClr val="262626"/>
                          </a:solidFill>
                        </a:rPr>
                        <a:t>Notebook 2 - Data analysis with pandas</a:t>
                      </a:r>
                    </a:p>
                  </a:txBody>
                  <a:tcPr>
                    <a:solidFill>
                      <a:srgbClr val="FFFFFF"/>
                    </a:solidFill>
                  </a:tcPr>
                </a:tc>
                <a:tc>
                  <a:txBody>
                    <a:bodyPr/>
                    <a:lstStyle/>
                    <a:p>
                      <a:r>
                        <a:rPr sz="1500" b="0">
                          <a:solidFill>
                            <a:srgbClr val="262626"/>
                          </a:solidFill>
                        </a:rPr>
                        <a:t>Load, explore, group, chart, export; claim frequency and severity</a:t>
                      </a:r>
                    </a:p>
                  </a:txBody>
                  <a:tcPr>
                    <a:solidFill>
                      <a:srgbClr val="FFFFFF"/>
                    </a:solidFill>
                  </a:tcPr>
                </a:tc>
                <a:extLst>
                  <a:ext uri="{0D108BD9-81ED-4DB2-BD59-A6C34878D82A}">
                    <a16:rowId xmlns:a16="http://schemas.microsoft.com/office/drawing/2014/main" val="10003"/>
                  </a:ext>
                </a:extLst>
              </a:tr>
              <a:tr h="557142">
                <a:tc>
                  <a:txBody>
                    <a:bodyPr/>
                    <a:lstStyle/>
                    <a:p>
                      <a:r>
                        <a:rPr sz="1500" b="0">
                          <a:solidFill>
                            <a:srgbClr val="262626"/>
                          </a:solidFill>
                        </a:rPr>
                        <a:t>85-90</a:t>
                      </a:r>
                    </a:p>
                  </a:txBody>
                  <a:tcPr>
                    <a:solidFill>
                      <a:srgbClr val="E8E8E8"/>
                    </a:solidFill>
                  </a:tcPr>
                </a:tc>
                <a:tc>
                  <a:txBody>
                    <a:bodyPr/>
                    <a:lstStyle/>
                    <a:p>
                      <a:r>
                        <a:rPr sz="1500" b="1">
                          <a:solidFill>
                            <a:srgbClr val="262626"/>
                          </a:solidFill>
                        </a:rPr>
                        <a:t>Short break</a:t>
                      </a:r>
                    </a:p>
                  </a:txBody>
                  <a:tcPr>
                    <a:solidFill>
                      <a:srgbClr val="E8E8E8"/>
                    </a:solidFill>
                  </a:tcPr>
                </a:tc>
                <a:tc>
                  <a:txBody>
                    <a:bodyPr/>
                    <a:lstStyle/>
                    <a:p>
                      <a:r>
                        <a:rPr sz="1500" b="0">
                          <a:solidFill>
                            <a:srgbClr val="262626"/>
                          </a:solidFill>
                        </a:rPr>
                        <a:t> </a:t>
                      </a:r>
                    </a:p>
                  </a:txBody>
                  <a:tcPr>
                    <a:solidFill>
                      <a:srgbClr val="E8E8E8"/>
                    </a:solidFill>
                  </a:tcPr>
                </a:tc>
                <a:extLst>
                  <a:ext uri="{0D108BD9-81ED-4DB2-BD59-A6C34878D82A}">
                    <a16:rowId xmlns:a16="http://schemas.microsoft.com/office/drawing/2014/main" val="10004"/>
                  </a:ext>
                </a:extLst>
              </a:tr>
              <a:tr h="557142">
                <a:tc>
                  <a:txBody>
                    <a:bodyPr/>
                    <a:lstStyle/>
                    <a:p>
                      <a:r>
                        <a:rPr sz="1500" b="0">
                          <a:solidFill>
                            <a:srgbClr val="262626"/>
                          </a:solidFill>
                        </a:rPr>
                        <a:t>90-110</a:t>
                      </a:r>
                    </a:p>
                  </a:txBody>
                  <a:tcPr>
                    <a:solidFill>
                      <a:srgbClr val="FFFFFF"/>
                    </a:solidFill>
                  </a:tcPr>
                </a:tc>
                <a:tc>
                  <a:txBody>
                    <a:bodyPr/>
                    <a:lstStyle/>
                    <a:p>
                      <a:r>
                        <a:rPr sz="1500" b="1">
                          <a:solidFill>
                            <a:srgbClr val="262626"/>
                          </a:solidFill>
                        </a:rPr>
                        <a:t>Notebook 3 - Your first AI agent (Agno)</a:t>
                      </a:r>
                    </a:p>
                  </a:txBody>
                  <a:tcPr>
                    <a:solidFill>
                      <a:srgbClr val="FFFFFF"/>
                    </a:solidFill>
                  </a:tcPr>
                </a:tc>
                <a:tc>
                  <a:txBody>
                    <a:bodyPr/>
                    <a:lstStyle/>
                    <a:p>
                      <a:r>
                        <a:rPr sz="1500" b="0">
                          <a:solidFill>
                            <a:srgbClr val="262626"/>
                          </a:solidFill>
                        </a:rPr>
                        <a:t>An agent that answers questions using your pandas code</a:t>
                      </a:r>
                    </a:p>
                  </a:txBody>
                  <a:tcPr>
                    <a:solidFill>
                      <a:srgbClr val="FFFFFF"/>
                    </a:solidFill>
                  </a:tcPr>
                </a:tc>
                <a:extLst>
                  <a:ext uri="{0D108BD9-81ED-4DB2-BD59-A6C34878D82A}">
                    <a16:rowId xmlns:a16="http://schemas.microsoft.com/office/drawing/2014/main" val="10005"/>
                  </a:ext>
                </a:extLst>
              </a:tr>
              <a:tr h="557148">
                <a:tc>
                  <a:txBody>
                    <a:bodyPr/>
                    <a:lstStyle/>
                    <a:p>
                      <a:r>
                        <a:rPr sz="1500" b="0">
                          <a:solidFill>
                            <a:srgbClr val="262626"/>
                          </a:solidFill>
                        </a:rPr>
                        <a:t>110-120</a:t>
                      </a:r>
                    </a:p>
                  </a:txBody>
                  <a:tcPr>
                    <a:solidFill>
                      <a:srgbClr val="F3F6F8"/>
                    </a:solidFill>
                  </a:tcPr>
                </a:tc>
                <a:tc>
                  <a:txBody>
                    <a:bodyPr/>
                    <a:lstStyle/>
                    <a:p>
                      <a:r>
                        <a:rPr sz="1500" b="1">
                          <a:solidFill>
                            <a:srgbClr val="262626"/>
                          </a:solidFill>
                        </a:rPr>
                        <a:t>Wrap-up and questions</a:t>
                      </a:r>
                    </a:p>
                  </a:txBody>
                  <a:tcPr>
                    <a:solidFill>
                      <a:srgbClr val="F3F6F8"/>
                    </a:solidFill>
                  </a:tcPr>
                </a:tc>
                <a:tc>
                  <a:txBody>
                    <a:bodyPr/>
                    <a:lstStyle/>
                    <a:p>
                      <a:r>
                        <a:rPr sz="1500" b="0">
                          <a:solidFill>
                            <a:srgbClr val="262626"/>
                          </a:solidFill>
                        </a:rPr>
                        <a:t>Where to go next</a:t>
                      </a:r>
                    </a:p>
                  </a:txBody>
                  <a:tcPr>
                    <a:solidFill>
                      <a:srgbClr val="F3F6F8"/>
                    </a:solidFill>
                  </a:tcPr>
                </a:tc>
                <a:extLst>
                  <a:ext uri="{0D108BD9-81ED-4DB2-BD59-A6C34878D82A}">
                    <a16:rowId xmlns:a16="http://schemas.microsoft.com/office/drawing/2014/main" val="10006"/>
                  </a:ext>
                </a:extLst>
              </a:tr>
            </a:tbl>
          </a:graphicData>
        </a:graphic>
      </p:graphicFrame>
      <p:sp>
        <p:nvSpPr>
          <p:cNvPr id="4" name="TextBox 3"/>
          <p:cNvSpPr txBox="1"/>
          <p:nvPr/>
        </p:nvSpPr>
        <p:spPr>
          <a:xfrm>
            <a:off x="838200" y="5750000"/>
            <a:ext cx="10515600" cy="500000"/>
          </a:xfrm>
          <a:prstGeom prst="rect">
            <a:avLst/>
          </a:prstGeom>
          <a:noFill/>
        </p:spPr>
        <p:txBody>
          <a:bodyPr wrap="square">
            <a:spAutoFit/>
          </a:bodyPr>
          <a:lstStyle/>
          <a:p>
            <a:pPr algn="l"/>
            <a:r>
              <a:rPr sz="1400" b="0" i="1">
                <a:solidFill>
                  <a:srgbClr val="262626"/>
                </a:solidFill>
              </a:rPr>
              <a:t>Roughly 30 minutes of talking, 90 minutes of doing. All three notebooks run in Google Colab with nothing installed.</a:t>
            </a:r>
          </a:p>
        </p:txBody>
      </p:sp>
      <p:sp>
        <p:nvSpPr>
          <p:cNvPr id="5" name="Slide Number Placeholder 2">
            <a:extLst>
              <a:ext uri="{FF2B5EF4-FFF2-40B4-BE49-F238E27FC236}">
                <a16:creationId xmlns:a16="http://schemas.microsoft.com/office/drawing/2014/main" id="{429C8A5D-8609-7199-16B5-F34EE28F021F}"/>
              </a:ext>
            </a:extLst>
          </p:cNvPr>
          <p:cNvSpPr>
            <a:spLocks noGrp="1"/>
          </p:cNvSpPr>
          <p:nvPr>
            <p:ph type="sldNum" sz="quarter" idx="12"/>
          </p:nvPr>
        </p:nvSpPr>
        <p:spPr/>
        <p:txBody>
          <a:bodyPr/>
          <a:lstStyle/>
          <a:p>
            <a:fld id="{2E56E1C3-8280-5F44-A2EB-A8DA95340368}"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92913-185C-7ACA-A17F-342B542583CD}"/>
              </a:ext>
            </a:extLst>
          </p:cNvPr>
          <p:cNvSpPr>
            <a:spLocks noGrp="1"/>
          </p:cNvSpPr>
          <p:nvPr>
            <p:ph type="title"/>
          </p:nvPr>
        </p:nvSpPr>
        <p:spPr/>
        <p:txBody>
          <a:bodyPr/>
          <a:lstStyle/>
          <a:p>
            <a:r>
              <a:rPr lang="en-US" dirty="0"/>
              <a:t>Why Teachers Should Learn Python?</a:t>
            </a:r>
          </a:p>
        </p:txBody>
      </p:sp>
      <p:graphicFrame>
        <p:nvGraphicFramePr>
          <p:cNvPr id="8" name="Content Placeholder 2">
            <a:extLst>
              <a:ext uri="{FF2B5EF4-FFF2-40B4-BE49-F238E27FC236}">
                <a16:creationId xmlns:a16="http://schemas.microsoft.com/office/drawing/2014/main" id="{1B7F194A-FAA1-9F7F-1ADF-1DFEA3E4B562}"/>
              </a:ext>
            </a:extLst>
          </p:cNvPr>
          <p:cNvGraphicFramePr>
            <a:graphicFrameLocks/>
          </p:cNvGraphicFramePr>
          <p:nvPr>
            <p:extLst>
              <p:ext uri="{D42A27DB-BD31-4B8C-83A1-F6EECF244321}">
                <p14:modId xmlns:p14="http://schemas.microsoft.com/office/powerpoint/2010/main" val="2711165836"/>
              </p:ext>
            </p:extLst>
          </p:nvPr>
        </p:nvGraphicFramePr>
        <p:xfrm>
          <a:off x="632085" y="1907954"/>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429C8A5D-8609-7199-16B5-F34EE28F021F}"/>
              </a:ext>
            </a:extLst>
          </p:cNvPr>
          <p:cNvSpPr>
            <a:spLocks noGrp="1"/>
          </p:cNvSpPr>
          <p:nvPr>
            <p:ph type="sldNum" sz="quarter" idx="12"/>
          </p:nvPr>
        </p:nvSpPr>
        <p:spPr/>
        <p:txBody>
          <a:bodyPr/>
          <a:lstStyle/>
          <a:p>
            <a:fld id="{2E56E1C3-8280-5F44-A2EB-A8DA95340368}" type="slidenum">
              <a:rPr lang="en-US" smtClean="0"/>
              <a:t>4</a:t>
            </a:fld>
            <a:endParaRPr lang="en-US"/>
          </a:p>
        </p:txBody>
      </p:sp>
    </p:spTree>
    <p:extLst>
      <p:ext uri="{BB962C8B-B14F-4D97-AF65-F5344CB8AC3E}">
        <p14:creationId xmlns:p14="http://schemas.microsoft.com/office/powerpoint/2010/main" val="3687982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5466B-0060-F552-0C95-89D6DC64005C}"/>
              </a:ext>
            </a:extLst>
          </p:cNvPr>
          <p:cNvSpPr>
            <a:spLocks noGrp="1"/>
          </p:cNvSpPr>
          <p:nvPr>
            <p:ph type="title"/>
          </p:nvPr>
        </p:nvSpPr>
        <p:spPr>
          <a:xfrm>
            <a:off x="838200" y="5556"/>
            <a:ext cx="10860656" cy="1278122"/>
          </a:xfrm>
        </p:spPr>
        <p:txBody>
          <a:bodyPr>
            <a:normAutofit/>
          </a:bodyPr>
          <a:lstStyle/>
          <a:p>
            <a:r>
              <a:rPr lang="en-US" dirty="0"/>
              <a:t>Why Actuarial Students Should Learn Python?</a:t>
            </a:r>
          </a:p>
        </p:txBody>
      </p:sp>
      <p:sp>
        <p:nvSpPr>
          <p:cNvPr id="3" name="Content Placeholder 2">
            <a:extLst>
              <a:ext uri="{FF2B5EF4-FFF2-40B4-BE49-F238E27FC236}">
                <a16:creationId xmlns:a16="http://schemas.microsoft.com/office/drawing/2014/main" id="{70A68C88-5BEA-976C-8CC0-F1DFF23E822C}"/>
              </a:ext>
            </a:extLst>
          </p:cNvPr>
          <p:cNvSpPr>
            <a:spLocks noGrp="1"/>
          </p:cNvSpPr>
          <p:nvPr>
            <p:ph idx="1"/>
          </p:nvPr>
        </p:nvSpPr>
        <p:spPr/>
        <p:txBody>
          <a:bodyPr/>
          <a:lstStyle/>
          <a:p>
            <a:r>
              <a:rPr lang="en-US" dirty="0"/>
              <a:t>Working with Big Data</a:t>
            </a:r>
          </a:p>
          <a:p>
            <a:r>
              <a:rPr lang="en-US" dirty="0"/>
              <a:t>Predicting the Future (Literally!)</a:t>
            </a:r>
          </a:p>
          <a:p>
            <a:r>
              <a:rPr lang="en-US" dirty="0"/>
              <a:t>Saving Time with Automation</a:t>
            </a:r>
          </a:p>
          <a:p>
            <a:r>
              <a:rPr lang="en-US" dirty="0"/>
              <a:t>Standing Out in Job Interviews</a:t>
            </a:r>
          </a:p>
          <a:p>
            <a:r>
              <a:rPr lang="en-US" dirty="0"/>
              <a:t>Connecting with Other Tools</a:t>
            </a:r>
          </a:p>
          <a:p>
            <a:r>
              <a:rPr lang="en-US" dirty="0"/>
              <a:t>Keeping Up with the Profession</a:t>
            </a:r>
          </a:p>
          <a:p>
            <a:r>
              <a:rPr lang="en-US" dirty="0"/>
              <a:t>Room for Innovation</a:t>
            </a:r>
          </a:p>
        </p:txBody>
      </p:sp>
      <p:sp>
        <p:nvSpPr>
          <p:cNvPr id="5" name="TextBox 4">
            <a:extLst>
              <a:ext uri="{FF2B5EF4-FFF2-40B4-BE49-F238E27FC236}">
                <a16:creationId xmlns:a16="http://schemas.microsoft.com/office/drawing/2014/main" id="{4750170D-3359-99CC-9EA4-D165A07D6255}"/>
              </a:ext>
            </a:extLst>
          </p:cNvPr>
          <p:cNvSpPr txBox="1"/>
          <p:nvPr/>
        </p:nvSpPr>
        <p:spPr>
          <a:xfrm>
            <a:off x="-71437" y="5919743"/>
            <a:ext cx="12334874" cy="369332"/>
          </a:xfrm>
          <a:prstGeom prst="rect">
            <a:avLst/>
          </a:prstGeom>
          <a:noFill/>
        </p:spPr>
        <p:txBody>
          <a:bodyPr wrap="square">
            <a:spAutoFit/>
          </a:bodyPr>
          <a:lstStyle/>
          <a:p>
            <a:pPr algn="ctr"/>
            <a:r>
              <a:rPr lang="en-US" i="1" dirty="0"/>
              <a:t>Learning Python won’t make you less of an actuary — it’ll make you a </a:t>
            </a:r>
            <a:r>
              <a:rPr lang="en-US" b="1" i="1" dirty="0"/>
              <a:t>smarter, faster, and more future-ready actuary.</a:t>
            </a:r>
            <a:endParaRPr lang="en-US" i="1" dirty="0"/>
          </a:p>
        </p:txBody>
      </p:sp>
      <p:sp>
        <p:nvSpPr>
          <p:cNvPr id="4" name="Slide Number Placeholder 3">
            <a:extLst>
              <a:ext uri="{FF2B5EF4-FFF2-40B4-BE49-F238E27FC236}">
                <a16:creationId xmlns:a16="http://schemas.microsoft.com/office/drawing/2014/main" id="{5377BDAB-9B38-EABD-B240-AF9A49E67834}"/>
              </a:ext>
            </a:extLst>
          </p:cNvPr>
          <p:cNvSpPr>
            <a:spLocks noGrp="1"/>
          </p:cNvSpPr>
          <p:nvPr>
            <p:ph type="sldNum" sz="quarter" idx="12"/>
          </p:nvPr>
        </p:nvSpPr>
        <p:spPr/>
        <p:txBody>
          <a:bodyPr/>
          <a:lstStyle/>
          <a:p>
            <a:fld id="{2E56E1C3-8280-5F44-A2EB-A8DA95340368}" type="slidenum">
              <a:rPr lang="en-US" smtClean="0"/>
              <a:t>5</a:t>
            </a:fld>
            <a:endParaRPr lang="en-US"/>
          </a:p>
        </p:txBody>
      </p:sp>
    </p:spTree>
    <p:extLst>
      <p:ext uri="{BB962C8B-B14F-4D97-AF65-F5344CB8AC3E}">
        <p14:creationId xmlns:p14="http://schemas.microsoft.com/office/powerpoint/2010/main" val="790304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E286C-871E-AF75-2F62-6B2017BDA2BA}"/>
              </a:ext>
            </a:extLst>
          </p:cNvPr>
          <p:cNvSpPr>
            <a:spLocks noGrp="1"/>
          </p:cNvSpPr>
          <p:nvPr>
            <p:ph type="title"/>
          </p:nvPr>
        </p:nvSpPr>
        <p:spPr/>
        <p:txBody>
          <a:bodyPr/>
          <a:lstStyle/>
          <a:p>
            <a:r>
              <a:rPr lang="en-US" dirty="0"/>
              <a:t>Actuarial Applications</a:t>
            </a:r>
          </a:p>
        </p:txBody>
      </p:sp>
      <p:graphicFrame>
        <p:nvGraphicFramePr>
          <p:cNvPr id="7" name="Content Placeholder 2">
            <a:extLst>
              <a:ext uri="{FF2B5EF4-FFF2-40B4-BE49-F238E27FC236}">
                <a16:creationId xmlns:a16="http://schemas.microsoft.com/office/drawing/2014/main" id="{F53F2B3B-CC95-67C3-A7E1-1DADFB823B0F}"/>
              </a:ext>
            </a:extLst>
          </p:cNvPr>
          <p:cNvGraphicFramePr>
            <a:graphicFrameLocks noGrp="1"/>
          </p:cNvGraphicFramePr>
          <p:nvPr>
            <p:ph idx="1"/>
          </p:nvPr>
        </p:nvGraphicFramePr>
        <p:xfrm>
          <a:off x="838200" y="1692613"/>
          <a:ext cx="10515600" cy="4484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205516FC-A3D6-892E-8CD5-C5385D3D8A83}"/>
              </a:ext>
            </a:extLst>
          </p:cNvPr>
          <p:cNvSpPr>
            <a:spLocks noGrp="1"/>
          </p:cNvSpPr>
          <p:nvPr>
            <p:ph type="sldNum" sz="quarter" idx="12"/>
          </p:nvPr>
        </p:nvSpPr>
        <p:spPr/>
        <p:txBody>
          <a:bodyPr/>
          <a:lstStyle/>
          <a:p>
            <a:fld id="{2E56E1C3-8280-5F44-A2EB-A8DA95340368}" type="slidenum">
              <a:rPr lang="en-US" smtClean="0"/>
              <a:t>6</a:t>
            </a:fld>
            <a:endParaRPr lang="en-US"/>
          </a:p>
        </p:txBody>
      </p:sp>
    </p:spTree>
    <p:extLst>
      <p:ext uri="{BB962C8B-B14F-4D97-AF65-F5344CB8AC3E}">
        <p14:creationId xmlns:p14="http://schemas.microsoft.com/office/powerpoint/2010/main" val="4051537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DA3D9-FCBE-C529-A615-4C870B5FA649}"/>
              </a:ext>
            </a:extLst>
          </p:cNvPr>
          <p:cNvSpPr>
            <a:spLocks noGrp="1"/>
          </p:cNvSpPr>
          <p:nvPr>
            <p:ph type="title"/>
          </p:nvPr>
        </p:nvSpPr>
        <p:spPr/>
        <p:txBody>
          <a:bodyPr/>
          <a:lstStyle/>
          <a:p>
            <a:r>
              <a:rPr lang="en-US"/>
              <a:t>Getting Started with Python</a:t>
            </a:r>
            <a:endParaRPr lang="en-US" dirty="0"/>
          </a:p>
        </p:txBody>
      </p:sp>
      <p:graphicFrame>
        <p:nvGraphicFramePr>
          <p:cNvPr id="5" name="Content Placeholder 2">
            <a:extLst>
              <a:ext uri="{FF2B5EF4-FFF2-40B4-BE49-F238E27FC236}">
                <a16:creationId xmlns:a16="http://schemas.microsoft.com/office/drawing/2014/main" id="{2462B415-A0BD-CD88-4A23-A9395CFFDAAA}"/>
              </a:ext>
            </a:extLst>
          </p:cNvPr>
          <p:cNvGraphicFramePr>
            <a:graphicFrameLocks noGrp="1"/>
          </p:cNvGraphicFramePr>
          <p:nvPr>
            <p:ph idx="1"/>
            <p:extLst>
              <p:ext uri="{D42A27DB-BD31-4B8C-83A1-F6EECF244321}">
                <p14:modId xmlns:p14="http://schemas.microsoft.com/office/powerpoint/2010/main" val="3280015857"/>
              </p:ext>
            </p:extLst>
          </p:nvPr>
        </p:nvGraphicFramePr>
        <p:xfrm>
          <a:off x="838200" y="1692613"/>
          <a:ext cx="10515600" cy="4484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F3253F62-0503-87B2-80E9-CFC62DF3D0A3}"/>
              </a:ext>
            </a:extLst>
          </p:cNvPr>
          <p:cNvSpPr>
            <a:spLocks noGrp="1"/>
          </p:cNvSpPr>
          <p:nvPr>
            <p:ph type="sldNum" sz="quarter" idx="12"/>
          </p:nvPr>
        </p:nvSpPr>
        <p:spPr/>
        <p:txBody>
          <a:bodyPr/>
          <a:lstStyle/>
          <a:p>
            <a:fld id="{2E56E1C3-8280-5F44-A2EB-A8DA95340368}" type="slidenum">
              <a:rPr lang="en-US" smtClean="0"/>
              <a:t>7</a:t>
            </a:fld>
            <a:endParaRPr lang="en-US"/>
          </a:p>
        </p:txBody>
      </p:sp>
    </p:spTree>
    <p:extLst>
      <p:ext uri="{BB962C8B-B14F-4D97-AF65-F5344CB8AC3E}">
        <p14:creationId xmlns:p14="http://schemas.microsoft.com/office/powerpoint/2010/main" val="3554068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Hands-on 1: Python Basics (25 minutes)</a:t>
            </a:r>
          </a:p>
        </p:txBody>
      </p:sp>
      <p:sp>
        <p:nvSpPr>
          <p:cNvPr id="3" name="Content Placeholder 2"/>
          <p:cNvSpPr>
            <a:spLocks noGrp="1"/>
          </p:cNvSpPr>
          <p:nvPr>
            <p:ph idx="1"/>
          </p:nvPr>
        </p:nvSpPr>
        <p:spPr/>
        <p:txBody>
          <a:bodyPr wrap="square"/>
          <a:lstStyle/>
          <a:p>
            <a:pPr>
              <a:spcAft>
                <a:spcPts val="600"/>
              </a:spcAft>
            </a:pPr>
            <a:r>
              <a:rPr sz="2000"/>
              <a:t>Open Notebook1_Python_Basics.ipynb in Colab and follow along - read the text, press Shift + Enter on each grey cell</a:t>
            </a:r>
          </a:p>
          <a:p>
            <a:pPr>
              <a:spcAft>
                <a:spcPts val="600"/>
              </a:spcAft>
            </a:pPr>
            <a:r>
              <a:rPr sz="2000"/>
              <a:t>What you will write</a:t>
            </a:r>
          </a:p>
          <a:p>
            <a:pPr lvl="1">
              <a:spcAft>
                <a:spcPts val="600"/>
              </a:spcAft>
            </a:pPr>
            <a:r>
              <a:rPr sz="1700"/>
              <a:t>Variables, arithmetic and f-strings - premiums and discount factors</a:t>
            </a:r>
          </a:p>
          <a:p>
            <a:pPr lvl="1">
              <a:spcAft>
                <a:spcPts val="600"/>
              </a:spcAft>
            </a:pPr>
            <a:r>
              <a:rPr sz="1700"/>
              <a:t>if / elif / else - a BMI category and a simple underwriting loading</a:t>
            </a:r>
          </a:p>
          <a:p>
            <a:pPr lvl="1">
              <a:spcAft>
                <a:spcPts val="600"/>
              </a:spcAft>
            </a:pPr>
            <a:r>
              <a:rPr sz="1700"/>
              <a:t>Lists and for loops - a mortality table: qx in, lx and dx out</a:t>
            </a:r>
          </a:p>
          <a:p>
            <a:pPr lvl="1">
              <a:spcAft>
                <a:spcPts val="600"/>
              </a:spcAft>
            </a:pPr>
            <a:r>
              <a:rPr sz="1700"/>
              <a:t>Functions - the EPV of a term assurance, then a sensitivity test in one loop</a:t>
            </a:r>
          </a:p>
          <a:p>
            <a:pPr>
              <a:spcAft>
                <a:spcPts val="600"/>
              </a:spcAft>
            </a:pPr>
            <a:r>
              <a:rPr sz="2000"/>
              <a:t>Five minutes at the end for the 'Your turn' exercise - the annuity-due is the one to try</a:t>
            </a:r>
          </a:p>
        </p:txBody>
      </p:sp>
      <p:sp>
        <p:nvSpPr>
          <p:cNvPr id="4" name="Slide Number Placeholder 2">
            <a:extLst>
              <a:ext uri="{FF2B5EF4-FFF2-40B4-BE49-F238E27FC236}">
                <a16:creationId xmlns:a16="http://schemas.microsoft.com/office/drawing/2014/main" id="{429C8A5D-8609-7199-16B5-F34EE28F021F}"/>
              </a:ext>
            </a:extLst>
          </p:cNvPr>
          <p:cNvSpPr>
            <a:spLocks noGrp="1"/>
          </p:cNvSpPr>
          <p:nvPr>
            <p:ph type="sldNum" sz="quarter" idx="12"/>
          </p:nvPr>
        </p:nvSpPr>
        <p:spPr/>
        <p:txBody>
          <a:bodyPr/>
          <a:lstStyle/>
          <a:p>
            <a:fld id="{2E56E1C3-8280-5F44-A2EB-A8DA95340368}"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5537D-F991-7FB9-3305-20B7F865F8C4}"/>
              </a:ext>
            </a:extLst>
          </p:cNvPr>
          <p:cNvSpPr>
            <a:spLocks noGrp="1"/>
          </p:cNvSpPr>
          <p:nvPr>
            <p:ph type="title"/>
          </p:nvPr>
        </p:nvSpPr>
        <p:spPr/>
        <p:txBody>
          <a:bodyPr/>
          <a:lstStyle/>
          <a:p>
            <a:r>
              <a:rPr lang="en-US" dirty="0"/>
              <a:t>Python Basics</a:t>
            </a:r>
          </a:p>
        </p:txBody>
      </p:sp>
      <p:graphicFrame>
        <p:nvGraphicFramePr>
          <p:cNvPr id="5" name="Content Placeholder 2">
            <a:extLst>
              <a:ext uri="{FF2B5EF4-FFF2-40B4-BE49-F238E27FC236}">
                <a16:creationId xmlns:a16="http://schemas.microsoft.com/office/drawing/2014/main" id="{DD58DB1D-C5A8-2847-34EB-42ED358FB8CA}"/>
              </a:ext>
            </a:extLst>
          </p:cNvPr>
          <p:cNvGraphicFramePr>
            <a:graphicFrameLocks noGrp="1"/>
          </p:cNvGraphicFramePr>
          <p:nvPr>
            <p:ph idx="1"/>
          </p:nvPr>
        </p:nvGraphicFramePr>
        <p:xfrm>
          <a:off x="838200" y="1692613"/>
          <a:ext cx="10515600" cy="4484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E4357B17-5FED-8178-5934-4311AAE66FE3}"/>
              </a:ext>
            </a:extLst>
          </p:cNvPr>
          <p:cNvSpPr>
            <a:spLocks noGrp="1"/>
          </p:cNvSpPr>
          <p:nvPr>
            <p:ph type="sldNum" sz="quarter" idx="12"/>
          </p:nvPr>
        </p:nvSpPr>
        <p:spPr/>
        <p:txBody>
          <a:bodyPr/>
          <a:lstStyle/>
          <a:p>
            <a:fld id="{2E56E1C3-8280-5F44-A2EB-A8DA95340368}" type="slidenum">
              <a:rPr lang="en-US" smtClean="0"/>
              <a:t>9</a:t>
            </a:fld>
            <a:endParaRPr lang="en-US"/>
          </a:p>
        </p:txBody>
      </p:sp>
    </p:spTree>
    <p:extLst>
      <p:ext uri="{BB962C8B-B14F-4D97-AF65-F5344CB8AC3E}">
        <p14:creationId xmlns:p14="http://schemas.microsoft.com/office/powerpoint/2010/main" val="567443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Hands-on 2: Data Analysis with pandas (45 minutes)</a:t>
            </a:r>
          </a:p>
        </p:txBody>
      </p:sp>
      <p:sp>
        <p:nvSpPr>
          <p:cNvPr id="3" name="Content Placeholder 2"/>
          <p:cNvSpPr>
            <a:spLocks noGrp="1"/>
          </p:cNvSpPr>
          <p:nvPr>
            <p:ph idx="1"/>
          </p:nvPr>
        </p:nvSpPr>
        <p:spPr>
          <a:xfrm>
            <a:off x="838200" y="3000000"/>
            <a:ext cx="10515600" cy="3300000"/>
          </a:xfrm>
        </p:spPr>
        <p:txBody>
          <a:bodyPr wrap="square"/>
          <a:lstStyle/>
          <a:p>
            <a:pPr>
              <a:spcAft>
                <a:spcPts val="600"/>
              </a:spcAft>
            </a:pPr>
            <a:r>
              <a:rPr sz="1800"/>
              <a:t>Dataset: 1,338 US health-insurance policyholders - age, sex, BMI, children, smoker, region, annual charges</a:t>
            </a:r>
          </a:p>
          <a:p>
            <a:pPr>
              <a:spcAft>
                <a:spcPts val="600"/>
              </a:spcAft>
            </a:pPr>
            <a:r>
              <a:rPr sz="1800"/>
              <a:t>Two actuarial examples built in the notebook</a:t>
            </a:r>
          </a:p>
          <a:p>
            <a:pPr lvl="1">
              <a:spcAft>
                <a:spcPts val="600"/>
              </a:spcAft>
            </a:pPr>
            <a:r>
              <a:rPr sz="1500"/>
              <a:t>Claim frequency by age band - pd.cut, a large-claim flag, groupby - a pricing table in three lines</a:t>
            </a:r>
          </a:p>
          <a:p>
            <a:pPr lvl="1">
              <a:spcAft>
                <a:spcPts val="600"/>
              </a:spcAft>
            </a:pPr>
            <a:r>
              <a:rPr sz="1500"/>
              <a:t>Severity distribution - the long right tail, and why we look at log(charges)</a:t>
            </a:r>
          </a:p>
          <a:p>
            <a:pPr>
              <a:spcAft>
                <a:spcPts val="600"/>
              </a:spcAft>
            </a:pPr>
            <a:r>
              <a:rPr sz="1800"/>
              <a:t>Also: handling missing values, correlation heatmap, and writing the result to Excel</a:t>
            </a:r>
          </a:p>
        </p:txBody>
      </p:sp>
      <p:sp>
        <p:nvSpPr>
          <p:cNvPr id="4" name="Rounded Rectangle 3"/>
          <p:cNvSpPr/>
          <p:nvPr/>
        </p:nvSpPr>
        <p:spPr>
          <a:xfrm>
            <a:off x="838200" y="1750000"/>
            <a:ext cx="1750000" cy="1100000"/>
          </a:xfrm>
          <a:prstGeom prst="round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FFFFFF"/>
                </a:solidFill>
              </a:rPr>
              <a:t>Load</a:t>
            </a:r>
          </a:p>
          <a:p>
            <a:pPr algn="ctr"/>
            <a:r>
              <a:rPr sz="1400">
                <a:solidFill>
                  <a:srgbClr val="FFFFFF"/>
                </a:solidFill>
              </a:rPr>
              <a:t>read_csv</a:t>
            </a:r>
          </a:p>
        </p:txBody>
      </p:sp>
      <p:sp>
        <p:nvSpPr>
          <p:cNvPr id="5" name="Right Arrow 4"/>
          <p:cNvSpPr/>
          <p:nvPr/>
        </p:nvSpPr>
        <p:spPr>
          <a:xfrm>
            <a:off x="2648200" y="2150000"/>
            <a:ext cx="320000" cy="290000"/>
          </a:xfrm>
          <a:prstGeom prst="rightArrow">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028200" y="1750000"/>
            <a:ext cx="1750000" cy="110000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FFFFFF"/>
                </a:solidFill>
              </a:rPr>
              <a:t>Explore</a:t>
            </a:r>
          </a:p>
          <a:p>
            <a:pPr algn="ctr"/>
            <a:r>
              <a:rPr sz="1400">
                <a:solidFill>
                  <a:srgbClr val="FFFFFF"/>
                </a:solidFill>
              </a:rPr>
              <a:t>head, info, describe</a:t>
            </a:r>
          </a:p>
        </p:txBody>
      </p:sp>
      <p:sp>
        <p:nvSpPr>
          <p:cNvPr id="7" name="Right Arrow 6"/>
          <p:cNvSpPr/>
          <p:nvPr/>
        </p:nvSpPr>
        <p:spPr>
          <a:xfrm>
            <a:off x="4838200" y="2150000"/>
            <a:ext cx="320000" cy="290000"/>
          </a:xfrm>
          <a:prstGeom prst="rightArrow">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218200" y="1750000"/>
            <a:ext cx="1750000" cy="1100000"/>
          </a:xfrm>
          <a:prstGeom prst="round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FFFFFF"/>
                </a:solidFill>
              </a:rPr>
              <a:t>Filter &amp; group</a:t>
            </a:r>
          </a:p>
          <a:p>
            <a:pPr algn="ctr"/>
            <a:r>
              <a:rPr sz="1400">
                <a:solidFill>
                  <a:srgbClr val="FFFFFF"/>
                </a:solidFill>
              </a:rPr>
              <a:t>conditions, groupby</a:t>
            </a:r>
          </a:p>
        </p:txBody>
      </p:sp>
      <p:sp>
        <p:nvSpPr>
          <p:cNvPr id="9" name="Right Arrow 8"/>
          <p:cNvSpPr/>
          <p:nvPr/>
        </p:nvSpPr>
        <p:spPr>
          <a:xfrm>
            <a:off x="7028200" y="2150000"/>
            <a:ext cx="320000" cy="290000"/>
          </a:xfrm>
          <a:prstGeom prst="rightArrow">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408200" y="1750000"/>
            <a:ext cx="1750000" cy="110000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FFFFFF"/>
                </a:solidFill>
              </a:rPr>
              <a:t>Chart</a:t>
            </a:r>
          </a:p>
          <a:p>
            <a:pPr algn="ctr"/>
            <a:r>
              <a:rPr sz="1400">
                <a:solidFill>
                  <a:srgbClr val="FFFFFF"/>
                </a:solidFill>
              </a:rPr>
              <a:t>matplotlib, seaborn</a:t>
            </a:r>
          </a:p>
        </p:txBody>
      </p:sp>
      <p:sp>
        <p:nvSpPr>
          <p:cNvPr id="11" name="Right Arrow 10"/>
          <p:cNvSpPr/>
          <p:nvPr/>
        </p:nvSpPr>
        <p:spPr>
          <a:xfrm>
            <a:off x="9218200" y="2150000"/>
            <a:ext cx="320000" cy="290000"/>
          </a:xfrm>
          <a:prstGeom prst="rightArrow">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598200" y="1750000"/>
            <a:ext cx="1750000" cy="1100000"/>
          </a:xfrm>
          <a:prstGeom prst="round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a:solidFill>
                  <a:srgbClr val="FFFFFF"/>
                </a:solidFill>
              </a:rPr>
              <a:t>Export</a:t>
            </a:r>
          </a:p>
          <a:p>
            <a:pPr algn="ctr"/>
            <a:r>
              <a:rPr sz="1400">
                <a:solidFill>
                  <a:srgbClr val="FFFFFF"/>
                </a:solidFill>
              </a:rPr>
              <a:t>to_excel</a:t>
            </a:r>
          </a:p>
        </p:txBody>
      </p:sp>
      <p:sp>
        <p:nvSpPr>
          <p:cNvPr id="13" name="Slide Number Placeholder 2">
            <a:extLst>
              <a:ext uri="{FF2B5EF4-FFF2-40B4-BE49-F238E27FC236}">
                <a16:creationId xmlns:a16="http://schemas.microsoft.com/office/drawing/2014/main" id="{429C8A5D-8609-7199-16B5-F34EE28F021F}"/>
              </a:ext>
            </a:extLst>
          </p:cNvPr>
          <p:cNvSpPr>
            <a:spLocks noGrp="1"/>
          </p:cNvSpPr>
          <p:nvPr>
            <p:ph type="sldNum" sz="quarter" idx="12"/>
          </p:nvPr>
        </p:nvSpPr>
        <p:spPr/>
        <p:txBody>
          <a:bodyPr/>
          <a:lstStyle/>
          <a:p>
            <a:fld id="{2E56E1C3-8280-5F44-A2EB-A8DA95340368}"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24AE2-31B0-9BE3-8378-A6D6CF69F176}"/>
              </a:ext>
            </a:extLst>
          </p:cNvPr>
          <p:cNvSpPr>
            <a:spLocks noGrp="1"/>
          </p:cNvSpPr>
          <p:nvPr>
            <p:ph type="title"/>
          </p:nvPr>
        </p:nvSpPr>
        <p:spPr/>
        <p:txBody>
          <a:bodyPr/>
          <a:lstStyle/>
          <a:p>
            <a:r>
              <a:t>Beyond Today: Where Python Takes You</a:t>
            </a:r>
          </a:p>
        </p:txBody>
      </p:sp>
      <p:graphicFrame>
        <p:nvGraphicFramePr>
          <p:cNvPr id="5" name="Content Placeholder 2">
            <a:extLst>
              <a:ext uri="{FF2B5EF4-FFF2-40B4-BE49-F238E27FC236}">
                <a16:creationId xmlns:a16="http://schemas.microsoft.com/office/drawing/2014/main" id="{F6BF1679-451B-5022-C239-1CD2D1B6166F}"/>
              </a:ext>
            </a:extLst>
          </p:cNvPr>
          <p:cNvGraphicFramePr>
            <a:graphicFrameLocks noGrp="1"/>
          </p:cNvGraphicFramePr>
          <p:nvPr>
            <p:ph idx="1"/>
          </p:nvPr>
        </p:nvGraphicFramePr>
        <p:xfrm>
          <a:off x="838200" y="1692613"/>
          <a:ext cx="10515600" cy="4484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85CA158-41D2-A042-E1A7-98F4A2CB375D}"/>
              </a:ext>
            </a:extLst>
          </p:cNvPr>
          <p:cNvSpPr>
            <a:spLocks noGrp="1"/>
          </p:cNvSpPr>
          <p:nvPr>
            <p:ph type="sldNum" sz="quarter" idx="12"/>
          </p:nvPr>
        </p:nvSpPr>
        <p:spPr/>
        <p:txBody>
          <a:bodyPr/>
          <a:lstStyle/>
          <a:p>
            <a:fld id="{2E56E1C3-8280-5F44-A2EB-A8DA95340368}" type="slidenum">
              <a:rPr lang="en-US" smtClean="0"/>
              <a:t>11</a:t>
            </a:fld>
            <a:endParaRPr lang="en-US"/>
          </a:p>
        </p:txBody>
      </p:sp>
    </p:spTree>
    <p:extLst>
      <p:ext uri="{BB962C8B-B14F-4D97-AF65-F5344CB8AC3E}">
        <p14:creationId xmlns:p14="http://schemas.microsoft.com/office/powerpoint/2010/main" val="4002789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Scripts to Agents</a:t>
            </a:r>
          </a:p>
        </p:txBody>
      </p:sp>
      <p:sp>
        <p:nvSpPr>
          <p:cNvPr id="3" name="Content Placeholder 2"/>
          <p:cNvSpPr>
            <a:spLocks noGrp="1"/>
          </p:cNvSpPr>
          <p:nvPr>
            <p:ph idx="1"/>
          </p:nvPr>
        </p:nvSpPr>
        <p:spPr>
          <a:xfrm>
            <a:off x="838200" y="4200000"/>
            <a:ext cx="10515600" cy="2000000"/>
          </a:xfrm>
        </p:spPr>
        <p:txBody>
          <a:bodyPr wrap="square"/>
          <a:lstStyle/>
          <a:p>
            <a:pPr>
              <a:spcAft>
                <a:spcPts val="600"/>
              </a:spcAft>
            </a:pPr>
            <a:r>
              <a:rPr sz="1700"/>
              <a:t>The arithmetic stays in your functions - deterministic and auditable. The model only chooses which function to call and explains the result.</a:t>
            </a:r>
          </a:p>
          <a:p>
            <a:pPr>
              <a:spcAft>
                <a:spcPts val="600"/>
              </a:spcAft>
            </a:pPr>
            <a:r>
              <a:rPr sz="1700"/>
              <a:t>That division of labour is why agents fit actuarial work: numbers from code you can check, language from the model.</a:t>
            </a:r>
          </a:p>
        </p:txBody>
      </p:sp>
      <p:sp>
        <p:nvSpPr>
          <p:cNvPr id="4" name="TextBox 3"/>
          <p:cNvSpPr txBox="1"/>
          <p:nvPr/>
        </p:nvSpPr>
        <p:spPr>
          <a:xfrm>
            <a:off x="838200" y="1550000"/>
            <a:ext cx="10515600" cy="600000"/>
          </a:xfrm>
          <a:prstGeom prst="rect">
            <a:avLst/>
          </a:prstGeom>
          <a:noFill/>
        </p:spPr>
        <p:txBody>
          <a:bodyPr wrap="square">
            <a:spAutoFit/>
          </a:bodyPr>
          <a:lstStyle/>
          <a:p>
            <a:pPr algn="l"/>
            <a:r>
              <a:rPr sz="1800" b="0" i="1">
                <a:solidFill>
                  <a:srgbClr val="262626"/>
                </a:solidFill>
              </a:rPr>
              <a:t>A language model on its own can only write text. An agent is a model that has been given tools, instructions, and permission to loop.</a:t>
            </a:r>
          </a:p>
        </p:txBody>
      </p:sp>
      <p:sp>
        <p:nvSpPr>
          <p:cNvPr id="5" name="Rounded Rectangle 4"/>
          <p:cNvSpPr/>
          <p:nvPr/>
        </p:nvSpPr>
        <p:spPr>
          <a:xfrm>
            <a:off x="838200" y="2450000"/>
            <a:ext cx="2350000" cy="1450000"/>
          </a:xfrm>
          <a:prstGeom prst="round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000" b="1">
                <a:solidFill>
                  <a:srgbClr val="FFFFFF"/>
                </a:solidFill>
              </a:rPr>
              <a:t>Model</a:t>
            </a:r>
          </a:p>
          <a:p>
            <a:pPr algn="ctr"/>
            <a:r>
              <a:rPr sz="1600">
                <a:solidFill>
                  <a:srgbClr val="FFFFFF"/>
                </a:solidFill>
              </a:rPr>
              <a:t>reads the question,
decides what to do</a:t>
            </a:r>
          </a:p>
        </p:txBody>
      </p:sp>
      <p:sp>
        <p:nvSpPr>
          <p:cNvPr id="6" name="TextBox 5"/>
          <p:cNvSpPr txBox="1"/>
          <p:nvPr/>
        </p:nvSpPr>
        <p:spPr>
          <a:xfrm>
            <a:off x="3188200" y="2930000"/>
            <a:ext cx="370000" cy="500000"/>
          </a:xfrm>
          <a:prstGeom prst="rect">
            <a:avLst/>
          </a:prstGeom>
          <a:noFill/>
        </p:spPr>
        <p:txBody>
          <a:bodyPr wrap="square">
            <a:spAutoFit/>
          </a:bodyPr>
          <a:lstStyle/>
          <a:p>
            <a:pPr algn="ctr"/>
            <a:r>
              <a:rPr sz="2800" b="1" i="0">
                <a:solidFill>
                  <a:srgbClr val="0E2841"/>
                </a:solidFill>
              </a:rPr>
              <a:t>+</a:t>
            </a:r>
          </a:p>
        </p:txBody>
      </p:sp>
      <p:sp>
        <p:nvSpPr>
          <p:cNvPr id="7" name="Rounded Rectangle 6"/>
          <p:cNvSpPr/>
          <p:nvPr/>
        </p:nvSpPr>
        <p:spPr>
          <a:xfrm>
            <a:off x="3558200" y="2450000"/>
            <a:ext cx="2350000" cy="145000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000" b="1">
                <a:solidFill>
                  <a:srgbClr val="FFFFFF"/>
                </a:solidFill>
              </a:rPr>
              <a:t>Tools</a:t>
            </a:r>
          </a:p>
          <a:p>
            <a:pPr algn="ctr"/>
            <a:r>
              <a:rPr sz="1600">
                <a:solidFill>
                  <a:srgbClr val="FFFFFF"/>
                </a:solidFill>
              </a:rPr>
              <a:t>ordinary Python functions -
your pandas code</a:t>
            </a:r>
          </a:p>
        </p:txBody>
      </p:sp>
      <p:sp>
        <p:nvSpPr>
          <p:cNvPr id="8" name="TextBox 7"/>
          <p:cNvSpPr txBox="1"/>
          <p:nvPr/>
        </p:nvSpPr>
        <p:spPr>
          <a:xfrm>
            <a:off x="5908200" y="2930000"/>
            <a:ext cx="370000" cy="500000"/>
          </a:xfrm>
          <a:prstGeom prst="rect">
            <a:avLst/>
          </a:prstGeom>
          <a:noFill/>
        </p:spPr>
        <p:txBody>
          <a:bodyPr wrap="square">
            <a:spAutoFit/>
          </a:bodyPr>
          <a:lstStyle/>
          <a:p>
            <a:pPr algn="ctr"/>
            <a:r>
              <a:rPr sz="2800" b="1" i="0">
                <a:solidFill>
                  <a:srgbClr val="0E2841"/>
                </a:solidFill>
              </a:rPr>
              <a:t>+</a:t>
            </a:r>
          </a:p>
        </p:txBody>
      </p:sp>
      <p:sp>
        <p:nvSpPr>
          <p:cNvPr id="9" name="Rounded Rectangle 8"/>
          <p:cNvSpPr/>
          <p:nvPr/>
        </p:nvSpPr>
        <p:spPr>
          <a:xfrm>
            <a:off x="6278200" y="2450000"/>
            <a:ext cx="2350000" cy="1450000"/>
          </a:xfrm>
          <a:prstGeom prst="round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000" b="1">
                <a:solidFill>
                  <a:srgbClr val="FFFFFF"/>
                </a:solidFill>
              </a:rPr>
              <a:t>Instructions</a:t>
            </a:r>
          </a:p>
          <a:p>
            <a:pPr algn="ctr"/>
            <a:r>
              <a:rPr sz="1600">
                <a:solidFill>
                  <a:srgbClr val="FFFFFF"/>
                </a:solidFill>
              </a:rPr>
              <a:t>the rules you set:
'never invent a number'</a:t>
            </a:r>
          </a:p>
        </p:txBody>
      </p:sp>
      <p:sp>
        <p:nvSpPr>
          <p:cNvPr id="10" name="TextBox 9"/>
          <p:cNvSpPr txBox="1"/>
          <p:nvPr/>
        </p:nvSpPr>
        <p:spPr>
          <a:xfrm>
            <a:off x="8628200" y="2930000"/>
            <a:ext cx="370000" cy="500000"/>
          </a:xfrm>
          <a:prstGeom prst="rect">
            <a:avLst/>
          </a:prstGeom>
          <a:noFill/>
        </p:spPr>
        <p:txBody>
          <a:bodyPr wrap="square">
            <a:spAutoFit/>
          </a:bodyPr>
          <a:lstStyle/>
          <a:p>
            <a:pPr algn="ctr"/>
            <a:r>
              <a:rPr sz="2800" b="1" i="0">
                <a:solidFill>
                  <a:srgbClr val="0E2841"/>
                </a:solidFill>
              </a:rPr>
              <a:t>+</a:t>
            </a:r>
          </a:p>
        </p:txBody>
      </p:sp>
      <p:sp>
        <p:nvSpPr>
          <p:cNvPr id="11" name="Rounded Rectangle 10"/>
          <p:cNvSpPr/>
          <p:nvPr/>
        </p:nvSpPr>
        <p:spPr>
          <a:xfrm>
            <a:off x="8998200" y="2450000"/>
            <a:ext cx="2350000" cy="145000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2000" b="1">
                <a:solidFill>
                  <a:srgbClr val="FFFFFF"/>
                </a:solidFill>
              </a:rPr>
              <a:t>Loop</a:t>
            </a:r>
          </a:p>
          <a:p>
            <a:pPr algn="ctr"/>
            <a:r>
              <a:rPr sz="1600">
                <a:solidFill>
                  <a:srgbClr val="FFFFFF"/>
                </a:solidFill>
              </a:rPr>
              <a:t>call a tool, read the result,
repeat until it can answer</a:t>
            </a:r>
          </a:p>
        </p:txBody>
      </p:sp>
      <p:sp>
        <p:nvSpPr>
          <p:cNvPr id="12" name="Slide Number Placeholder 2">
            <a:extLst>
              <a:ext uri="{FF2B5EF4-FFF2-40B4-BE49-F238E27FC236}">
                <a16:creationId xmlns:a16="http://schemas.microsoft.com/office/drawing/2014/main" id="{429C8A5D-8609-7199-16B5-F34EE28F021F}"/>
              </a:ext>
            </a:extLst>
          </p:cNvPr>
          <p:cNvSpPr>
            <a:spLocks noGrp="1"/>
          </p:cNvSpPr>
          <p:nvPr>
            <p:ph type="sldNum" sz="quarter" idx="12"/>
          </p:nvPr>
        </p:nvSpPr>
        <p:spPr/>
        <p:txBody>
          <a:bodyPr/>
          <a:lstStyle/>
          <a:p>
            <a:fld id="{2E56E1C3-8280-5F44-A2EB-A8DA95340368}"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56"/>
            <a:ext cx="11071302" cy="1278122"/>
          </a:xfrm>
        </p:spPr>
        <p:txBody>
          <a:bodyPr>
            <a:normAutofit fontScale="90000"/>
          </a:bodyPr>
          <a:lstStyle/>
          <a:p>
            <a:r>
              <a:rPr dirty="0"/>
              <a:t>Hands-on 3: Your First Agent with Agno (20 minutes)</a:t>
            </a:r>
          </a:p>
        </p:txBody>
      </p:sp>
      <p:sp>
        <p:nvSpPr>
          <p:cNvPr id="3" name="Content Placeholder 2"/>
          <p:cNvSpPr>
            <a:spLocks noGrp="1"/>
          </p:cNvSpPr>
          <p:nvPr>
            <p:ph idx="1"/>
          </p:nvPr>
        </p:nvSpPr>
        <p:spPr/>
        <p:txBody>
          <a:bodyPr wrap="square"/>
          <a:lstStyle/>
          <a:p>
            <a:pPr>
              <a:spcAft>
                <a:spcPts val="600"/>
              </a:spcAft>
            </a:pPr>
            <a:r>
              <a:rPr sz="1800"/>
              <a:t>Open Notebook3_Agentic_AI_Agno.ipynb. It uses the same dataset and the same pandas logic as Notebook 2</a:t>
            </a:r>
          </a:p>
          <a:p>
            <a:pPr>
              <a:spcAft>
                <a:spcPts val="600"/>
              </a:spcAft>
            </a:pPr>
            <a:r>
              <a:rPr sz="1800"/>
              <a:t>You need one thing: a free Gemini API key</a:t>
            </a:r>
          </a:p>
          <a:p>
            <a:pPr lvl="1">
              <a:spcAft>
                <a:spcPts val="600"/>
              </a:spcAft>
            </a:pPr>
            <a:r>
              <a:rPr sz="1500"/>
              <a:t>aistudio.google.com/apikey -&gt; Create API key -&gt; copy it</a:t>
            </a:r>
          </a:p>
          <a:p>
            <a:pPr lvl="1">
              <a:spcAft>
                <a:spcPts val="600"/>
              </a:spcAft>
            </a:pPr>
            <a:r>
              <a:rPr sz="1500"/>
              <a:t>In Colab: key icon on the left (Secrets) -&gt; add GOOGLE_API_KEY -&gt; switch on Notebook access</a:t>
            </a:r>
          </a:p>
          <a:p>
            <a:pPr>
              <a:spcAft>
                <a:spcPts val="600"/>
              </a:spcAft>
            </a:pPr>
            <a:r>
              <a:rPr sz="1800"/>
              <a:t>What happens in the notebook</a:t>
            </a:r>
          </a:p>
          <a:p>
            <a:pPr lvl="1">
              <a:spcAft>
                <a:spcPts val="600"/>
              </a:spcAft>
            </a:pPr>
            <a:r>
              <a:rPr sz="1500"/>
              <a:t>Ask the model about our data with no tools - watch it guess or decline</a:t>
            </a:r>
          </a:p>
          <a:p>
            <a:pPr lvl="1">
              <a:spcAft>
                <a:spcPts val="600"/>
              </a:spcAft>
            </a:pPr>
            <a:r>
              <a:rPr sz="1500"/>
              <a:t>Give it two tools: average_charges() and large_claim_frequency() - about 20 lines of Python</a:t>
            </a:r>
          </a:p>
          <a:p>
            <a:pPr lvl="1">
              <a:spcAft>
                <a:spcPts val="600"/>
              </a:spcAft>
            </a:pPr>
            <a:r>
              <a:rPr sz="1500"/>
              <a:t>Ask the same question again and watch it call your functions and answer correctly</a:t>
            </a:r>
          </a:p>
          <a:p>
            <a:pPr>
              <a:spcAft>
                <a:spcPts val="600"/>
              </a:spcAft>
            </a:pPr>
            <a:r>
              <a:rPr sz="1800"/>
              <a:t>Agno is an open-source Python framework for agents; the whole agent is ~10 lines of code</a:t>
            </a:r>
          </a:p>
        </p:txBody>
      </p:sp>
      <p:sp>
        <p:nvSpPr>
          <p:cNvPr id="4" name="Slide Number Placeholder 2">
            <a:extLst>
              <a:ext uri="{FF2B5EF4-FFF2-40B4-BE49-F238E27FC236}">
                <a16:creationId xmlns:a16="http://schemas.microsoft.com/office/drawing/2014/main" id="{429C8A5D-8609-7199-16B5-F34EE28F021F}"/>
              </a:ext>
            </a:extLst>
          </p:cNvPr>
          <p:cNvSpPr>
            <a:spLocks noGrp="1"/>
          </p:cNvSpPr>
          <p:nvPr>
            <p:ph type="sldNum" sz="quarter" idx="12"/>
          </p:nvPr>
        </p:nvSpPr>
        <p:spPr/>
        <p:txBody>
          <a:bodyPr/>
          <a:lstStyle/>
          <a:p>
            <a:fld id="{2E56E1C3-8280-5F44-A2EB-A8DA95340368}"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This Means for Actuarial Teaching</a:t>
            </a:r>
          </a:p>
        </p:txBody>
      </p:sp>
      <p:sp>
        <p:nvSpPr>
          <p:cNvPr id="3" name="Content Placeholder 2"/>
          <p:cNvSpPr>
            <a:spLocks noGrp="1"/>
          </p:cNvSpPr>
          <p:nvPr>
            <p:ph idx="1"/>
          </p:nvPr>
        </p:nvSpPr>
        <p:spPr/>
        <p:txBody>
          <a:bodyPr wrap="square"/>
          <a:lstStyle/>
          <a:p>
            <a:pPr>
              <a:spcAft>
                <a:spcPts val="600"/>
              </a:spcAft>
            </a:pPr>
            <a:r>
              <a:rPr sz="1800"/>
              <a:t>The tools are the actuarial content. A good tool is a well-documented Python function - which is what Notebooks 1 and 2 teach</a:t>
            </a:r>
          </a:p>
          <a:p>
            <a:pPr>
              <a:spcAft>
                <a:spcPts val="600"/>
              </a:spcAft>
            </a:pPr>
            <a:r>
              <a:rPr sz="1800"/>
              <a:t>The instructions are guardrails you write: 'always use the tools', 'never estimate a figure', 'say when you cannot answer'</a:t>
            </a:r>
          </a:p>
          <a:p>
            <a:pPr>
              <a:spcAft>
                <a:spcPts val="600"/>
              </a:spcAft>
            </a:pPr>
            <a:r>
              <a:rPr sz="1800"/>
              <a:t>Everything worth auditing - filters, thresholds, arithmetic - lives in code, not inside the model</a:t>
            </a:r>
          </a:p>
          <a:p>
            <a:pPr>
              <a:spcAft>
                <a:spcPts val="600"/>
              </a:spcAft>
            </a:pPr>
            <a:r>
              <a:rPr sz="1800"/>
              <a:t>Same pattern, bigger tools: a tool that fits a GLM, one that reads a policy document, one that writes the Excel report</a:t>
            </a:r>
          </a:p>
          <a:p>
            <a:pPr>
              <a:spcAft>
                <a:spcPts val="600"/>
              </a:spcAft>
            </a:pPr>
            <a:r>
              <a:rPr sz="1800"/>
              <a:t>Same pattern, more agents: a data checker, a modeller and a reviewer, each with its own role and tools</a:t>
            </a:r>
          </a:p>
          <a:p>
            <a:pPr>
              <a:spcAft>
                <a:spcPts val="600"/>
              </a:spcAft>
            </a:pPr>
            <a:r>
              <a:rPr sz="1800"/>
              <a:t>For the classroom: students who can write the function can now build the agent - the barrier is the actuarial thinking, not the AI</a:t>
            </a:r>
          </a:p>
        </p:txBody>
      </p:sp>
      <p:sp>
        <p:nvSpPr>
          <p:cNvPr id="4" name="Slide Number Placeholder 2">
            <a:extLst>
              <a:ext uri="{FF2B5EF4-FFF2-40B4-BE49-F238E27FC236}">
                <a16:creationId xmlns:a16="http://schemas.microsoft.com/office/drawing/2014/main" id="{429C8A5D-8609-7199-16B5-F34EE28F021F}"/>
              </a:ext>
            </a:extLst>
          </p:cNvPr>
          <p:cNvSpPr>
            <a:spLocks noGrp="1"/>
          </p:cNvSpPr>
          <p:nvPr>
            <p:ph type="sldNum" sz="quarter" idx="12"/>
          </p:nvPr>
        </p:nvSpPr>
        <p:spPr/>
        <p:txBody>
          <a:bodyPr/>
          <a:lstStyle/>
          <a:p>
            <a:fld id="{2E56E1C3-8280-5F44-A2EB-A8DA95340368}"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Take It Back to Your Classroom</a:t>
            </a:r>
          </a:p>
        </p:txBody>
      </p:sp>
      <p:sp>
        <p:nvSpPr>
          <p:cNvPr id="3" name="Content Placeholder 2"/>
          <p:cNvSpPr>
            <a:spLocks noGrp="1"/>
          </p:cNvSpPr>
          <p:nvPr>
            <p:ph idx="1"/>
          </p:nvPr>
        </p:nvSpPr>
        <p:spPr/>
        <p:txBody>
          <a:bodyPr wrap="square"/>
          <a:lstStyle/>
          <a:p>
            <a:pPr>
              <a:spcAft>
                <a:spcPts val="600"/>
              </a:spcAft>
            </a:pPr>
            <a:r>
              <a:rPr sz="1800"/>
              <a:t>Everything from today is in the 2026 AFDP Python Training folder: three notebooks, the dataset, a README and the Colab / Anaconda instructions</a:t>
            </a:r>
          </a:p>
          <a:p>
            <a:pPr>
              <a:spcAft>
                <a:spcPts val="600"/>
              </a:spcAft>
            </a:pPr>
            <a:r>
              <a:rPr sz="1800"/>
              <a:t>This week: re-run the three notebooks on your own and do the 'Your turn' exercises - that is where the learning sticks</a:t>
            </a:r>
          </a:p>
          <a:p>
            <a:pPr>
              <a:spcAft>
                <a:spcPts val="600"/>
              </a:spcAft>
            </a:pPr>
            <a:r>
              <a:rPr sz="1800"/>
              <a:t>This term: replace one Excel demonstration in a course you teach with a 20-line Python cell. A mortality table or a claims summary is enough</a:t>
            </a:r>
          </a:p>
          <a:p>
            <a:pPr>
              <a:spcAft>
                <a:spcPts val="600"/>
              </a:spcAft>
            </a:pPr>
            <a:r>
              <a:rPr sz="1800"/>
              <a:t>Resources</a:t>
            </a:r>
          </a:p>
          <a:p>
            <a:pPr lvl="1">
              <a:spcAft>
                <a:spcPts val="600"/>
              </a:spcAft>
            </a:pPr>
            <a:r>
              <a:rPr sz="1500"/>
              <a:t>Google Colab - colab.research.google.com (free, nothing to install)</a:t>
            </a:r>
          </a:p>
          <a:p>
            <a:pPr lvl="1">
              <a:spcAft>
                <a:spcPts val="600"/>
              </a:spcAft>
            </a:pPr>
            <a:r>
              <a:rPr sz="1500"/>
              <a:t>pandas documentation - pandas.pydata.org; the '10 minutes to pandas' page is the right next step</a:t>
            </a:r>
          </a:p>
          <a:p>
            <a:pPr lvl="1">
              <a:spcAft>
                <a:spcPts val="600"/>
              </a:spcAft>
            </a:pPr>
            <a:r>
              <a:rPr sz="1500"/>
              <a:t>Agno documentation - docs.agno.com; the free Gemini key from aistudio.google.com</a:t>
            </a:r>
          </a:p>
          <a:p>
            <a:pPr lvl="1">
              <a:spcAft>
                <a:spcPts val="600"/>
              </a:spcAft>
            </a:pPr>
            <a:r>
              <a:rPr sz="1500"/>
              <a:t>Dataset - Kaggle, 'US Health Insurance Dataset'</a:t>
            </a:r>
          </a:p>
        </p:txBody>
      </p:sp>
      <p:sp>
        <p:nvSpPr>
          <p:cNvPr id="4" name="Slide Number Placeholder 2">
            <a:extLst>
              <a:ext uri="{FF2B5EF4-FFF2-40B4-BE49-F238E27FC236}">
                <a16:creationId xmlns:a16="http://schemas.microsoft.com/office/drawing/2014/main" id="{429C8A5D-8609-7199-16B5-F34EE28F021F}"/>
              </a:ext>
            </a:extLst>
          </p:cNvPr>
          <p:cNvSpPr>
            <a:spLocks noGrp="1"/>
          </p:cNvSpPr>
          <p:nvPr>
            <p:ph type="sldNum" sz="quarter" idx="12"/>
          </p:nvPr>
        </p:nvSpPr>
        <p:spPr/>
        <p:txBody>
          <a:bodyPr/>
          <a:lstStyle/>
          <a:p>
            <a:fld id="{2E56E1C3-8280-5F44-A2EB-A8DA95340368}"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Questions</a:t>
            </a:r>
          </a:p>
        </p:txBody>
      </p:sp>
      <p:sp>
        <p:nvSpPr>
          <p:cNvPr id="3" name="Subtitle 2"/>
          <p:cNvSpPr>
            <a:spLocks noGrp="1"/>
          </p:cNvSpPr>
          <p:nvPr>
            <p:ph type="subTitle" idx="1"/>
          </p:nvPr>
        </p:nvSpPr>
        <p:spPr/>
        <p:txBody>
          <a:bodyPr/>
          <a:lstStyle/>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CTEX Simplified Presentation" id="{A3FA4CDF-2714-3148-BCB3-7E79399E3754}" vid="{91DFA6CA-0D1D-B343-81C7-00546A48FC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365838e-5742-406c-8643-fccf082479df">
      <Terms xmlns="http://schemas.microsoft.com/office/infopath/2007/PartnerControls"/>
    </lcf76f155ced4ddcb4097134ff3c332f>
    <TaxCatchAll xmlns="52d5e68b-42aa-4e72-89be-0e77d4ed4a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3397C6321A5CD4F9AEF20D465EC24EA" ma:contentTypeVersion="11" ma:contentTypeDescription="Create a new document." ma:contentTypeScope="" ma:versionID="62f04c541ba0253f91b331ea43e2d9ea">
  <xsd:schema xmlns:xsd="http://www.w3.org/2001/XMLSchema" xmlns:xs="http://www.w3.org/2001/XMLSchema" xmlns:p="http://schemas.microsoft.com/office/2006/metadata/properties" xmlns:ns2="7365838e-5742-406c-8643-fccf082479df" xmlns:ns3="52d5e68b-42aa-4e72-89be-0e77d4ed4a9a" targetNamespace="http://schemas.microsoft.com/office/2006/metadata/properties" ma:root="true" ma:fieldsID="5cae06a019a75c24c9c9fbb798a26d9e" ns2:_="" ns3:_="">
    <xsd:import namespace="7365838e-5742-406c-8643-fccf082479df"/>
    <xsd:import namespace="52d5e68b-42aa-4e72-89be-0e77d4ed4a9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65838e-5742-406c-8643-fccf082479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a13d453-1d4d-4574-b55a-016e37864ad2"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2d5e68b-42aa-4e72-89be-0e77d4ed4a9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be32e77-3489-4dc6-98d5-1d52ffb41b53}" ma:internalName="TaxCatchAll" ma:showField="CatchAllData" ma:web="52d5e68b-42aa-4e72-89be-0e77d4ed4a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731122-71DB-458F-AC4E-8E8476744D67}">
  <ds:schemaRefs>
    <ds:schemaRef ds:uri="http://schemas.microsoft.com/office/2006/metadata/properties"/>
    <ds:schemaRef ds:uri="http://schemas.microsoft.com/office/infopath/2007/PartnerControls"/>
    <ds:schemaRef ds:uri="7365838e-5742-406c-8643-fccf082479df"/>
    <ds:schemaRef ds:uri="52d5e68b-42aa-4e72-89be-0e77d4ed4a9a"/>
  </ds:schemaRefs>
</ds:datastoreItem>
</file>

<file path=customXml/itemProps2.xml><?xml version="1.0" encoding="utf-8"?>
<ds:datastoreItem xmlns:ds="http://schemas.openxmlformats.org/officeDocument/2006/customXml" ds:itemID="{66018E8E-3D62-475A-9DCE-635C56ACCB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65838e-5742-406c-8643-fccf082479df"/>
    <ds:schemaRef ds:uri="52d5e68b-42aa-4e72-89be-0e77d4ed4a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C0F0FD8-AA63-472B-8818-855F28185CF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ACTEX Simplified Presentation</Template>
  <TotalTime>153</TotalTime>
  <Words>3948</Words>
  <Application>Microsoft Macintosh PowerPoint</Application>
  <PresentationFormat>Widescreen</PresentationFormat>
  <Paragraphs>261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Introduction to Python</vt:lpstr>
      <vt:lpstr>Presenters</vt:lpstr>
      <vt:lpstr>How the Next Two Hours Run</vt:lpstr>
      <vt:lpstr>Why Teachers Should Learn Python?</vt:lpstr>
      <vt:lpstr>Why Actuarial Students Should Learn Python?</vt:lpstr>
      <vt:lpstr>Actuarial Applications</vt:lpstr>
      <vt:lpstr>Getting Started with Python</vt:lpstr>
      <vt:lpstr>Hands-on 1: Python Basics (25 minutes)</vt:lpstr>
      <vt:lpstr>Python Basics</vt:lpstr>
      <vt:lpstr>Hands-on 2: Data Analysis with pandas (45 minutes)</vt:lpstr>
      <vt:lpstr>Beyond Today: Where Python Takes You</vt:lpstr>
      <vt:lpstr>From Scripts to Agents</vt:lpstr>
      <vt:lpstr>Hands-on 3: Your First Agent with Agno (20 minutes)</vt:lpstr>
      <vt:lpstr>What This Means for Actuarial Teaching</vt:lpstr>
      <vt:lpstr>Take It Back to Your Classroom</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Rohan Yashraj Gupta</dc:creator>
  <cp:lastModifiedBy>Rohan Gupta</cp:lastModifiedBy>
  <cp:revision>11</cp:revision>
  <dcterms:created xsi:type="dcterms:W3CDTF">2025-08-31T12:09:49Z</dcterms:created>
  <dcterms:modified xsi:type="dcterms:W3CDTF">2026-09-03T12:41:44Z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0x01010073397C6321A5CD4F9AEF20D465EC24EA</vt:lpwstr>
  </property>
</Properties>
</file>