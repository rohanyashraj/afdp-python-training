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60" r:id="rId6"/>
    <p:sldId id="261" r:id="rId7"/>
    <p:sldId id="259" r:id="rId8"/>
    <p:sldId id="264" r:id="rId9"/>
    <p:sldId id="262" r:id="rId10"/>
    <p:sldId id="263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406" autoAdjust="0"/>
    <p:restoredTop sz="55085" autoAdjust="0"/>
  </p:normalViewPr>
  <p:slideViewPr>
    <p:cSldViewPr snapToGrid="0">
      <p:cViewPr varScale="1">
        <p:scale>
          <a:sx n="53" d="100"/>
          <a:sy n="53" d="100"/>
        </p:scale>
        <p:origin x="234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4" Type="http://schemas.openxmlformats.org/officeDocument/2006/relationships/image" Target="../media/image1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03F4AB-83E2-4950-9370-0BD43A7EC20B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128D5F4F-77D5-4D51-B47D-8DEA234415BB}">
      <dgm:prSet/>
      <dgm:spPr/>
      <dgm:t>
        <a:bodyPr/>
        <a:lstStyle/>
        <a:p>
          <a:r>
            <a:rPr lang="en-US"/>
            <a:t>Shift from Excel → Python</a:t>
          </a:r>
        </a:p>
      </dgm:t>
    </dgm:pt>
    <dgm:pt modelId="{EE25E263-4FE1-45DD-B312-0EC355BA1A8B}" type="parTrans" cxnId="{6C5A85FB-4223-4385-9220-CCBD4C872103}">
      <dgm:prSet/>
      <dgm:spPr/>
      <dgm:t>
        <a:bodyPr/>
        <a:lstStyle/>
        <a:p>
          <a:endParaRPr lang="en-US"/>
        </a:p>
      </dgm:t>
    </dgm:pt>
    <dgm:pt modelId="{02379BA7-3647-49B5-9C23-FD63D432B32C}" type="sibTrans" cxnId="{6C5A85FB-4223-4385-9220-CCBD4C872103}">
      <dgm:prSet/>
      <dgm:spPr/>
      <dgm:t>
        <a:bodyPr/>
        <a:lstStyle/>
        <a:p>
          <a:endParaRPr lang="en-US"/>
        </a:p>
      </dgm:t>
    </dgm:pt>
    <dgm:pt modelId="{1D1136BE-675A-4DC5-9CFF-339BD7035DD4}">
      <dgm:prSet/>
      <dgm:spPr/>
      <dgm:t>
        <a:bodyPr/>
        <a:lstStyle/>
        <a:p>
          <a:r>
            <a:rPr lang="en-US" dirty="0"/>
            <a:t>Industry demand (employers, </a:t>
          </a:r>
          <a:r>
            <a:rPr lang="en-US" dirty="0" err="1"/>
            <a:t>IFoA</a:t>
          </a:r>
          <a:r>
            <a:rPr lang="en-US" dirty="0"/>
            <a:t>, SOA, CAS)</a:t>
          </a:r>
        </a:p>
      </dgm:t>
    </dgm:pt>
    <dgm:pt modelId="{FF7E435B-81F3-4A79-934B-D598043C9A72}" type="parTrans" cxnId="{D7938A21-97A1-4785-AC89-F38BB0F06186}">
      <dgm:prSet/>
      <dgm:spPr/>
      <dgm:t>
        <a:bodyPr/>
        <a:lstStyle/>
        <a:p>
          <a:endParaRPr lang="en-US"/>
        </a:p>
      </dgm:t>
    </dgm:pt>
    <dgm:pt modelId="{0A3803B7-D97D-43FD-9EBD-93C48BCD762D}" type="sibTrans" cxnId="{D7938A21-97A1-4785-AC89-F38BB0F06186}">
      <dgm:prSet/>
      <dgm:spPr/>
      <dgm:t>
        <a:bodyPr/>
        <a:lstStyle/>
        <a:p>
          <a:endParaRPr lang="en-US"/>
        </a:p>
      </dgm:t>
    </dgm:pt>
    <dgm:pt modelId="{A08E72BC-EF6B-4702-8860-AE8A1E1AD114}">
      <dgm:prSet/>
      <dgm:spPr/>
      <dgm:t>
        <a:bodyPr/>
        <a:lstStyle/>
        <a:p>
          <a:r>
            <a:rPr lang="en-US"/>
            <a:t>Benefits for teaching and research</a:t>
          </a:r>
        </a:p>
      </dgm:t>
    </dgm:pt>
    <dgm:pt modelId="{ED3CCA18-6502-4C89-8C55-E08612D303DC}" type="parTrans" cxnId="{0D42E2C8-470A-4F03-ACB1-7F767022C1FB}">
      <dgm:prSet/>
      <dgm:spPr/>
      <dgm:t>
        <a:bodyPr/>
        <a:lstStyle/>
        <a:p>
          <a:endParaRPr lang="en-US"/>
        </a:p>
      </dgm:t>
    </dgm:pt>
    <dgm:pt modelId="{365E3C8D-74A9-4F92-BF2E-4B47A7CB3E31}" type="sibTrans" cxnId="{0D42E2C8-470A-4F03-ACB1-7F767022C1FB}">
      <dgm:prSet/>
      <dgm:spPr/>
      <dgm:t>
        <a:bodyPr/>
        <a:lstStyle/>
        <a:p>
          <a:endParaRPr lang="en-US"/>
        </a:p>
      </dgm:t>
    </dgm:pt>
    <dgm:pt modelId="{1C28AD56-F844-44F6-AA26-5C7367A92417}" type="pres">
      <dgm:prSet presAssocID="{0503F4AB-83E2-4950-9370-0BD43A7EC20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2D3D06D-A6C6-42D5-BCD7-FE75D2522C01}" type="pres">
      <dgm:prSet presAssocID="{128D5F4F-77D5-4D51-B47D-8DEA234415BB}" presName="hierRoot1" presStyleCnt="0"/>
      <dgm:spPr/>
    </dgm:pt>
    <dgm:pt modelId="{9D81D067-7E0E-46A0-AFFE-03F2E209F7AD}" type="pres">
      <dgm:prSet presAssocID="{128D5F4F-77D5-4D51-B47D-8DEA234415BB}" presName="composite" presStyleCnt="0"/>
      <dgm:spPr/>
    </dgm:pt>
    <dgm:pt modelId="{461680C1-EFAB-48F3-94A8-94400796EE7A}" type="pres">
      <dgm:prSet presAssocID="{128D5F4F-77D5-4D51-B47D-8DEA234415BB}" presName="background" presStyleLbl="node0" presStyleIdx="0" presStyleCnt="3"/>
      <dgm:spPr/>
    </dgm:pt>
    <dgm:pt modelId="{25C264B9-A7D5-470B-8EB7-984511520F49}" type="pres">
      <dgm:prSet presAssocID="{128D5F4F-77D5-4D51-B47D-8DEA234415BB}" presName="text" presStyleLbl="fgAcc0" presStyleIdx="0" presStyleCnt="3">
        <dgm:presLayoutVars>
          <dgm:chPref val="3"/>
        </dgm:presLayoutVars>
      </dgm:prSet>
      <dgm:spPr/>
    </dgm:pt>
    <dgm:pt modelId="{D7639EC4-8763-4C33-AE29-D6A22B7C25DD}" type="pres">
      <dgm:prSet presAssocID="{128D5F4F-77D5-4D51-B47D-8DEA234415BB}" presName="hierChild2" presStyleCnt="0"/>
      <dgm:spPr/>
    </dgm:pt>
    <dgm:pt modelId="{8E49FDF5-D5A9-4484-A4A5-C26DA0D78D9D}" type="pres">
      <dgm:prSet presAssocID="{1D1136BE-675A-4DC5-9CFF-339BD7035DD4}" presName="hierRoot1" presStyleCnt="0"/>
      <dgm:spPr/>
    </dgm:pt>
    <dgm:pt modelId="{F7DA0B40-CE12-4E2D-8141-B5B28ABAA362}" type="pres">
      <dgm:prSet presAssocID="{1D1136BE-675A-4DC5-9CFF-339BD7035DD4}" presName="composite" presStyleCnt="0"/>
      <dgm:spPr/>
    </dgm:pt>
    <dgm:pt modelId="{CD730BF8-F696-4339-A17F-693C7318881E}" type="pres">
      <dgm:prSet presAssocID="{1D1136BE-675A-4DC5-9CFF-339BD7035DD4}" presName="background" presStyleLbl="node0" presStyleIdx="1" presStyleCnt="3"/>
      <dgm:spPr/>
    </dgm:pt>
    <dgm:pt modelId="{1A99CC1F-A261-4BD4-B6D4-1380608CE3DD}" type="pres">
      <dgm:prSet presAssocID="{1D1136BE-675A-4DC5-9CFF-339BD7035DD4}" presName="text" presStyleLbl="fgAcc0" presStyleIdx="1" presStyleCnt="3">
        <dgm:presLayoutVars>
          <dgm:chPref val="3"/>
        </dgm:presLayoutVars>
      </dgm:prSet>
      <dgm:spPr/>
    </dgm:pt>
    <dgm:pt modelId="{CA364815-CFAB-42B3-B496-B932C755A3A0}" type="pres">
      <dgm:prSet presAssocID="{1D1136BE-675A-4DC5-9CFF-339BD7035DD4}" presName="hierChild2" presStyleCnt="0"/>
      <dgm:spPr/>
    </dgm:pt>
    <dgm:pt modelId="{90526678-8905-4242-9FFD-AB33E523AF6E}" type="pres">
      <dgm:prSet presAssocID="{A08E72BC-EF6B-4702-8860-AE8A1E1AD114}" presName="hierRoot1" presStyleCnt="0"/>
      <dgm:spPr/>
    </dgm:pt>
    <dgm:pt modelId="{05507F2F-5101-4E8D-BDED-00EC75CAC2EE}" type="pres">
      <dgm:prSet presAssocID="{A08E72BC-EF6B-4702-8860-AE8A1E1AD114}" presName="composite" presStyleCnt="0"/>
      <dgm:spPr/>
    </dgm:pt>
    <dgm:pt modelId="{F87943C6-6B24-4017-AC90-C50B15E03ED9}" type="pres">
      <dgm:prSet presAssocID="{A08E72BC-EF6B-4702-8860-AE8A1E1AD114}" presName="background" presStyleLbl="node0" presStyleIdx="2" presStyleCnt="3"/>
      <dgm:spPr/>
    </dgm:pt>
    <dgm:pt modelId="{64967EBE-F58B-492D-894B-2A10CADEABEF}" type="pres">
      <dgm:prSet presAssocID="{A08E72BC-EF6B-4702-8860-AE8A1E1AD114}" presName="text" presStyleLbl="fgAcc0" presStyleIdx="2" presStyleCnt="3">
        <dgm:presLayoutVars>
          <dgm:chPref val="3"/>
        </dgm:presLayoutVars>
      </dgm:prSet>
      <dgm:spPr/>
    </dgm:pt>
    <dgm:pt modelId="{38D5C066-9F53-410D-9A5B-172FFDD8A67B}" type="pres">
      <dgm:prSet presAssocID="{A08E72BC-EF6B-4702-8860-AE8A1E1AD114}" presName="hierChild2" presStyleCnt="0"/>
      <dgm:spPr/>
    </dgm:pt>
  </dgm:ptLst>
  <dgm:cxnLst>
    <dgm:cxn modelId="{9E2A401F-CDCC-4806-ADF4-C23E3ACE843D}" type="presOf" srcId="{0503F4AB-83E2-4950-9370-0BD43A7EC20B}" destId="{1C28AD56-F844-44F6-AA26-5C7367A92417}" srcOrd="0" destOrd="0" presId="urn:microsoft.com/office/officeart/2005/8/layout/hierarchy1"/>
    <dgm:cxn modelId="{D7938A21-97A1-4785-AC89-F38BB0F06186}" srcId="{0503F4AB-83E2-4950-9370-0BD43A7EC20B}" destId="{1D1136BE-675A-4DC5-9CFF-339BD7035DD4}" srcOrd="1" destOrd="0" parTransId="{FF7E435B-81F3-4A79-934B-D598043C9A72}" sibTransId="{0A3803B7-D97D-43FD-9EBD-93C48BCD762D}"/>
    <dgm:cxn modelId="{27387268-92D4-4241-A3CA-66B2FB1E43AF}" type="presOf" srcId="{A08E72BC-EF6B-4702-8860-AE8A1E1AD114}" destId="{64967EBE-F58B-492D-894B-2A10CADEABEF}" srcOrd="0" destOrd="0" presId="urn:microsoft.com/office/officeart/2005/8/layout/hierarchy1"/>
    <dgm:cxn modelId="{8AE7259F-ABC3-439B-B6D4-4BF69F106225}" type="presOf" srcId="{128D5F4F-77D5-4D51-B47D-8DEA234415BB}" destId="{25C264B9-A7D5-470B-8EB7-984511520F49}" srcOrd="0" destOrd="0" presId="urn:microsoft.com/office/officeart/2005/8/layout/hierarchy1"/>
    <dgm:cxn modelId="{CD9C96A8-50A6-47E0-8830-BED353612F16}" type="presOf" srcId="{1D1136BE-675A-4DC5-9CFF-339BD7035DD4}" destId="{1A99CC1F-A261-4BD4-B6D4-1380608CE3DD}" srcOrd="0" destOrd="0" presId="urn:microsoft.com/office/officeart/2005/8/layout/hierarchy1"/>
    <dgm:cxn modelId="{0D42E2C8-470A-4F03-ACB1-7F767022C1FB}" srcId="{0503F4AB-83E2-4950-9370-0BD43A7EC20B}" destId="{A08E72BC-EF6B-4702-8860-AE8A1E1AD114}" srcOrd="2" destOrd="0" parTransId="{ED3CCA18-6502-4C89-8C55-E08612D303DC}" sibTransId="{365E3C8D-74A9-4F92-BF2E-4B47A7CB3E31}"/>
    <dgm:cxn modelId="{6C5A85FB-4223-4385-9220-CCBD4C872103}" srcId="{0503F4AB-83E2-4950-9370-0BD43A7EC20B}" destId="{128D5F4F-77D5-4D51-B47D-8DEA234415BB}" srcOrd="0" destOrd="0" parTransId="{EE25E263-4FE1-45DD-B312-0EC355BA1A8B}" sibTransId="{02379BA7-3647-49B5-9C23-FD63D432B32C}"/>
    <dgm:cxn modelId="{7B02F7C9-71AA-4410-B066-89CA790AEE49}" type="presParOf" srcId="{1C28AD56-F844-44F6-AA26-5C7367A92417}" destId="{E2D3D06D-A6C6-42D5-BCD7-FE75D2522C01}" srcOrd="0" destOrd="0" presId="urn:microsoft.com/office/officeart/2005/8/layout/hierarchy1"/>
    <dgm:cxn modelId="{6E0DCE79-5717-4FF1-B739-7CF1A3E2B516}" type="presParOf" srcId="{E2D3D06D-A6C6-42D5-BCD7-FE75D2522C01}" destId="{9D81D067-7E0E-46A0-AFFE-03F2E209F7AD}" srcOrd="0" destOrd="0" presId="urn:microsoft.com/office/officeart/2005/8/layout/hierarchy1"/>
    <dgm:cxn modelId="{94D751E9-0B4B-483D-869F-C09292E0FB96}" type="presParOf" srcId="{9D81D067-7E0E-46A0-AFFE-03F2E209F7AD}" destId="{461680C1-EFAB-48F3-94A8-94400796EE7A}" srcOrd="0" destOrd="0" presId="urn:microsoft.com/office/officeart/2005/8/layout/hierarchy1"/>
    <dgm:cxn modelId="{12E035EC-BC6B-41CA-82A2-7A2C88D9B4BA}" type="presParOf" srcId="{9D81D067-7E0E-46A0-AFFE-03F2E209F7AD}" destId="{25C264B9-A7D5-470B-8EB7-984511520F49}" srcOrd="1" destOrd="0" presId="urn:microsoft.com/office/officeart/2005/8/layout/hierarchy1"/>
    <dgm:cxn modelId="{28B19847-73B3-4D05-8111-689CBA83DFF7}" type="presParOf" srcId="{E2D3D06D-A6C6-42D5-BCD7-FE75D2522C01}" destId="{D7639EC4-8763-4C33-AE29-D6A22B7C25DD}" srcOrd="1" destOrd="0" presId="urn:microsoft.com/office/officeart/2005/8/layout/hierarchy1"/>
    <dgm:cxn modelId="{2C800DA5-BDA0-4825-AC26-C23E336A4912}" type="presParOf" srcId="{1C28AD56-F844-44F6-AA26-5C7367A92417}" destId="{8E49FDF5-D5A9-4484-A4A5-C26DA0D78D9D}" srcOrd="1" destOrd="0" presId="urn:microsoft.com/office/officeart/2005/8/layout/hierarchy1"/>
    <dgm:cxn modelId="{735A8FFC-1B13-44F8-9B88-C849078003B9}" type="presParOf" srcId="{8E49FDF5-D5A9-4484-A4A5-C26DA0D78D9D}" destId="{F7DA0B40-CE12-4E2D-8141-B5B28ABAA362}" srcOrd="0" destOrd="0" presId="urn:microsoft.com/office/officeart/2005/8/layout/hierarchy1"/>
    <dgm:cxn modelId="{A551EA64-0217-484F-9452-B17BE1B49764}" type="presParOf" srcId="{F7DA0B40-CE12-4E2D-8141-B5B28ABAA362}" destId="{CD730BF8-F696-4339-A17F-693C7318881E}" srcOrd="0" destOrd="0" presId="urn:microsoft.com/office/officeart/2005/8/layout/hierarchy1"/>
    <dgm:cxn modelId="{414C5922-1297-427A-BE89-809C9755FDEA}" type="presParOf" srcId="{F7DA0B40-CE12-4E2D-8141-B5B28ABAA362}" destId="{1A99CC1F-A261-4BD4-B6D4-1380608CE3DD}" srcOrd="1" destOrd="0" presId="urn:microsoft.com/office/officeart/2005/8/layout/hierarchy1"/>
    <dgm:cxn modelId="{8B07E2FE-2C0B-4D13-A55F-844295A20F3F}" type="presParOf" srcId="{8E49FDF5-D5A9-4484-A4A5-C26DA0D78D9D}" destId="{CA364815-CFAB-42B3-B496-B932C755A3A0}" srcOrd="1" destOrd="0" presId="urn:microsoft.com/office/officeart/2005/8/layout/hierarchy1"/>
    <dgm:cxn modelId="{41C45C07-5867-4AE9-8FA7-900AAFE06170}" type="presParOf" srcId="{1C28AD56-F844-44F6-AA26-5C7367A92417}" destId="{90526678-8905-4242-9FFD-AB33E523AF6E}" srcOrd="2" destOrd="0" presId="urn:microsoft.com/office/officeart/2005/8/layout/hierarchy1"/>
    <dgm:cxn modelId="{C2E55553-8E93-48F9-95B3-A4131690DCAF}" type="presParOf" srcId="{90526678-8905-4242-9FFD-AB33E523AF6E}" destId="{05507F2F-5101-4E8D-BDED-00EC75CAC2EE}" srcOrd="0" destOrd="0" presId="urn:microsoft.com/office/officeart/2005/8/layout/hierarchy1"/>
    <dgm:cxn modelId="{2C1DAE2C-2590-4814-AF9F-543AF37D49C6}" type="presParOf" srcId="{05507F2F-5101-4E8D-BDED-00EC75CAC2EE}" destId="{F87943C6-6B24-4017-AC90-C50B15E03ED9}" srcOrd="0" destOrd="0" presId="urn:microsoft.com/office/officeart/2005/8/layout/hierarchy1"/>
    <dgm:cxn modelId="{1161A582-AA04-4137-BDEB-EB04E89B4414}" type="presParOf" srcId="{05507F2F-5101-4E8D-BDED-00EC75CAC2EE}" destId="{64967EBE-F58B-492D-894B-2A10CADEABEF}" srcOrd="1" destOrd="0" presId="urn:microsoft.com/office/officeart/2005/8/layout/hierarchy1"/>
    <dgm:cxn modelId="{88694146-A5AC-41E8-9228-8FCF71A11D40}" type="presParOf" srcId="{90526678-8905-4242-9FFD-AB33E523AF6E}" destId="{38D5C066-9F53-410D-9A5B-172FFDD8A67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164B631-6969-4E86-B5EC-646AA0F0247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E57A6AF-1FF2-485F-B5B4-20E29B419F5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Working with DataFrames (Pandas)</a:t>
          </a:r>
        </a:p>
      </dgm:t>
    </dgm:pt>
    <dgm:pt modelId="{183C8796-D46D-4F73-8A00-B98EEA593348}" type="parTrans" cxnId="{3A17552B-52B8-4F63-8E1A-7F13CEB0DFF7}">
      <dgm:prSet/>
      <dgm:spPr/>
      <dgm:t>
        <a:bodyPr/>
        <a:lstStyle/>
        <a:p>
          <a:endParaRPr lang="en-US"/>
        </a:p>
      </dgm:t>
    </dgm:pt>
    <dgm:pt modelId="{44CA38AA-74CE-4607-BC00-098E2671A77B}" type="sibTrans" cxnId="{3A17552B-52B8-4F63-8E1A-7F13CEB0DFF7}">
      <dgm:prSet/>
      <dgm:spPr/>
      <dgm:t>
        <a:bodyPr/>
        <a:lstStyle/>
        <a:p>
          <a:endParaRPr lang="en-US"/>
        </a:p>
      </dgm:t>
    </dgm:pt>
    <dgm:pt modelId="{22B2FCC1-B49B-4D76-B31B-5A21D219E6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Filtering, grouping, summarizing</a:t>
          </a:r>
        </a:p>
      </dgm:t>
    </dgm:pt>
    <dgm:pt modelId="{C72F06D9-5F10-4B09-A7F7-CDF3288C9D3C}" type="parTrans" cxnId="{D601F5AA-306A-4AB5-9987-BC3C52CF8810}">
      <dgm:prSet/>
      <dgm:spPr/>
      <dgm:t>
        <a:bodyPr/>
        <a:lstStyle/>
        <a:p>
          <a:endParaRPr lang="en-US"/>
        </a:p>
      </dgm:t>
    </dgm:pt>
    <dgm:pt modelId="{7AF4775E-C487-46F6-B0F4-E7D4DEFA87C8}" type="sibTrans" cxnId="{D601F5AA-306A-4AB5-9987-BC3C52CF8810}">
      <dgm:prSet/>
      <dgm:spPr/>
      <dgm:t>
        <a:bodyPr/>
        <a:lstStyle/>
        <a:p>
          <a:endParaRPr lang="en-US"/>
        </a:p>
      </dgm:t>
    </dgm:pt>
    <dgm:pt modelId="{D8145560-6625-4C3D-A95A-1B150A6C0C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Example: Claim frequency by age group</a:t>
          </a:r>
        </a:p>
      </dgm:t>
    </dgm:pt>
    <dgm:pt modelId="{1A317C88-3F7E-4CE5-8953-E2D7D6332CBA}" type="parTrans" cxnId="{A5DA68B5-A307-4E1A-821D-2FDD66BCD435}">
      <dgm:prSet/>
      <dgm:spPr/>
      <dgm:t>
        <a:bodyPr/>
        <a:lstStyle/>
        <a:p>
          <a:endParaRPr lang="en-US"/>
        </a:p>
      </dgm:t>
    </dgm:pt>
    <dgm:pt modelId="{5AC9807B-4DB8-42D7-AB9B-128071AF536C}" type="sibTrans" cxnId="{A5DA68B5-A307-4E1A-821D-2FDD66BCD435}">
      <dgm:prSet/>
      <dgm:spPr/>
      <dgm:t>
        <a:bodyPr/>
        <a:lstStyle/>
        <a:p>
          <a:endParaRPr lang="en-US"/>
        </a:p>
      </dgm:t>
    </dgm:pt>
    <dgm:pt modelId="{75568298-1A33-43B5-977F-BE7436A7C8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Mathematical &amp; Statistical Functions</a:t>
          </a:r>
        </a:p>
      </dgm:t>
    </dgm:pt>
    <dgm:pt modelId="{69AF287D-AE7D-40F2-B3AF-93F8493951C1}" type="parTrans" cxnId="{6B36FFA2-3416-481D-A119-8E22DC4EDCB5}">
      <dgm:prSet/>
      <dgm:spPr/>
      <dgm:t>
        <a:bodyPr/>
        <a:lstStyle/>
        <a:p>
          <a:endParaRPr lang="en-US"/>
        </a:p>
      </dgm:t>
    </dgm:pt>
    <dgm:pt modelId="{9E16C81F-0821-4179-ADBF-4396CF2F94C8}" type="sibTrans" cxnId="{6B36FFA2-3416-481D-A119-8E22DC4EDCB5}">
      <dgm:prSet/>
      <dgm:spPr/>
      <dgm:t>
        <a:bodyPr/>
        <a:lstStyle/>
        <a:p>
          <a:endParaRPr lang="en-US"/>
        </a:p>
      </dgm:t>
    </dgm:pt>
    <dgm:pt modelId="{B0BEA45B-0CE3-4D91-9563-2822E9BF24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NumPy, SciPy basics</a:t>
          </a:r>
        </a:p>
      </dgm:t>
    </dgm:pt>
    <dgm:pt modelId="{AE796FDC-4398-43CB-9D23-F948952FE8AC}" type="parTrans" cxnId="{9A3B9EDF-99C4-4293-BEB9-2DFEF2C96B11}">
      <dgm:prSet/>
      <dgm:spPr/>
      <dgm:t>
        <a:bodyPr/>
        <a:lstStyle/>
        <a:p>
          <a:endParaRPr lang="en-US"/>
        </a:p>
      </dgm:t>
    </dgm:pt>
    <dgm:pt modelId="{21426E00-9AEB-4C79-8E7F-1B227EE4AA61}" type="sibTrans" cxnId="{9A3B9EDF-99C4-4293-BEB9-2DFEF2C96B11}">
      <dgm:prSet/>
      <dgm:spPr/>
      <dgm:t>
        <a:bodyPr/>
        <a:lstStyle/>
        <a:p>
          <a:endParaRPr lang="en-US"/>
        </a:p>
      </dgm:t>
    </dgm:pt>
    <dgm:pt modelId="{1342A82B-E174-40CE-BE94-55E96441D8A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Example: Calculate expected present value (EPV)</a:t>
          </a:r>
        </a:p>
      </dgm:t>
    </dgm:pt>
    <dgm:pt modelId="{0F0F2B95-3E18-4BCD-B803-1B9415AFF7A0}" type="parTrans" cxnId="{948B9966-93B3-42A6-BC00-E7BCDC2460E3}">
      <dgm:prSet/>
      <dgm:spPr/>
      <dgm:t>
        <a:bodyPr/>
        <a:lstStyle/>
        <a:p>
          <a:endParaRPr lang="en-US"/>
        </a:p>
      </dgm:t>
    </dgm:pt>
    <dgm:pt modelId="{DA0314BC-A367-46B5-826C-42486112FA66}" type="sibTrans" cxnId="{948B9966-93B3-42A6-BC00-E7BCDC2460E3}">
      <dgm:prSet/>
      <dgm:spPr/>
      <dgm:t>
        <a:bodyPr/>
        <a:lstStyle/>
        <a:p>
          <a:endParaRPr lang="en-US"/>
        </a:p>
      </dgm:t>
    </dgm:pt>
    <dgm:pt modelId="{C5D3033E-47E1-42E1-A872-96DBFFAF1E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Visualization</a:t>
          </a:r>
        </a:p>
      </dgm:t>
    </dgm:pt>
    <dgm:pt modelId="{F1B1FFCF-E91E-4C06-A6EA-165BF5D9B2B7}" type="parTrans" cxnId="{D2E277BC-1909-4A18-8942-79E9086D6510}">
      <dgm:prSet/>
      <dgm:spPr/>
      <dgm:t>
        <a:bodyPr/>
        <a:lstStyle/>
        <a:p>
          <a:endParaRPr lang="en-US"/>
        </a:p>
      </dgm:t>
    </dgm:pt>
    <dgm:pt modelId="{EE3E29E6-67E6-4060-BD81-AF205E317EE3}" type="sibTrans" cxnId="{D2E277BC-1909-4A18-8942-79E9086D6510}">
      <dgm:prSet/>
      <dgm:spPr/>
      <dgm:t>
        <a:bodyPr/>
        <a:lstStyle/>
        <a:p>
          <a:endParaRPr lang="en-US"/>
        </a:p>
      </dgm:t>
    </dgm:pt>
    <dgm:pt modelId="{A939B058-6C2C-4083-AE79-5399528A70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Matplotlib / Seaborn plots</a:t>
          </a:r>
        </a:p>
      </dgm:t>
    </dgm:pt>
    <dgm:pt modelId="{F8FC1C7D-9A67-442B-ABD0-45EA2B1554AF}" type="parTrans" cxnId="{371EC0A7-CA09-43FD-8D1C-2D53F1DCE0DB}">
      <dgm:prSet/>
      <dgm:spPr/>
      <dgm:t>
        <a:bodyPr/>
        <a:lstStyle/>
        <a:p>
          <a:endParaRPr lang="en-US"/>
        </a:p>
      </dgm:t>
    </dgm:pt>
    <dgm:pt modelId="{EF625B5F-4C72-45B2-8F1F-7E9368E39EC5}" type="sibTrans" cxnId="{371EC0A7-CA09-43FD-8D1C-2D53F1DCE0DB}">
      <dgm:prSet/>
      <dgm:spPr/>
      <dgm:t>
        <a:bodyPr/>
        <a:lstStyle/>
        <a:p>
          <a:endParaRPr lang="en-US"/>
        </a:p>
      </dgm:t>
    </dgm:pt>
    <dgm:pt modelId="{2AE4928F-896C-496C-A296-6868503C64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Example: Claim severity distribution graph</a:t>
          </a:r>
        </a:p>
      </dgm:t>
    </dgm:pt>
    <dgm:pt modelId="{64AA8075-A061-4B2D-8D3D-F38BBC53EEDA}" type="parTrans" cxnId="{26B2AD9F-705B-43E6-BBD2-4BD914E3FCB3}">
      <dgm:prSet/>
      <dgm:spPr/>
      <dgm:t>
        <a:bodyPr/>
        <a:lstStyle/>
        <a:p>
          <a:endParaRPr lang="en-US"/>
        </a:p>
      </dgm:t>
    </dgm:pt>
    <dgm:pt modelId="{6C02DCF4-F987-4C99-A241-05F6179213D1}" type="sibTrans" cxnId="{26B2AD9F-705B-43E6-BBD2-4BD914E3FCB3}">
      <dgm:prSet/>
      <dgm:spPr/>
      <dgm:t>
        <a:bodyPr/>
        <a:lstStyle/>
        <a:p>
          <a:endParaRPr lang="en-US"/>
        </a:p>
      </dgm:t>
    </dgm:pt>
    <dgm:pt modelId="{12F2782B-F2D5-4593-8D55-7E0D5E936EB2}" type="pres">
      <dgm:prSet presAssocID="{1164B631-6969-4E86-B5EC-646AA0F02475}" presName="root" presStyleCnt="0">
        <dgm:presLayoutVars>
          <dgm:dir/>
          <dgm:resizeHandles val="exact"/>
        </dgm:presLayoutVars>
      </dgm:prSet>
      <dgm:spPr/>
    </dgm:pt>
    <dgm:pt modelId="{F2B51DA2-9FC6-4C23-8FC0-7395EDFDEB88}" type="pres">
      <dgm:prSet presAssocID="{FE57A6AF-1FF2-485F-B5B4-20E29B419F55}" presName="compNode" presStyleCnt="0"/>
      <dgm:spPr/>
    </dgm:pt>
    <dgm:pt modelId="{49E7A878-01EA-4120-840A-3D565B62D415}" type="pres">
      <dgm:prSet presAssocID="{FE57A6AF-1FF2-485F-B5B4-20E29B419F55}" presName="bgRect" presStyleLbl="bgShp" presStyleIdx="0" presStyleCnt="3"/>
      <dgm:spPr/>
    </dgm:pt>
    <dgm:pt modelId="{937773F2-CB92-4057-A4B3-4FAAE372018D}" type="pres">
      <dgm:prSet presAssocID="{FE57A6AF-1FF2-485F-B5B4-20E29B419F5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E2DD0777-C4E2-482E-8CB2-F1C352B82E33}" type="pres">
      <dgm:prSet presAssocID="{FE57A6AF-1FF2-485F-B5B4-20E29B419F55}" presName="spaceRect" presStyleCnt="0"/>
      <dgm:spPr/>
    </dgm:pt>
    <dgm:pt modelId="{7BA14633-4DBC-4382-8163-E27DFB93DF89}" type="pres">
      <dgm:prSet presAssocID="{FE57A6AF-1FF2-485F-B5B4-20E29B419F55}" presName="parTx" presStyleLbl="revTx" presStyleIdx="0" presStyleCnt="6">
        <dgm:presLayoutVars>
          <dgm:chMax val="0"/>
          <dgm:chPref val="0"/>
        </dgm:presLayoutVars>
      </dgm:prSet>
      <dgm:spPr/>
    </dgm:pt>
    <dgm:pt modelId="{745C482C-625A-483E-A159-BA646E92F385}" type="pres">
      <dgm:prSet presAssocID="{FE57A6AF-1FF2-485F-B5B4-20E29B419F55}" presName="desTx" presStyleLbl="revTx" presStyleIdx="1" presStyleCnt="6">
        <dgm:presLayoutVars/>
      </dgm:prSet>
      <dgm:spPr/>
    </dgm:pt>
    <dgm:pt modelId="{770A2750-F35F-4338-886F-52C2B12A0D02}" type="pres">
      <dgm:prSet presAssocID="{44CA38AA-74CE-4607-BC00-098E2671A77B}" presName="sibTrans" presStyleCnt="0"/>
      <dgm:spPr/>
    </dgm:pt>
    <dgm:pt modelId="{E8F0C983-5322-463C-93C6-33885F03FE46}" type="pres">
      <dgm:prSet presAssocID="{75568298-1A33-43B5-977F-BE7436A7C80F}" presName="compNode" presStyleCnt="0"/>
      <dgm:spPr/>
    </dgm:pt>
    <dgm:pt modelId="{FFC93538-BFBE-4E71-A20B-049F4E9A5110}" type="pres">
      <dgm:prSet presAssocID="{75568298-1A33-43B5-977F-BE7436A7C80F}" presName="bgRect" presStyleLbl="bgShp" presStyleIdx="1" presStyleCnt="3"/>
      <dgm:spPr/>
    </dgm:pt>
    <dgm:pt modelId="{DB6C13D3-E137-42A4-A66C-5459A381A501}" type="pres">
      <dgm:prSet presAssocID="{75568298-1A33-43B5-977F-BE7436A7C80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C4C78372-34C3-4E8C-B068-1DD111CAEFBB}" type="pres">
      <dgm:prSet presAssocID="{75568298-1A33-43B5-977F-BE7436A7C80F}" presName="spaceRect" presStyleCnt="0"/>
      <dgm:spPr/>
    </dgm:pt>
    <dgm:pt modelId="{B1D590E4-0D17-4EE0-AED0-4CC67610AE4A}" type="pres">
      <dgm:prSet presAssocID="{75568298-1A33-43B5-977F-BE7436A7C80F}" presName="parTx" presStyleLbl="revTx" presStyleIdx="2" presStyleCnt="6">
        <dgm:presLayoutVars>
          <dgm:chMax val="0"/>
          <dgm:chPref val="0"/>
        </dgm:presLayoutVars>
      </dgm:prSet>
      <dgm:spPr/>
    </dgm:pt>
    <dgm:pt modelId="{17A300BF-F48B-4D85-AD35-03E9C933833B}" type="pres">
      <dgm:prSet presAssocID="{75568298-1A33-43B5-977F-BE7436A7C80F}" presName="desTx" presStyleLbl="revTx" presStyleIdx="3" presStyleCnt="6">
        <dgm:presLayoutVars/>
      </dgm:prSet>
      <dgm:spPr/>
    </dgm:pt>
    <dgm:pt modelId="{5CAB26C1-6999-4A85-BC66-D565D54973B3}" type="pres">
      <dgm:prSet presAssocID="{9E16C81F-0821-4179-ADBF-4396CF2F94C8}" presName="sibTrans" presStyleCnt="0"/>
      <dgm:spPr/>
    </dgm:pt>
    <dgm:pt modelId="{C59C37F4-5A79-4FD7-9FF1-B24E30CEA9EE}" type="pres">
      <dgm:prSet presAssocID="{C5D3033E-47E1-42E1-A872-96DBFFAF1E0B}" presName="compNode" presStyleCnt="0"/>
      <dgm:spPr/>
    </dgm:pt>
    <dgm:pt modelId="{B9C9BF8A-C79D-48C5-8620-7FB7AF6FDADF}" type="pres">
      <dgm:prSet presAssocID="{C5D3033E-47E1-42E1-A872-96DBFFAF1E0B}" presName="bgRect" presStyleLbl="bgShp" presStyleIdx="2" presStyleCnt="3"/>
      <dgm:spPr/>
    </dgm:pt>
    <dgm:pt modelId="{E76C2D85-ED0E-4FBA-B9CB-4E65503EF9B1}" type="pres">
      <dgm:prSet presAssocID="{C5D3033E-47E1-42E1-A872-96DBFFAF1E0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6CBE2434-93DF-4588-AD3A-844FCDFBFEF4}" type="pres">
      <dgm:prSet presAssocID="{C5D3033E-47E1-42E1-A872-96DBFFAF1E0B}" presName="spaceRect" presStyleCnt="0"/>
      <dgm:spPr/>
    </dgm:pt>
    <dgm:pt modelId="{CB7F72DE-823A-4458-8C64-DD7C60371ECB}" type="pres">
      <dgm:prSet presAssocID="{C5D3033E-47E1-42E1-A872-96DBFFAF1E0B}" presName="parTx" presStyleLbl="revTx" presStyleIdx="4" presStyleCnt="6">
        <dgm:presLayoutVars>
          <dgm:chMax val="0"/>
          <dgm:chPref val="0"/>
        </dgm:presLayoutVars>
      </dgm:prSet>
      <dgm:spPr/>
    </dgm:pt>
    <dgm:pt modelId="{5481B552-C08E-4174-87D5-57B23CC20E0E}" type="pres">
      <dgm:prSet presAssocID="{C5D3033E-47E1-42E1-A872-96DBFFAF1E0B}" presName="desTx" presStyleLbl="revTx" presStyleIdx="5" presStyleCnt="6">
        <dgm:presLayoutVars/>
      </dgm:prSet>
      <dgm:spPr/>
    </dgm:pt>
  </dgm:ptLst>
  <dgm:cxnLst>
    <dgm:cxn modelId="{232B6C06-9944-40FF-82EA-0734AB5FE31A}" type="presOf" srcId="{D8145560-6625-4C3D-A95A-1B150A6C0C16}" destId="{745C482C-625A-483E-A159-BA646E92F385}" srcOrd="0" destOrd="1" presId="urn:microsoft.com/office/officeart/2018/2/layout/IconVerticalSolidList"/>
    <dgm:cxn modelId="{510C0708-AF9F-458F-B35F-4592D5BE48DE}" type="presOf" srcId="{1342A82B-E174-40CE-BE94-55E96441D8AB}" destId="{17A300BF-F48B-4D85-AD35-03E9C933833B}" srcOrd="0" destOrd="1" presId="urn:microsoft.com/office/officeart/2018/2/layout/IconVerticalSolidList"/>
    <dgm:cxn modelId="{2BE17B13-53D7-431E-9065-95977E83A166}" type="presOf" srcId="{FE57A6AF-1FF2-485F-B5B4-20E29B419F55}" destId="{7BA14633-4DBC-4382-8163-E27DFB93DF89}" srcOrd="0" destOrd="0" presId="urn:microsoft.com/office/officeart/2018/2/layout/IconVerticalSolidList"/>
    <dgm:cxn modelId="{3A17552B-52B8-4F63-8E1A-7F13CEB0DFF7}" srcId="{1164B631-6969-4E86-B5EC-646AA0F02475}" destId="{FE57A6AF-1FF2-485F-B5B4-20E29B419F55}" srcOrd="0" destOrd="0" parTransId="{183C8796-D46D-4F73-8A00-B98EEA593348}" sibTransId="{44CA38AA-74CE-4607-BC00-098E2671A77B}"/>
    <dgm:cxn modelId="{F43A933C-E4D9-46BD-866F-582EF90250F4}" type="presOf" srcId="{22B2FCC1-B49B-4D76-B31B-5A21D219E660}" destId="{745C482C-625A-483E-A159-BA646E92F385}" srcOrd="0" destOrd="0" presId="urn:microsoft.com/office/officeart/2018/2/layout/IconVerticalSolidList"/>
    <dgm:cxn modelId="{D56F2462-E306-4174-B2CC-A140D37F464C}" type="presOf" srcId="{C5D3033E-47E1-42E1-A872-96DBFFAF1E0B}" destId="{CB7F72DE-823A-4458-8C64-DD7C60371ECB}" srcOrd="0" destOrd="0" presId="urn:microsoft.com/office/officeart/2018/2/layout/IconVerticalSolidList"/>
    <dgm:cxn modelId="{948B9966-93B3-42A6-BC00-E7BCDC2460E3}" srcId="{75568298-1A33-43B5-977F-BE7436A7C80F}" destId="{1342A82B-E174-40CE-BE94-55E96441D8AB}" srcOrd="1" destOrd="0" parTransId="{0F0F2B95-3E18-4BCD-B803-1B9415AFF7A0}" sibTransId="{DA0314BC-A367-46B5-826C-42486112FA66}"/>
    <dgm:cxn modelId="{3539FE4A-ADFB-43EF-BB54-7D3A0F2B576F}" type="presOf" srcId="{75568298-1A33-43B5-977F-BE7436A7C80F}" destId="{B1D590E4-0D17-4EE0-AED0-4CC67610AE4A}" srcOrd="0" destOrd="0" presId="urn:microsoft.com/office/officeart/2018/2/layout/IconVerticalSolidList"/>
    <dgm:cxn modelId="{1037614F-967C-4E89-AFAA-3FEEA424C60E}" type="presOf" srcId="{A939B058-6C2C-4083-AE79-5399528A70FC}" destId="{5481B552-C08E-4174-87D5-57B23CC20E0E}" srcOrd="0" destOrd="0" presId="urn:microsoft.com/office/officeart/2018/2/layout/IconVerticalSolidList"/>
    <dgm:cxn modelId="{B1BD2050-41C6-426A-B7F4-26F73BAF7756}" type="presOf" srcId="{2AE4928F-896C-496C-A296-6868503C64F1}" destId="{5481B552-C08E-4174-87D5-57B23CC20E0E}" srcOrd="0" destOrd="1" presId="urn:microsoft.com/office/officeart/2018/2/layout/IconVerticalSolidList"/>
    <dgm:cxn modelId="{CEB8329F-138D-43B3-BE6F-E6865BD7E0E7}" type="presOf" srcId="{B0BEA45B-0CE3-4D91-9563-2822E9BF2490}" destId="{17A300BF-F48B-4D85-AD35-03E9C933833B}" srcOrd="0" destOrd="0" presId="urn:microsoft.com/office/officeart/2018/2/layout/IconVerticalSolidList"/>
    <dgm:cxn modelId="{26B2AD9F-705B-43E6-BBD2-4BD914E3FCB3}" srcId="{C5D3033E-47E1-42E1-A872-96DBFFAF1E0B}" destId="{2AE4928F-896C-496C-A296-6868503C64F1}" srcOrd="1" destOrd="0" parTransId="{64AA8075-A061-4B2D-8D3D-F38BBC53EEDA}" sibTransId="{6C02DCF4-F987-4C99-A241-05F6179213D1}"/>
    <dgm:cxn modelId="{6B36FFA2-3416-481D-A119-8E22DC4EDCB5}" srcId="{1164B631-6969-4E86-B5EC-646AA0F02475}" destId="{75568298-1A33-43B5-977F-BE7436A7C80F}" srcOrd="1" destOrd="0" parTransId="{69AF287D-AE7D-40F2-B3AF-93F8493951C1}" sibTransId="{9E16C81F-0821-4179-ADBF-4396CF2F94C8}"/>
    <dgm:cxn modelId="{371EC0A7-CA09-43FD-8D1C-2D53F1DCE0DB}" srcId="{C5D3033E-47E1-42E1-A872-96DBFFAF1E0B}" destId="{A939B058-6C2C-4083-AE79-5399528A70FC}" srcOrd="0" destOrd="0" parTransId="{F8FC1C7D-9A67-442B-ABD0-45EA2B1554AF}" sibTransId="{EF625B5F-4C72-45B2-8F1F-7E9368E39EC5}"/>
    <dgm:cxn modelId="{D601F5AA-306A-4AB5-9987-BC3C52CF8810}" srcId="{FE57A6AF-1FF2-485F-B5B4-20E29B419F55}" destId="{22B2FCC1-B49B-4D76-B31B-5A21D219E660}" srcOrd="0" destOrd="0" parTransId="{C72F06D9-5F10-4B09-A7F7-CDF3288C9D3C}" sibTransId="{7AF4775E-C487-46F6-B0F4-E7D4DEFA87C8}"/>
    <dgm:cxn modelId="{A5DA68B5-A307-4E1A-821D-2FDD66BCD435}" srcId="{FE57A6AF-1FF2-485F-B5B4-20E29B419F55}" destId="{D8145560-6625-4C3D-A95A-1B150A6C0C16}" srcOrd="1" destOrd="0" parTransId="{1A317C88-3F7E-4CE5-8953-E2D7D6332CBA}" sibTransId="{5AC9807B-4DB8-42D7-AB9B-128071AF536C}"/>
    <dgm:cxn modelId="{D2E277BC-1909-4A18-8942-79E9086D6510}" srcId="{1164B631-6969-4E86-B5EC-646AA0F02475}" destId="{C5D3033E-47E1-42E1-A872-96DBFFAF1E0B}" srcOrd="2" destOrd="0" parTransId="{F1B1FFCF-E91E-4C06-A6EA-165BF5D9B2B7}" sibTransId="{EE3E29E6-67E6-4060-BD81-AF205E317EE3}"/>
    <dgm:cxn modelId="{9A3B9EDF-99C4-4293-BEB9-2DFEF2C96B11}" srcId="{75568298-1A33-43B5-977F-BE7436A7C80F}" destId="{B0BEA45B-0CE3-4D91-9563-2822E9BF2490}" srcOrd="0" destOrd="0" parTransId="{AE796FDC-4398-43CB-9D23-F948952FE8AC}" sibTransId="{21426E00-9AEB-4C79-8E7F-1B227EE4AA61}"/>
    <dgm:cxn modelId="{DB1C26EB-9B7F-4E2F-87A3-5B295EDA2398}" type="presOf" srcId="{1164B631-6969-4E86-B5EC-646AA0F02475}" destId="{12F2782B-F2D5-4593-8D55-7E0D5E936EB2}" srcOrd="0" destOrd="0" presId="urn:microsoft.com/office/officeart/2018/2/layout/IconVerticalSolidList"/>
    <dgm:cxn modelId="{1E6D7FAE-5C4D-4126-86BA-88CDC2823912}" type="presParOf" srcId="{12F2782B-F2D5-4593-8D55-7E0D5E936EB2}" destId="{F2B51DA2-9FC6-4C23-8FC0-7395EDFDEB88}" srcOrd="0" destOrd="0" presId="urn:microsoft.com/office/officeart/2018/2/layout/IconVerticalSolidList"/>
    <dgm:cxn modelId="{F31166B2-06BC-4A7F-BC21-CEBE1E4B8947}" type="presParOf" srcId="{F2B51DA2-9FC6-4C23-8FC0-7395EDFDEB88}" destId="{49E7A878-01EA-4120-840A-3D565B62D415}" srcOrd="0" destOrd="0" presId="urn:microsoft.com/office/officeart/2018/2/layout/IconVerticalSolidList"/>
    <dgm:cxn modelId="{ABA75D4F-1AEE-483A-90AE-393546139785}" type="presParOf" srcId="{F2B51DA2-9FC6-4C23-8FC0-7395EDFDEB88}" destId="{937773F2-CB92-4057-A4B3-4FAAE372018D}" srcOrd="1" destOrd="0" presId="urn:microsoft.com/office/officeart/2018/2/layout/IconVerticalSolidList"/>
    <dgm:cxn modelId="{0AB10058-A95F-4D3E-86CA-C1AB94D85A57}" type="presParOf" srcId="{F2B51DA2-9FC6-4C23-8FC0-7395EDFDEB88}" destId="{E2DD0777-C4E2-482E-8CB2-F1C352B82E33}" srcOrd="2" destOrd="0" presId="urn:microsoft.com/office/officeart/2018/2/layout/IconVerticalSolidList"/>
    <dgm:cxn modelId="{09372E20-AF3D-43BF-8184-F2FE363FA4F3}" type="presParOf" srcId="{F2B51DA2-9FC6-4C23-8FC0-7395EDFDEB88}" destId="{7BA14633-4DBC-4382-8163-E27DFB93DF89}" srcOrd="3" destOrd="0" presId="urn:microsoft.com/office/officeart/2018/2/layout/IconVerticalSolidList"/>
    <dgm:cxn modelId="{220A009B-7C98-4AE8-94FB-7386D35D3DF6}" type="presParOf" srcId="{F2B51DA2-9FC6-4C23-8FC0-7395EDFDEB88}" destId="{745C482C-625A-483E-A159-BA646E92F385}" srcOrd="4" destOrd="0" presId="urn:microsoft.com/office/officeart/2018/2/layout/IconVerticalSolidList"/>
    <dgm:cxn modelId="{E05408AE-60E6-4DD4-B6FA-076D0C82549F}" type="presParOf" srcId="{12F2782B-F2D5-4593-8D55-7E0D5E936EB2}" destId="{770A2750-F35F-4338-886F-52C2B12A0D02}" srcOrd="1" destOrd="0" presId="urn:microsoft.com/office/officeart/2018/2/layout/IconVerticalSolidList"/>
    <dgm:cxn modelId="{4DD9E0FA-FBB1-43A2-80EC-39F234CBA994}" type="presParOf" srcId="{12F2782B-F2D5-4593-8D55-7E0D5E936EB2}" destId="{E8F0C983-5322-463C-93C6-33885F03FE46}" srcOrd="2" destOrd="0" presId="urn:microsoft.com/office/officeart/2018/2/layout/IconVerticalSolidList"/>
    <dgm:cxn modelId="{DBB4490A-6D21-44EB-88BE-A58420205508}" type="presParOf" srcId="{E8F0C983-5322-463C-93C6-33885F03FE46}" destId="{FFC93538-BFBE-4E71-A20B-049F4E9A5110}" srcOrd="0" destOrd="0" presId="urn:microsoft.com/office/officeart/2018/2/layout/IconVerticalSolidList"/>
    <dgm:cxn modelId="{524E25AB-6392-4D4E-8EE7-F4B28A3BCDD3}" type="presParOf" srcId="{E8F0C983-5322-463C-93C6-33885F03FE46}" destId="{DB6C13D3-E137-42A4-A66C-5459A381A501}" srcOrd="1" destOrd="0" presId="urn:microsoft.com/office/officeart/2018/2/layout/IconVerticalSolidList"/>
    <dgm:cxn modelId="{EB4F8BBB-4D0B-4650-A2BD-D370ABB5B4F6}" type="presParOf" srcId="{E8F0C983-5322-463C-93C6-33885F03FE46}" destId="{C4C78372-34C3-4E8C-B068-1DD111CAEFBB}" srcOrd="2" destOrd="0" presId="urn:microsoft.com/office/officeart/2018/2/layout/IconVerticalSolidList"/>
    <dgm:cxn modelId="{95F0AA0C-A3AF-44EF-B666-27A428720E53}" type="presParOf" srcId="{E8F0C983-5322-463C-93C6-33885F03FE46}" destId="{B1D590E4-0D17-4EE0-AED0-4CC67610AE4A}" srcOrd="3" destOrd="0" presId="urn:microsoft.com/office/officeart/2018/2/layout/IconVerticalSolidList"/>
    <dgm:cxn modelId="{F2B418DB-0A68-48E3-BE3F-1EF71EA1D472}" type="presParOf" srcId="{E8F0C983-5322-463C-93C6-33885F03FE46}" destId="{17A300BF-F48B-4D85-AD35-03E9C933833B}" srcOrd="4" destOrd="0" presId="urn:microsoft.com/office/officeart/2018/2/layout/IconVerticalSolidList"/>
    <dgm:cxn modelId="{8D9C239E-081F-4178-88E5-4ABC67222A31}" type="presParOf" srcId="{12F2782B-F2D5-4593-8D55-7E0D5E936EB2}" destId="{5CAB26C1-6999-4A85-BC66-D565D54973B3}" srcOrd="3" destOrd="0" presId="urn:microsoft.com/office/officeart/2018/2/layout/IconVerticalSolidList"/>
    <dgm:cxn modelId="{F697E9D7-93F9-4F51-9151-912623F0CD07}" type="presParOf" srcId="{12F2782B-F2D5-4593-8D55-7E0D5E936EB2}" destId="{C59C37F4-5A79-4FD7-9FF1-B24E30CEA9EE}" srcOrd="4" destOrd="0" presId="urn:microsoft.com/office/officeart/2018/2/layout/IconVerticalSolidList"/>
    <dgm:cxn modelId="{FBF7F390-F364-4C9B-9426-39BEF543201B}" type="presParOf" srcId="{C59C37F4-5A79-4FD7-9FF1-B24E30CEA9EE}" destId="{B9C9BF8A-C79D-48C5-8620-7FB7AF6FDADF}" srcOrd="0" destOrd="0" presId="urn:microsoft.com/office/officeart/2018/2/layout/IconVerticalSolidList"/>
    <dgm:cxn modelId="{401906F3-CECD-46C4-94AC-46600E52D607}" type="presParOf" srcId="{C59C37F4-5A79-4FD7-9FF1-B24E30CEA9EE}" destId="{E76C2D85-ED0E-4FBA-B9CB-4E65503EF9B1}" srcOrd="1" destOrd="0" presId="urn:microsoft.com/office/officeart/2018/2/layout/IconVerticalSolidList"/>
    <dgm:cxn modelId="{274ED9C7-2437-4D38-B9E7-8CA74A1912C4}" type="presParOf" srcId="{C59C37F4-5A79-4FD7-9FF1-B24E30CEA9EE}" destId="{6CBE2434-93DF-4588-AD3A-844FCDFBFEF4}" srcOrd="2" destOrd="0" presId="urn:microsoft.com/office/officeart/2018/2/layout/IconVerticalSolidList"/>
    <dgm:cxn modelId="{3E8E3111-8C88-445F-A6B5-2EF9EC7788C8}" type="presParOf" srcId="{C59C37F4-5A79-4FD7-9FF1-B24E30CEA9EE}" destId="{CB7F72DE-823A-4458-8C64-DD7C60371ECB}" srcOrd="3" destOrd="0" presId="urn:microsoft.com/office/officeart/2018/2/layout/IconVerticalSolidList"/>
    <dgm:cxn modelId="{5A9C6A9F-917D-4AD3-9DF5-CEB82189FF6A}" type="presParOf" srcId="{C59C37F4-5A79-4FD7-9FF1-B24E30CEA9EE}" destId="{5481B552-C08E-4174-87D5-57B23CC20E0E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17866CE-1EFC-40D1-A549-05E8933C97F1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B57FBE6-3799-41A5-A94D-1FCBC00BE28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What is Python? (simple, high-level intro)</a:t>
          </a:r>
        </a:p>
      </dgm:t>
    </dgm:pt>
    <dgm:pt modelId="{B8355D47-E006-45F9-AFC1-3E7534A7C594}" type="parTrans" cxnId="{3BE8F9C2-D0F9-4051-B322-A77B57268907}">
      <dgm:prSet/>
      <dgm:spPr/>
      <dgm:t>
        <a:bodyPr/>
        <a:lstStyle/>
        <a:p>
          <a:endParaRPr lang="en-US"/>
        </a:p>
      </dgm:t>
    </dgm:pt>
    <dgm:pt modelId="{96313167-63CB-4DAF-93A2-379B08D06706}" type="sibTrans" cxnId="{3BE8F9C2-D0F9-4051-B322-A77B57268907}">
      <dgm:prSet/>
      <dgm:spPr/>
      <dgm:t>
        <a:bodyPr/>
        <a:lstStyle/>
        <a:p>
          <a:endParaRPr lang="en-US"/>
        </a:p>
      </dgm:t>
    </dgm:pt>
    <dgm:pt modelId="{F2F5AE2F-0488-4A9D-8E28-CD54C44E15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Free, open-source, easy to learn</a:t>
          </a:r>
        </a:p>
      </dgm:t>
    </dgm:pt>
    <dgm:pt modelId="{08181838-630B-4D4C-9CDE-708319AAC172}" type="parTrans" cxnId="{3A2C76F9-12B2-407F-8174-7BB305ADD6EF}">
      <dgm:prSet/>
      <dgm:spPr/>
      <dgm:t>
        <a:bodyPr/>
        <a:lstStyle/>
        <a:p>
          <a:endParaRPr lang="en-US"/>
        </a:p>
      </dgm:t>
    </dgm:pt>
    <dgm:pt modelId="{E656EC43-CD40-4A84-AD41-7C66D545AC90}" type="sibTrans" cxnId="{3A2C76F9-12B2-407F-8174-7BB305ADD6EF}">
      <dgm:prSet/>
      <dgm:spPr/>
      <dgm:t>
        <a:bodyPr/>
        <a:lstStyle/>
        <a:p>
          <a:endParaRPr lang="en-US"/>
        </a:p>
      </dgm:t>
    </dgm:pt>
    <dgm:pt modelId="{DA248BFA-6C4C-4B67-965C-EC46DFB8F3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Widely used in actuarial + data science</a:t>
          </a:r>
        </a:p>
      </dgm:t>
    </dgm:pt>
    <dgm:pt modelId="{1B514E2D-0F3C-443A-A539-589BA5D26487}" type="parTrans" cxnId="{F8253200-E968-472C-845A-86D053E1D265}">
      <dgm:prSet/>
      <dgm:spPr/>
      <dgm:t>
        <a:bodyPr/>
        <a:lstStyle/>
        <a:p>
          <a:endParaRPr lang="en-US"/>
        </a:p>
      </dgm:t>
    </dgm:pt>
    <dgm:pt modelId="{D2051D22-D6B5-4CCC-AB2F-8F63A2C30C71}" type="sibTrans" cxnId="{F8253200-E968-472C-845A-86D053E1D265}">
      <dgm:prSet/>
      <dgm:spPr/>
      <dgm:t>
        <a:bodyPr/>
        <a:lstStyle/>
        <a:p>
          <a:endParaRPr lang="en-US"/>
        </a:p>
      </dgm:t>
    </dgm:pt>
    <dgm:pt modelId="{4883D6A3-5185-4642-A3A4-82460BBAB47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Setting Up the Environment</a:t>
          </a:r>
        </a:p>
      </dgm:t>
    </dgm:pt>
    <dgm:pt modelId="{2BEE15DB-89A3-47C5-A3C8-D666CE3F3AFD}" type="parTrans" cxnId="{3F55646F-C0FB-47C8-865E-7E9FDCF0C951}">
      <dgm:prSet/>
      <dgm:spPr/>
      <dgm:t>
        <a:bodyPr/>
        <a:lstStyle/>
        <a:p>
          <a:endParaRPr lang="en-US"/>
        </a:p>
      </dgm:t>
    </dgm:pt>
    <dgm:pt modelId="{7583F138-E26B-4E16-96AF-BA567612B027}" type="sibTrans" cxnId="{3F55646F-C0FB-47C8-865E-7E9FDCF0C951}">
      <dgm:prSet/>
      <dgm:spPr/>
      <dgm:t>
        <a:bodyPr/>
        <a:lstStyle/>
        <a:p>
          <a:endParaRPr lang="en-US"/>
        </a:p>
      </dgm:t>
    </dgm:pt>
    <dgm:pt modelId="{31A37EBB-B468-424E-B2AB-FBCECFB9AC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Jupyter Notebook / Google Colab</a:t>
          </a:r>
        </a:p>
      </dgm:t>
    </dgm:pt>
    <dgm:pt modelId="{24817DE8-628E-4E5C-A6E7-89BE80635FC5}" type="parTrans" cxnId="{131C8E6C-E964-4A73-8449-587A8134C771}">
      <dgm:prSet/>
      <dgm:spPr/>
      <dgm:t>
        <a:bodyPr/>
        <a:lstStyle/>
        <a:p>
          <a:endParaRPr lang="en-US"/>
        </a:p>
      </dgm:t>
    </dgm:pt>
    <dgm:pt modelId="{BC85D611-40E9-4E30-8E97-C7904685DFAD}" type="sibTrans" cxnId="{131C8E6C-E964-4A73-8449-587A8134C771}">
      <dgm:prSet/>
      <dgm:spPr/>
      <dgm:t>
        <a:bodyPr/>
        <a:lstStyle/>
        <a:p>
          <a:endParaRPr lang="en-US"/>
        </a:p>
      </dgm:t>
    </dgm:pt>
    <dgm:pt modelId="{EF41CE72-ABB7-4A29-939B-8F02CF281A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Python packages (NumPy, Pandas, Matplotlib)</a:t>
          </a:r>
        </a:p>
      </dgm:t>
    </dgm:pt>
    <dgm:pt modelId="{E48F9B39-2129-4B3F-A09A-F6560F9DA327}" type="parTrans" cxnId="{7DA97D3B-6800-4EB8-81D7-8A1ADC348366}">
      <dgm:prSet/>
      <dgm:spPr/>
      <dgm:t>
        <a:bodyPr/>
        <a:lstStyle/>
        <a:p>
          <a:endParaRPr lang="en-US"/>
        </a:p>
      </dgm:t>
    </dgm:pt>
    <dgm:pt modelId="{C261EB94-F408-46C4-AF7E-32FB2CC51F78}" type="sibTrans" cxnId="{7DA97D3B-6800-4EB8-81D7-8A1ADC348366}">
      <dgm:prSet/>
      <dgm:spPr/>
      <dgm:t>
        <a:bodyPr/>
        <a:lstStyle/>
        <a:p>
          <a:endParaRPr lang="en-US"/>
        </a:p>
      </dgm:t>
    </dgm:pt>
    <dgm:pt modelId="{87698E75-8406-4B12-AAB7-57A72515EA2F}" type="pres">
      <dgm:prSet presAssocID="{A17866CE-1EFC-40D1-A549-05E8933C97F1}" presName="root" presStyleCnt="0">
        <dgm:presLayoutVars>
          <dgm:dir/>
          <dgm:resizeHandles val="exact"/>
        </dgm:presLayoutVars>
      </dgm:prSet>
      <dgm:spPr/>
    </dgm:pt>
    <dgm:pt modelId="{49C65DFB-776B-4D09-B63B-B722D5012D9A}" type="pres">
      <dgm:prSet presAssocID="{2B57FBE6-3799-41A5-A94D-1FCBC00BE285}" presName="compNode" presStyleCnt="0"/>
      <dgm:spPr/>
    </dgm:pt>
    <dgm:pt modelId="{9272FDBF-429C-45D2-991C-41EB5F25FB2C}" type="pres">
      <dgm:prSet presAssocID="{2B57FBE6-3799-41A5-A94D-1FCBC00BE28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BE31D43A-E28F-4FD4-9086-03C408C73BCA}" type="pres">
      <dgm:prSet presAssocID="{2B57FBE6-3799-41A5-A94D-1FCBC00BE285}" presName="iconSpace" presStyleCnt="0"/>
      <dgm:spPr/>
    </dgm:pt>
    <dgm:pt modelId="{6507256E-C919-4026-9B97-4F59E3689FC9}" type="pres">
      <dgm:prSet presAssocID="{2B57FBE6-3799-41A5-A94D-1FCBC00BE285}" presName="parTx" presStyleLbl="revTx" presStyleIdx="0" presStyleCnt="4">
        <dgm:presLayoutVars>
          <dgm:chMax val="0"/>
          <dgm:chPref val="0"/>
        </dgm:presLayoutVars>
      </dgm:prSet>
      <dgm:spPr/>
    </dgm:pt>
    <dgm:pt modelId="{BE2E24C2-8CBF-4C21-A676-21D5FFBE0246}" type="pres">
      <dgm:prSet presAssocID="{2B57FBE6-3799-41A5-A94D-1FCBC00BE285}" presName="txSpace" presStyleCnt="0"/>
      <dgm:spPr/>
    </dgm:pt>
    <dgm:pt modelId="{EA3843CB-EFED-491E-8D72-1B0EE83295A7}" type="pres">
      <dgm:prSet presAssocID="{2B57FBE6-3799-41A5-A94D-1FCBC00BE285}" presName="desTx" presStyleLbl="revTx" presStyleIdx="1" presStyleCnt="4">
        <dgm:presLayoutVars/>
      </dgm:prSet>
      <dgm:spPr/>
    </dgm:pt>
    <dgm:pt modelId="{BA8AEE66-C5DC-4099-8E84-EEBA35D6B930}" type="pres">
      <dgm:prSet presAssocID="{96313167-63CB-4DAF-93A2-379B08D06706}" presName="sibTrans" presStyleCnt="0"/>
      <dgm:spPr/>
    </dgm:pt>
    <dgm:pt modelId="{2548C04C-24CB-4F1D-A9FA-E3B00AA159CE}" type="pres">
      <dgm:prSet presAssocID="{4883D6A3-5185-4642-A3A4-82460BBAB47D}" presName="compNode" presStyleCnt="0"/>
      <dgm:spPr/>
    </dgm:pt>
    <dgm:pt modelId="{FCCE1B8B-9815-4DFD-AF0F-DA4371D7E4E4}" type="pres">
      <dgm:prSet presAssocID="{4883D6A3-5185-4642-A3A4-82460BBAB47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C65D750A-4006-4250-AB84-4A01409CF40C}" type="pres">
      <dgm:prSet presAssocID="{4883D6A3-5185-4642-A3A4-82460BBAB47D}" presName="iconSpace" presStyleCnt="0"/>
      <dgm:spPr/>
    </dgm:pt>
    <dgm:pt modelId="{4BE220BA-60A1-4F66-84A8-AFDF6FD917A9}" type="pres">
      <dgm:prSet presAssocID="{4883D6A3-5185-4642-A3A4-82460BBAB47D}" presName="parTx" presStyleLbl="revTx" presStyleIdx="2" presStyleCnt="4">
        <dgm:presLayoutVars>
          <dgm:chMax val="0"/>
          <dgm:chPref val="0"/>
        </dgm:presLayoutVars>
      </dgm:prSet>
      <dgm:spPr/>
    </dgm:pt>
    <dgm:pt modelId="{B1C683AE-E9A5-41F2-ADF3-D969F33B4182}" type="pres">
      <dgm:prSet presAssocID="{4883D6A3-5185-4642-A3A4-82460BBAB47D}" presName="txSpace" presStyleCnt="0"/>
      <dgm:spPr/>
    </dgm:pt>
    <dgm:pt modelId="{B948CA18-95F4-4E1C-8720-8F0715DD8CA8}" type="pres">
      <dgm:prSet presAssocID="{4883D6A3-5185-4642-A3A4-82460BBAB47D}" presName="desTx" presStyleLbl="revTx" presStyleIdx="3" presStyleCnt="4">
        <dgm:presLayoutVars/>
      </dgm:prSet>
      <dgm:spPr/>
    </dgm:pt>
  </dgm:ptLst>
  <dgm:cxnLst>
    <dgm:cxn modelId="{F8253200-E968-472C-845A-86D053E1D265}" srcId="{2B57FBE6-3799-41A5-A94D-1FCBC00BE285}" destId="{DA248BFA-6C4C-4B67-965C-EC46DFB8F380}" srcOrd="1" destOrd="0" parTransId="{1B514E2D-0F3C-443A-A539-589BA5D26487}" sibTransId="{D2051D22-D6B5-4CCC-AB2F-8F63A2C30C71}"/>
    <dgm:cxn modelId="{F9751417-0D6B-48AA-99C5-1412B29D0B7F}" type="presOf" srcId="{A17866CE-1EFC-40D1-A549-05E8933C97F1}" destId="{87698E75-8406-4B12-AAB7-57A72515EA2F}" srcOrd="0" destOrd="0" presId="urn:microsoft.com/office/officeart/2018/2/layout/IconLabelDescriptionList"/>
    <dgm:cxn modelId="{7DA97D3B-6800-4EB8-81D7-8A1ADC348366}" srcId="{4883D6A3-5185-4642-A3A4-82460BBAB47D}" destId="{EF41CE72-ABB7-4A29-939B-8F02CF281A4C}" srcOrd="1" destOrd="0" parTransId="{E48F9B39-2129-4B3F-A09A-F6560F9DA327}" sibTransId="{C261EB94-F408-46C4-AF7E-32FB2CC51F78}"/>
    <dgm:cxn modelId="{F5F4B248-2E1F-4D58-9AE3-3BBCF0E07A3A}" type="presOf" srcId="{4883D6A3-5185-4642-A3A4-82460BBAB47D}" destId="{4BE220BA-60A1-4F66-84A8-AFDF6FD917A9}" srcOrd="0" destOrd="0" presId="urn:microsoft.com/office/officeart/2018/2/layout/IconLabelDescriptionList"/>
    <dgm:cxn modelId="{131C8E6C-E964-4A73-8449-587A8134C771}" srcId="{4883D6A3-5185-4642-A3A4-82460BBAB47D}" destId="{31A37EBB-B468-424E-B2AB-FBCECFB9AC73}" srcOrd="0" destOrd="0" parTransId="{24817DE8-628E-4E5C-A6E7-89BE80635FC5}" sibTransId="{BC85D611-40E9-4E30-8E97-C7904685DFAD}"/>
    <dgm:cxn modelId="{3F55646F-C0FB-47C8-865E-7E9FDCF0C951}" srcId="{A17866CE-1EFC-40D1-A549-05E8933C97F1}" destId="{4883D6A3-5185-4642-A3A4-82460BBAB47D}" srcOrd="1" destOrd="0" parTransId="{2BEE15DB-89A3-47C5-A3C8-D666CE3F3AFD}" sibTransId="{7583F138-E26B-4E16-96AF-BA567612B027}"/>
    <dgm:cxn modelId="{2D628697-D26B-4239-A652-3DA5C63C4A71}" type="presOf" srcId="{31A37EBB-B468-424E-B2AB-FBCECFB9AC73}" destId="{B948CA18-95F4-4E1C-8720-8F0715DD8CA8}" srcOrd="0" destOrd="0" presId="urn:microsoft.com/office/officeart/2018/2/layout/IconLabelDescriptionList"/>
    <dgm:cxn modelId="{ADACD9BA-6889-4667-9351-7C1C77C168B6}" type="presOf" srcId="{EF41CE72-ABB7-4A29-939B-8F02CF281A4C}" destId="{B948CA18-95F4-4E1C-8720-8F0715DD8CA8}" srcOrd="0" destOrd="1" presId="urn:microsoft.com/office/officeart/2018/2/layout/IconLabelDescriptionList"/>
    <dgm:cxn modelId="{3BE8F9C2-D0F9-4051-B322-A77B57268907}" srcId="{A17866CE-1EFC-40D1-A549-05E8933C97F1}" destId="{2B57FBE6-3799-41A5-A94D-1FCBC00BE285}" srcOrd="0" destOrd="0" parTransId="{B8355D47-E006-45F9-AFC1-3E7534A7C594}" sibTransId="{96313167-63CB-4DAF-93A2-379B08D06706}"/>
    <dgm:cxn modelId="{AF1663C9-A7FE-445C-87A0-00E0DA1E779B}" type="presOf" srcId="{2B57FBE6-3799-41A5-A94D-1FCBC00BE285}" destId="{6507256E-C919-4026-9B97-4F59E3689FC9}" srcOrd="0" destOrd="0" presId="urn:microsoft.com/office/officeart/2018/2/layout/IconLabelDescriptionList"/>
    <dgm:cxn modelId="{88960AE7-CFDA-4992-81F2-ADB1A92F61F5}" type="presOf" srcId="{F2F5AE2F-0488-4A9D-8E28-CD54C44E15DE}" destId="{EA3843CB-EFED-491E-8D72-1B0EE83295A7}" srcOrd="0" destOrd="0" presId="urn:microsoft.com/office/officeart/2018/2/layout/IconLabelDescriptionList"/>
    <dgm:cxn modelId="{853C25F7-8B7D-4CA9-BA73-D69F5DC4ECCB}" type="presOf" srcId="{DA248BFA-6C4C-4B67-965C-EC46DFB8F380}" destId="{EA3843CB-EFED-491E-8D72-1B0EE83295A7}" srcOrd="0" destOrd="1" presId="urn:microsoft.com/office/officeart/2018/2/layout/IconLabelDescriptionList"/>
    <dgm:cxn modelId="{3A2C76F9-12B2-407F-8174-7BB305ADD6EF}" srcId="{2B57FBE6-3799-41A5-A94D-1FCBC00BE285}" destId="{F2F5AE2F-0488-4A9D-8E28-CD54C44E15DE}" srcOrd="0" destOrd="0" parTransId="{08181838-630B-4D4C-9CDE-708319AAC172}" sibTransId="{E656EC43-CD40-4A84-AD41-7C66D545AC90}"/>
    <dgm:cxn modelId="{6668B59E-4BFE-43FE-BC62-41E429969E36}" type="presParOf" srcId="{87698E75-8406-4B12-AAB7-57A72515EA2F}" destId="{49C65DFB-776B-4D09-B63B-B722D5012D9A}" srcOrd="0" destOrd="0" presId="urn:microsoft.com/office/officeart/2018/2/layout/IconLabelDescriptionList"/>
    <dgm:cxn modelId="{BEF13AE6-9E44-48E3-9E33-26FC9E6AF1FB}" type="presParOf" srcId="{49C65DFB-776B-4D09-B63B-B722D5012D9A}" destId="{9272FDBF-429C-45D2-991C-41EB5F25FB2C}" srcOrd="0" destOrd="0" presId="urn:microsoft.com/office/officeart/2018/2/layout/IconLabelDescriptionList"/>
    <dgm:cxn modelId="{EAABDA2E-9D45-4C8B-9467-381FFC3F6A66}" type="presParOf" srcId="{49C65DFB-776B-4D09-B63B-B722D5012D9A}" destId="{BE31D43A-E28F-4FD4-9086-03C408C73BCA}" srcOrd="1" destOrd="0" presId="urn:microsoft.com/office/officeart/2018/2/layout/IconLabelDescriptionList"/>
    <dgm:cxn modelId="{4D6AFA8C-48D2-4C23-8B60-BA9B8289894D}" type="presParOf" srcId="{49C65DFB-776B-4D09-B63B-B722D5012D9A}" destId="{6507256E-C919-4026-9B97-4F59E3689FC9}" srcOrd="2" destOrd="0" presId="urn:microsoft.com/office/officeart/2018/2/layout/IconLabelDescriptionList"/>
    <dgm:cxn modelId="{A2CCB297-9B9B-492C-939F-17897C277AFC}" type="presParOf" srcId="{49C65DFB-776B-4D09-B63B-B722D5012D9A}" destId="{BE2E24C2-8CBF-4C21-A676-21D5FFBE0246}" srcOrd="3" destOrd="0" presId="urn:microsoft.com/office/officeart/2018/2/layout/IconLabelDescriptionList"/>
    <dgm:cxn modelId="{D048280E-5E63-47ED-A7AE-83E115BB5A51}" type="presParOf" srcId="{49C65DFB-776B-4D09-B63B-B722D5012D9A}" destId="{EA3843CB-EFED-491E-8D72-1B0EE83295A7}" srcOrd="4" destOrd="0" presId="urn:microsoft.com/office/officeart/2018/2/layout/IconLabelDescriptionList"/>
    <dgm:cxn modelId="{166E0C75-C856-49DA-B137-00494C9380B7}" type="presParOf" srcId="{87698E75-8406-4B12-AAB7-57A72515EA2F}" destId="{BA8AEE66-C5DC-4099-8E84-EEBA35D6B930}" srcOrd="1" destOrd="0" presId="urn:microsoft.com/office/officeart/2018/2/layout/IconLabelDescriptionList"/>
    <dgm:cxn modelId="{02720B8F-9816-4972-9716-800302583D2F}" type="presParOf" srcId="{87698E75-8406-4B12-AAB7-57A72515EA2F}" destId="{2548C04C-24CB-4F1D-A9FA-E3B00AA159CE}" srcOrd="2" destOrd="0" presId="urn:microsoft.com/office/officeart/2018/2/layout/IconLabelDescriptionList"/>
    <dgm:cxn modelId="{4DFBF512-97CD-44A5-8126-85F0CCDDAB8C}" type="presParOf" srcId="{2548C04C-24CB-4F1D-A9FA-E3B00AA159CE}" destId="{FCCE1B8B-9815-4DFD-AF0F-DA4371D7E4E4}" srcOrd="0" destOrd="0" presId="urn:microsoft.com/office/officeart/2018/2/layout/IconLabelDescriptionList"/>
    <dgm:cxn modelId="{79C5BFA7-0FD2-4FE2-859D-343F842FE8A8}" type="presParOf" srcId="{2548C04C-24CB-4F1D-A9FA-E3B00AA159CE}" destId="{C65D750A-4006-4250-AB84-4A01409CF40C}" srcOrd="1" destOrd="0" presId="urn:microsoft.com/office/officeart/2018/2/layout/IconLabelDescriptionList"/>
    <dgm:cxn modelId="{1D65FE3C-01D2-4CA4-97D1-082EED14BABF}" type="presParOf" srcId="{2548C04C-24CB-4F1D-A9FA-E3B00AA159CE}" destId="{4BE220BA-60A1-4F66-84A8-AFDF6FD917A9}" srcOrd="2" destOrd="0" presId="urn:microsoft.com/office/officeart/2018/2/layout/IconLabelDescriptionList"/>
    <dgm:cxn modelId="{3777A4D7-0FEA-46C3-99DC-DA4B38BE073E}" type="presParOf" srcId="{2548C04C-24CB-4F1D-A9FA-E3B00AA159CE}" destId="{B1C683AE-E9A5-41F2-ADF3-D969F33B4182}" srcOrd="3" destOrd="0" presId="urn:microsoft.com/office/officeart/2018/2/layout/IconLabelDescriptionList"/>
    <dgm:cxn modelId="{49A1D1AE-D8FB-45F8-825F-339AEEA5D9FB}" type="presParOf" srcId="{2548C04C-24CB-4F1D-A9FA-E3B00AA159CE}" destId="{B948CA18-95F4-4E1C-8720-8F0715DD8CA8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444ADB8-DFB4-4D69-9BDE-098587A640FB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6F8DC5-338E-4579-BCFA-4C7235DE771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Python Essentials for Actuaries</a:t>
          </a:r>
        </a:p>
      </dgm:t>
    </dgm:pt>
    <dgm:pt modelId="{45E443EE-B9F0-4452-BAB5-BC5A9BBABB92}" type="parTrans" cxnId="{1EFE4524-845C-4214-A4FB-C2354A2A22B5}">
      <dgm:prSet/>
      <dgm:spPr/>
      <dgm:t>
        <a:bodyPr/>
        <a:lstStyle/>
        <a:p>
          <a:endParaRPr lang="en-US"/>
        </a:p>
      </dgm:t>
    </dgm:pt>
    <dgm:pt modelId="{7E957901-DB3D-4D67-B6A1-0DB618A22FCE}" type="sibTrans" cxnId="{1EFE4524-845C-4214-A4FB-C2354A2A22B5}">
      <dgm:prSet/>
      <dgm:spPr/>
      <dgm:t>
        <a:bodyPr/>
        <a:lstStyle/>
        <a:p>
          <a:endParaRPr lang="en-US"/>
        </a:p>
      </dgm:t>
    </dgm:pt>
    <dgm:pt modelId="{CADFB100-5A14-4241-B4B9-DE8578F1F1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Variables, data types, loops, functions (with actuarial-flavored examples, e.g., mortality table loop)</a:t>
          </a:r>
        </a:p>
      </dgm:t>
    </dgm:pt>
    <dgm:pt modelId="{F07A908E-3892-41F6-A0CB-EEB0434B9694}" type="parTrans" cxnId="{EFA3AA8E-A24E-4230-A5DA-3D1B841EB442}">
      <dgm:prSet/>
      <dgm:spPr/>
      <dgm:t>
        <a:bodyPr/>
        <a:lstStyle/>
        <a:p>
          <a:endParaRPr lang="en-US"/>
        </a:p>
      </dgm:t>
    </dgm:pt>
    <dgm:pt modelId="{9D3650A2-74DD-46F6-824E-9AEF37F5AC3D}" type="sibTrans" cxnId="{EFA3AA8E-A24E-4230-A5DA-3D1B841EB442}">
      <dgm:prSet/>
      <dgm:spPr/>
      <dgm:t>
        <a:bodyPr/>
        <a:lstStyle/>
        <a:p>
          <a:endParaRPr lang="en-US"/>
        </a:p>
      </dgm:t>
    </dgm:pt>
    <dgm:pt modelId="{9343DDDA-7784-4440-8DCB-BBB30F76A09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Data Handling</a:t>
          </a:r>
        </a:p>
      </dgm:t>
    </dgm:pt>
    <dgm:pt modelId="{19A4ED1A-72E0-4C72-A563-17A645612D33}" type="parTrans" cxnId="{C2A8DB4B-CA2E-4D47-AA8F-930CD6733597}">
      <dgm:prSet/>
      <dgm:spPr/>
      <dgm:t>
        <a:bodyPr/>
        <a:lstStyle/>
        <a:p>
          <a:endParaRPr lang="en-US"/>
        </a:p>
      </dgm:t>
    </dgm:pt>
    <dgm:pt modelId="{113C2C69-08A7-4AD2-B2D8-A21CCF3444E4}" type="sibTrans" cxnId="{C2A8DB4B-CA2E-4D47-AA8F-930CD6733597}">
      <dgm:prSet/>
      <dgm:spPr/>
      <dgm:t>
        <a:bodyPr/>
        <a:lstStyle/>
        <a:p>
          <a:endParaRPr lang="en-US"/>
        </a:p>
      </dgm:t>
    </dgm:pt>
    <dgm:pt modelId="{DB6F9DCD-6A55-4DFB-A81A-4A88ADAC7F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Reading Excel/CSV files</a:t>
          </a:r>
        </a:p>
      </dgm:t>
    </dgm:pt>
    <dgm:pt modelId="{FA22F665-8C38-438D-9530-9B12FC8EE89F}" type="parTrans" cxnId="{EBCD27F8-9D13-421A-A25E-F77A8ED19DA5}">
      <dgm:prSet/>
      <dgm:spPr/>
      <dgm:t>
        <a:bodyPr/>
        <a:lstStyle/>
        <a:p>
          <a:endParaRPr lang="en-US"/>
        </a:p>
      </dgm:t>
    </dgm:pt>
    <dgm:pt modelId="{7588E23F-8663-4771-9DB8-6AEFE6DC1334}" type="sibTrans" cxnId="{EBCD27F8-9D13-421A-A25E-F77A8ED19DA5}">
      <dgm:prSet/>
      <dgm:spPr/>
      <dgm:t>
        <a:bodyPr/>
        <a:lstStyle/>
        <a:p>
          <a:endParaRPr lang="en-US"/>
        </a:p>
      </dgm:t>
    </dgm:pt>
    <dgm:pt modelId="{0F53E758-C048-4613-84C6-C467325DE5E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cleaning (missing values, formatting)</a:t>
          </a:r>
        </a:p>
      </dgm:t>
    </dgm:pt>
    <dgm:pt modelId="{B4CB8858-E077-4C57-8FD9-B682A344F50D}" type="parTrans" cxnId="{EB06C921-A440-4CBB-997F-9DF23E9BB8AD}">
      <dgm:prSet/>
      <dgm:spPr/>
      <dgm:t>
        <a:bodyPr/>
        <a:lstStyle/>
        <a:p>
          <a:endParaRPr lang="en-US"/>
        </a:p>
      </dgm:t>
    </dgm:pt>
    <dgm:pt modelId="{62CDB25A-981A-4167-97E0-CBABC9D9406B}" type="sibTrans" cxnId="{EB06C921-A440-4CBB-997F-9DF23E9BB8AD}">
      <dgm:prSet/>
      <dgm:spPr/>
      <dgm:t>
        <a:bodyPr/>
        <a:lstStyle/>
        <a:p>
          <a:endParaRPr lang="en-US"/>
        </a:p>
      </dgm:t>
    </dgm:pt>
    <dgm:pt modelId="{33B72FDA-4717-45A0-A310-49B77155E2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Simple actuarial example: Import policy data</a:t>
          </a:r>
        </a:p>
      </dgm:t>
    </dgm:pt>
    <dgm:pt modelId="{CF6C8D4A-0D27-4818-A53C-4CA6A4E85F5D}" type="parTrans" cxnId="{608E5A13-511D-4509-9942-8F0FE847A92B}">
      <dgm:prSet/>
      <dgm:spPr/>
      <dgm:t>
        <a:bodyPr/>
        <a:lstStyle/>
        <a:p>
          <a:endParaRPr lang="en-US"/>
        </a:p>
      </dgm:t>
    </dgm:pt>
    <dgm:pt modelId="{96EE6488-4CAA-47DC-A5B6-1D2E0A8280F7}" type="sibTrans" cxnId="{608E5A13-511D-4509-9942-8F0FE847A92B}">
      <dgm:prSet/>
      <dgm:spPr/>
      <dgm:t>
        <a:bodyPr/>
        <a:lstStyle/>
        <a:p>
          <a:endParaRPr lang="en-US"/>
        </a:p>
      </dgm:t>
    </dgm:pt>
    <dgm:pt modelId="{5B176FBE-8C7D-4115-9088-1DFFE54FE750}" type="pres">
      <dgm:prSet presAssocID="{C444ADB8-DFB4-4D69-9BDE-098587A640FB}" presName="root" presStyleCnt="0">
        <dgm:presLayoutVars>
          <dgm:dir/>
          <dgm:resizeHandles val="exact"/>
        </dgm:presLayoutVars>
      </dgm:prSet>
      <dgm:spPr/>
    </dgm:pt>
    <dgm:pt modelId="{6380DC6B-FE35-4DD0-8E1B-EC3EF20C5F37}" type="pres">
      <dgm:prSet presAssocID="{5A6F8DC5-338E-4579-BCFA-4C7235DE771F}" presName="compNode" presStyleCnt="0"/>
      <dgm:spPr/>
    </dgm:pt>
    <dgm:pt modelId="{0F3545F4-22D7-452B-B917-512A3FE33CED}" type="pres">
      <dgm:prSet presAssocID="{5A6F8DC5-338E-4579-BCFA-4C7235DE771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35277547-CF57-474D-A152-1E4B7A23A6F9}" type="pres">
      <dgm:prSet presAssocID="{5A6F8DC5-338E-4579-BCFA-4C7235DE771F}" presName="iconSpace" presStyleCnt="0"/>
      <dgm:spPr/>
    </dgm:pt>
    <dgm:pt modelId="{30F59FBD-7AFA-42C0-AC1F-559B0AFFD329}" type="pres">
      <dgm:prSet presAssocID="{5A6F8DC5-338E-4579-BCFA-4C7235DE771F}" presName="parTx" presStyleLbl="revTx" presStyleIdx="0" presStyleCnt="4">
        <dgm:presLayoutVars>
          <dgm:chMax val="0"/>
          <dgm:chPref val="0"/>
        </dgm:presLayoutVars>
      </dgm:prSet>
      <dgm:spPr/>
    </dgm:pt>
    <dgm:pt modelId="{1B596CCF-E1A9-4D82-B7B2-9F42D18B26ED}" type="pres">
      <dgm:prSet presAssocID="{5A6F8DC5-338E-4579-BCFA-4C7235DE771F}" presName="txSpace" presStyleCnt="0"/>
      <dgm:spPr/>
    </dgm:pt>
    <dgm:pt modelId="{DA30B193-44ED-495F-899E-41D801589123}" type="pres">
      <dgm:prSet presAssocID="{5A6F8DC5-338E-4579-BCFA-4C7235DE771F}" presName="desTx" presStyleLbl="revTx" presStyleIdx="1" presStyleCnt="4">
        <dgm:presLayoutVars/>
      </dgm:prSet>
      <dgm:spPr/>
    </dgm:pt>
    <dgm:pt modelId="{374CC353-7EF0-43BA-BA2E-6EBABC7BFB30}" type="pres">
      <dgm:prSet presAssocID="{7E957901-DB3D-4D67-B6A1-0DB618A22FCE}" presName="sibTrans" presStyleCnt="0"/>
      <dgm:spPr/>
    </dgm:pt>
    <dgm:pt modelId="{3D8B247E-7783-47D8-A04C-F88D4883B9E6}" type="pres">
      <dgm:prSet presAssocID="{9343DDDA-7784-4440-8DCB-BBB30F76A09D}" presName="compNode" presStyleCnt="0"/>
      <dgm:spPr/>
    </dgm:pt>
    <dgm:pt modelId="{2A9CC789-243D-4FA4-9A91-1BAA579E6551}" type="pres">
      <dgm:prSet presAssocID="{9343DDDA-7784-4440-8DCB-BBB30F76A09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2A668015-DCF5-48DA-8EE7-8001DC0E3AEE}" type="pres">
      <dgm:prSet presAssocID="{9343DDDA-7784-4440-8DCB-BBB30F76A09D}" presName="iconSpace" presStyleCnt="0"/>
      <dgm:spPr/>
    </dgm:pt>
    <dgm:pt modelId="{88F733AF-91DE-4A8D-9E47-2A484815522A}" type="pres">
      <dgm:prSet presAssocID="{9343DDDA-7784-4440-8DCB-BBB30F76A09D}" presName="parTx" presStyleLbl="revTx" presStyleIdx="2" presStyleCnt="4">
        <dgm:presLayoutVars>
          <dgm:chMax val="0"/>
          <dgm:chPref val="0"/>
        </dgm:presLayoutVars>
      </dgm:prSet>
      <dgm:spPr/>
    </dgm:pt>
    <dgm:pt modelId="{2905C7B2-9FEF-4335-8309-F1A870D2E22A}" type="pres">
      <dgm:prSet presAssocID="{9343DDDA-7784-4440-8DCB-BBB30F76A09D}" presName="txSpace" presStyleCnt="0"/>
      <dgm:spPr/>
    </dgm:pt>
    <dgm:pt modelId="{91D49FDD-E7E7-4A41-958F-6CB0B420376A}" type="pres">
      <dgm:prSet presAssocID="{9343DDDA-7784-4440-8DCB-BBB30F76A09D}" presName="desTx" presStyleLbl="revTx" presStyleIdx="3" presStyleCnt="4">
        <dgm:presLayoutVars/>
      </dgm:prSet>
      <dgm:spPr/>
    </dgm:pt>
  </dgm:ptLst>
  <dgm:cxnLst>
    <dgm:cxn modelId="{608E5A13-511D-4509-9942-8F0FE847A92B}" srcId="{9343DDDA-7784-4440-8DCB-BBB30F76A09D}" destId="{33B72FDA-4717-45A0-A310-49B77155E2AD}" srcOrd="2" destOrd="0" parTransId="{CF6C8D4A-0D27-4818-A53C-4CA6A4E85F5D}" sibTransId="{96EE6488-4CAA-47DC-A5B6-1D2E0A8280F7}"/>
    <dgm:cxn modelId="{EB06C921-A440-4CBB-997F-9DF23E9BB8AD}" srcId="{9343DDDA-7784-4440-8DCB-BBB30F76A09D}" destId="{0F53E758-C048-4613-84C6-C467325DE5E6}" srcOrd="1" destOrd="0" parTransId="{B4CB8858-E077-4C57-8FD9-B682A344F50D}" sibTransId="{62CDB25A-981A-4167-97E0-CBABC9D9406B}"/>
    <dgm:cxn modelId="{1EFE4524-845C-4214-A4FB-C2354A2A22B5}" srcId="{C444ADB8-DFB4-4D69-9BDE-098587A640FB}" destId="{5A6F8DC5-338E-4579-BCFA-4C7235DE771F}" srcOrd="0" destOrd="0" parTransId="{45E443EE-B9F0-4452-BAB5-BC5A9BBABB92}" sibTransId="{7E957901-DB3D-4D67-B6A1-0DB618A22FCE}"/>
    <dgm:cxn modelId="{FD812242-BF30-400E-9E4C-F445144F7952}" type="presOf" srcId="{0F53E758-C048-4613-84C6-C467325DE5E6}" destId="{91D49FDD-E7E7-4A41-958F-6CB0B420376A}" srcOrd="0" destOrd="1" presId="urn:microsoft.com/office/officeart/2018/2/layout/IconLabelDescriptionList"/>
    <dgm:cxn modelId="{C2A8DB4B-CA2E-4D47-AA8F-930CD6733597}" srcId="{C444ADB8-DFB4-4D69-9BDE-098587A640FB}" destId="{9343DDDA-7784-4440-8DCB-BBB30F76A09D}" srcOrd="1" destOrd="0" parTransId="{19A4ED1A-72E0-4C72-A563-17A645612D33}" sibTransId="{113C2C69-08A7-4AD2-B2D8-A21CCF3444E4}"/>
    <dgm:cxn modelId="{6D581B72-46AF-4002-B283-F7F69F5CF88C}" type="presOf" srcId="{5A6F8DC5-338E-4579-BCFA-4C7235DE771F}" destId="{30F59FBD-7AFA-42C0-AC1F-559B0AFFD329}" srcOrd="0" destOrd="0" presId="urn:microsoft.com/office/officeart/2018/2/layout/IconLabelDescriptionList"/>
    <dgm:cxn modelId="{EFA3AA8E-A24E-4230-A5DA-3D1B841EB442}" srcId="{5A6F8DC5-338E-4579-BCFA-4C7235DE771F}" destId="{CADFB100-5A14-4241-B4B9-DE8578F1F1C9}" srcOrd="0" destOrd="0" parTransId="{F07A908E-3892-41F6-A0CB-EEB0434B9694}" sibTransId="{9D3650A2-74DD-46F6-824E-9AEF37F5AC3D}"/>
    <dgm:cxn modelId="{7363EA95-0F9C-4C47-B43C-F835593139CF}" type="presOf" srcId="{DB6F9DCD-6A55-4DFB-A81A-4A88ADAC7F8F}" destId="{91D49FDD-E7E7-4A41-958F-6CB0B420376A}" srcOrd="0" destOrd="0" presId="urn:microsoft.com/office/officeart/2018/2/layout/IconLabelDescriptionList"/>
    <dgm:cxn modelId="{16ED80A5-DB51-44A3-8ACB-EAA32F4D759D}" type="presOf" srcId="{CADFB100-5A14-4241-B4B9-DE8578F1F1C9}" destId="{DA30B193-44ED-495F-899E-41D801589123}" srcOrd="0" destOrd="0" presId="urn:microsoft.com/office/officeart/2018/2/layout/IconLabelDescriptionList"/>
    <dgm:cxn modelId="{BA90B8B0-C571-48F2-A03A-F606D9D2CFF5}" type="presOf" srcId="{33B72FDA-4717-45A0-A310-49B77155E2AD}" destId="{91D49FDD-E7E7-4A41-958F-6CB0B420376A}" srcOrd="0" destOrd="2" presId="urn:microsoft.com/office/officeart/2018/2/layout/IconLabelDescriptionList"/>
    <dgm:cxn modelId="{926895CB-8179-4A28-BB6F-6302C238D14B}" type="presOf" srcId="{9343DDDA-7784-4440-8DCB-BBB30F76A09D}" destId="{88F733AF-91DE-4A8D-9E47-2A484815522A}" srcOrd="0" destOrd="0" presId="urn:microsoft.com/office/officeart/2018/2/layout/IconLabelDescriptionList"/>
    <dgm:cxn modelId="{EBCD27F8-9D13-421A-A25E-F77A8ED19DA5}" srcId="{9343DDDA-7784-4440-8DCB-BBB30F76A09D}" destId="{DB6F9DCD-6A55-4DFB-A81A-4A88ADAC7F8F}" srcOrd="0" destOrd="0" parTransId="{FA22F665-8C38-438D-9530-9B12FC8EE89F}" sibTransId="{7588E23F-8663-4771-9DB8-6AEFE6DC1334}"/>
    <dgm:cxn modelId="{E1FE5BFA-2E63-48D2-9598-72D337E9EFDF}" type="presOf" srcId="{C444ADB8-DFB4-4D69-9BDE-098587A640FB}" destId="{5B176FBE-8C7D-4115-9088-1DFFE54FE750}" srcOrd="0" destOrd="0" presId="urn:microsoft.com/office/officeart/2018/2/layout/IconLabelDescriptionList"/>
    <dgm:cxn modelId="{E6D15CAF-E348-446C-B6E1-0DED2FFD66ED}" type="presParOf" srcId="{5B176FBE-8C7D-4115-9088-1DFFE54FE750}" destId="{6380DC6B-FE35-4DD0-8E1B-EC3EF20C5F37}" srcOrd="0" destOrd="0" presId="urn:microsoft.com/office/officeart/2018/2/layout/IconLabelDescriptionList"/>
    <dgm:cxn modelId="{C150AE90-F715-4851-889D-32E13A4089D9}" type="presParOf" srcId="{6380DC6B-FE35-4DD0-8E1B-EC3EF20C5F37}" destId="{0F3545F4-22D7-452B-B917-512A3FE33CED}" srcOrd="0" destOrd="0" presId="urn:microsoft.com/office/officeart/2018/2/layout/IconLabelDescriptionList"/>
    <dgm:cxn modelId="{A252B7A1-8B1E-43F6-9C44-87E7A3BFBC19}" type="presParOf" srcId="{6380DC6B-FE35-4DD0-8E1B-EC3EF20C5F37}" destId="{35277547-CF57-474D-A152-1E4B7A23A6F9}" srcOrd="1" destOrd="0" presId="urn:microsoft.com/office/officeart/2018/2/layout/IconLabelDescriptionList"/>
    <dgm:cxn modelId="{4B36427E-0A64-4515-B6BC-F734CF69394E}" type="presParOf" srcId="{6380DC6B-FE35-4DD0-8E1B-EC3EF20C5F37}" destId="{30F59FBD-7AFA-42C0-AC1F-559B0AFFD329}" srcOrd="2" destOrd="0" presId="urn:microsoft.com/office/officeart/2018/2/layout/IconLabelDescriptionList"/>
    <dgm:cxn modelId="{83494505-4BC0-44B9-A09D-20F316496D58}" type="presParOf" srcId="{6380DC6B-FE35-4DD0-8E1B-EC3EF20C5F37}" destId="{1B596CCF-E1A9-4D82-B7B2-9F42D18B26ED}" srcOrd="3" destOrd="0" presId="urn:microsoft.com/office/officeart/2018/2/layout/IconLabelDescriptionList"/>
    <dgm:cxn modelId="{33B16F59-A1D1-43CE-B6D6-A5F77B39B953}" type="presParOf" srcId="{6380DC6B-FE35-4DD0-8E1B-EC3EF20C5F37}" destId="{DA30B193-44ED-495F-899E-41D801589123}" srcOrd="4" destOrd="0" presId="urn:microsoft.com/office/officeart/2018/2/layout/IconLabelDescriptionList"/>
    <dgm:cxn modelId="{5C8177CF-CE94-463F-B7D5-84E4D8D9D464}" type="presParOf" srcId="{5B176FBE-8C7D-4115-9088-1DFFE54FE750}" destId="{374CC353-7EF0-43BA-BA2E-6EBABC7BFB30}" srcOrd="1" destOrd="0" presId="urn:microsoft.com/office/officeart/2018/2/layout/IconLabelDescriptionList"/>
    <dgm:cxn modelId="{D1798162-3918-4B47-9E6F-AF87B78F8A1D}" type="presParOf" srcId="{5B176FBE-8C7D-4115-9088-1DFFE54FE750}" destId="{3D8B247E-7783-47D8-A04C-F88D4883B9E6}" srcOrd="2" destOrd="0" presId="urn:microsoft.com/office/officeart/2018/2/layout/IconLabelDescriptionList"/>
    <dgm:cxn modelId="{8562A6A8-3BEF-4E15-AFD0-763C6137516E}" type="presParOf" srcId="{3D8B247E-7783-47D8-A04C-F88D4883B9E6}" destId="{2A9CC789-243D-4FA4-9A91-1BAA579E6551}" srcOrd="0" destOrd="0" presId="urn:microsoft.com/office/officeart/2018/2/layout/IconLabelDescriptionList"/>
    <dgm:cxn modelId="{DC477980-7D26-4058-8BDF-4B166F1C082E}" type="presParOf" srcId="{3D8B247E-7783-47D8-A04C-F88D4883B9E6}" destId="{2A668015-DCF5-48DA-8EE7-8001DC0E3AEE}" srcOrd="1" destOrd="0" presId="urn:microsoft.com/office/officeart/2018/2/layout/IconLabelDescriptionList"/>
    <dgm:cxn modelId="{F7601260-9D81-4B3E-BACD-21E42E6461D4}" type="presParOf" srcId="{3D8B247E-7783-47D8-A04C-F88D4883B9E6}" destId="{88F733AF-91DE-4A8D-9E47-2A484815522A}" srcOrd="2" destOrd="0" presId="urn:microsoft.com/office/officeart/2018/2/layout/IconLabelDescriptionList"/>
    <dgm:cxn modelId="{12A750B2-6AB5-4E90-9085-E1A0D28061B3}" type="presParOf" srcId="{3D8B247E-7783-47D8-A04C-F88D4883B9E6}" destId="{2905C7B2-9FEF-4335-8309-F1A870D2E22A}" srcOrd="3" destOrd="0" presId="urn:microsoft.com/office/officeart/2018/2/layout/IconLabelDescriptionList"/>
    <dgm:cxn modelId="{15B36594-85A5-4EA8-8B34-1552B281BA58}" type="presParOf" srcId="{3D8B247E-7783-47D8-A04C-F88D4883B9E6}" destId="{91D49FDD-E7E7-4A41-958F-6CB0B420376A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4205BBA-A50A-445B-96FA-C30D95F93673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3F1ACB1-4CB1-4F7A-8CAB-60471AA85C8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Automation</a:t>
          </a:r>
        </a:p>
      </dgm:t>
    </dgm:pt>
    <dgm:pt modelId="{CA1E4646-756E-4918-944E-68DD19B3AED8}" type="parTrans" cxnId="{3CB43287-C972-41B6-B151-003442FDC772}">
      <dgm:prSet/>
      <dgm:spPr/>
      <dgm:t>
        <a:bodyPr/>
        <a:lstStyle/>
        <a:p>
          <a:endParaRPr lang="en-US"/>
        </a:p>
      </dgm:t>
    </dgm:pt>
    <dgm:pt modelId="{356D097C-59B2-43FE-ADC1-5C388719D5F1}" type="sibTrans" cxnId="{3CB43287-C972-41B6-B151-003442FDC772}">
      <dgm:prSet/>
      <dgm:spPr/>
      <dgm:t>
        <a:bodyPr/>
        <a:lstStyle/>
        <a:p>
          <a:endParaRPr lang="en-US"/>
        </a:p>
      </dgm:t>
    </dgm:pt>
    <dgm:pt modelId="{A02EA427-2E82-47C0-B9C7-D1C462A11F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Generating reports automatically</a:t>
          </a:r>
        </a:p>
      </dgm:t>
    </dgm:pt>
    <dgm:pt modelId="{322B687C-43BC-4450-8FDD-3471ACDB4E61}" type="parTrans" cxnId="{B6C45E7F-E36F-47B4-8649-E22E5525C85C}">
      <dgm:prSet/>
      <dgm:spPr/>
      <dgm:t>
        <a:bodyPr/>
        <a:lstStyle/>
        <a:p>
          <a:endParaRPr lang="en-US"/>
        </a:p>
      </dgm:t>
    </dgm:pt>
    <dgm:pt modelId="{3DA6945E-82FF-4938-90BA-A1A5F826987F}" type="sibTrans" cxnId="{B6C45E7F-E36F-47B4-8649-E22E5525C85C}">
      <dgm:prSet/>
      <dgm:spPr/>
      <dgm:t>
        <a:bodyPr/>
        <a:lstStyle/>
        <a:p>
          <a:endParaRPr lang="en-US"/>
        </a:p>
      </dgm:t>
    </dgm:pt>
    <dgm:pt modelId="{5942D886-291D-4270-92EC-D55684D8AB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Example: Quarterly reserving tables</a:t>
          </a:r>
        </a:p>
      </dgm:t>
    </dgm:pt>
    <dgm:pt modelId="{CD12ADBE-5B6D-47C4-AE4E-EFD70A3296F6}" type="parTrans" cxnId="{69B0FEEF-BE6D-4630-AD74-7BE5107131C6}">
      <dgm:prSet/>
      <dgm:spPr/>
      <dgm:t>
        <a:bodyPr/>
        <a:lstStyle/>
        <a:p>
          <a:endParaRPr lang="en-US"/>
        </a:p>
      </dgm:t>
    </dgm:pt>
    <dgm:pt modelId="{26BDCFAB-7511-4D5B-8501-E7682E913B7D}" type="sibTrans" cxnId="{69B0FEEF-BE6D-4630-AD74-7BE5107131C6}">
      <dgm:prSet/>
      <dgm:spPr/>
      <dgm:t>
        <a:bodyPr/>
        <a:lstStyle/>
        <a:p>
          <a:endParaRPr lang="en-US"/>
        </a:p>
      </dgm:t>
    </dgm:pt>
    <dgm:pt modelId="{F8099940-360F-4014-8422-31596211BE4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Predictive Modeling Intro</a:t>
          </a:r>
        </a:p>
      </dgm:t>
    </dgm:pt>
    <dgm:pt modelId="{E75D251A-B868-49DD-8FBC-8B811B580530}" type="parTrans" cxnId="{C35B1C2A-A376-4295-8097-70DE799F224D}">
      <dgm:prSet/>
      <dgm:spPr/>
      <dgm:t>
        <a:bodyPr/>
        <a:lstStyle/>
        <a:p>
          <a:endParaRPr lang="en-US"/>
        </a:p>
      </dgm:t>
    </dgm:pt>
    <dgm:pt modelId="{C39CE90A-928F-4469-8635-88F1EBDE4406}" type="sibTrans" cxnId="{C35B1C2A-A376-4295-8097-70DE799F224D}">
      <dgm:prSet/>
      <dgm:spPr/>
      <dgm:t>
        <a:bodyPr/>
        <a:lstStyle/>
        <a:p>
          <a:endParaRPr lang="en-US"/>
        </a:p>
      </dgm:t>
    </dgm:pt>
    <dgm:pt modelId="{B9C16885-9648-435D-9CE8-8960E4157F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Logistic regression, survival analysis</a:t>
          </a:r>
        </a:p>
      </dgm:t>
    </dgm:pt>
    <dgm:pt modelId="{53D2DE3B-685D-4923-82CA-8D24B83F627B}" type="parTrans" cxnId="{53C34FFC-7199-434E-80EB-6031035AC9ED}">
      <dgm:prSet/>
      <dgm:spPr/>
      <dgm:t>
        <a:bodyPr/>
        <a:lstStyle/>
        <a:p>
          <a:endParaRPr lang="en-US"/>
        </a:p>
      </dgm:t>
    </dgm:pt>
    <dgm:pt modelId="{0BEAD4B2-729F-4CB1-B133-3A44972F47DC}" type="sibTrans" cxnId="{53C34FFC-7199-434E-80EB-6031035AC9ED}">
      <dgm:prSet/>
      <dgm:spPr/>
      <dgm:t>
        <a:bodyPr/>
        <a:lstStyle/>
        <a:p>
          <a:endParaRPr lang="en-US"/>
        </a:p>
      </dgm:t>
    </dgm:pt>
    <dgm:pt modelId="{C067F26A-BA7B-479E-A674-03951A830C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Example: Lapse probability model</a:t>
          </a:r>
        </a:p>
      </dgm:t>
    </dgm:pt>
    <dgm:pt modelId="{38C2366A-35DC-4182-9B38-C8F06338245F}" type="parTrans" cxnId="{8160EFB1-BA26-46F2-80FC-8165E3939E70}">
      <dgm:prSet/>
      <dgm:spPr/>
      <dgm:t>
        <a:bodyPr/>
        <a:lstStyle/>
        <a:p>
          <a:endParaRPr lang="en-US"/>
        </a:p>
      </dgm:t>
    </dgm:pt>
    <dgm:pt modelId="{E996DF57-2ED2-4859-8245-22F52CD125E3}" type="sibTrans" cxnId="{8160EFB1-BA26-46F2-80FC-8165E3939E70}">
      <dgm:prSet/>
      <dgm:spPr/>
      <dgm:t>
        <a:bodyPr/>
        <a:lstStyle/>
        <a:p>
          <a:endParaRPr lang="en-US"/>
        </a:p>
      </dgm:t>
    </dgm:pt>
    <dgm:pt modelId="{3883F747-3E6F-44AF-BFB1-7743480ED2FD}" type="pres">
      <dgm:prSet presAssocID="{24205BBA-A50A-445B-96FA-C30D95F93673}" presName="root" presStyleCnt="0">
        <dgm:presLayoutVars>
          <dgm:dir/>
          <dgm:resizeHandles val="exact"/>
        </dgm:presLayoutVars>
      </dgm:prSet>
      <dgm:spPr/>
    </dgm:pt>
    <dgm:pt modelId="{B9716380-C9A4-42EA-8FD0-69D590C4DA42}" type="pres">
      <dgm:prSet presAssocID="{63F1ACB1-4CB1-4F7A-8CAB-60471AA85C8B}" presName="compNode" presStyleCnt="0"/>
      <dgm:spPr/>
    </dgm:pt>
    <dgm:pt modelId="{C53EB0BE-7417-4B5F-809C-A822C9A58F33}" type="pres">
      <dgm:prSet presAssocID="{63F1ACB1-4CB1-4F7A-8CAB-60471AA85C8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39B9A77C-46AD-418B-AE77-8905A1A13886}" type="pres">
      <dgm:prSet presAssocID="{63F1ACB1-4CB1-4F7A-8CAB-60471AA85C8B}" presName="iconSpace" presStyleCnt="0"/>
      <dgm:spPr/>
    </dgm:pt>
    <dgm:pt modelId="{5733F57F-6A5E-4F11-BB8C-176B6A8A8458}" type="pres">
      <dgm:prSet presAssocID="{63F1ACB1-4CB1-4F7A-8CAB-60471AA85C8B}" presName="parTx" presStyleLbl="revTx" presStyleIdx="0" presStyleCnt="4">
        <dgm:presLayoutVars>
          <dgm:chMax val="0"/>
          <dgm:chPref val="0"/>
        </dgm:presLayoutVars>
      </dgm:prSet>
      <dgm:spPr/>
    </dgm:pt>
    <dgm:pt modelId="{193DA878-81C2-49E1-AE25-C911D8456AEB}" type="pres">
      <dgm:prSet presAssocID="{63F1ACB1-4CB1-4F7A-8CAB-60471AA85C8B}" presName="txSpace" presStyleCnt="0"/>
      <dgm:spPr/>
    </dgm:pt>
    <dgm:pt modelId="{2B38742F-D5C7-4AFD-8F63-B18726D211E7}" type="pres">
      <dgm:prSet presAssocID="{63F1ACB1-4CB1-4F7A-8CAB-60471AA85C8B}" presName="desTx" presStyleLbl="revTx" presStyleIdx="1" presStyleCnt="4">
        <dgm:presLayoutVars/>
      </dgm:prSet>
      <dgm:spPr/>
    </dgm:pt>
    <dgm:pt modelId="{B1607388-3A5D-4EF3-8C0A-94AAC01FC800}" type="pres">
      <dgm:prSet presAssocID="{356D097C-59B2-43FE-ADC1-5C388719D5F1}" presName="sibTrans" presStyleCnt="0"/>
      <dgm:spPr/>
    </dgm:pt>
    <dgm:pt modelId="{E037FE03-AA0F-4C42-B5F6-5BD3ED396D5A}" type="pres">
      <dgm:prSet presAssocID="{F8099940-360F-4014-8422-31596211BE43}" presName="compNode" presStyleCnt="0"/>
      <dgm:spPr/>
    </dgm:pt>
    <dgm:pt modelId="{26DF1D00-C773-4546-99FC-DBD8680CFB8F}" type="pres">
      <dgm:prSet presAssocID="{F8099940-360F-4014-8422-31596211BE4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F06A9B01-74BC-4BFF-B89B-9075C051F031}" type="pres">
      <dgm:prSet presAssocID="{F8099940-360F-4014-8422-31596211BE43}" presName="iconSpace" presStyleCnt="0"/>
      <dgm:spPr/>
    </dgm:pt>
    <dgm:pt modelId="{AA4F65D3-79A7-47A9-9ABA-D2940E6CB3E0}" type="pres">
      <dgm:prSet presAssocID="{F8099940-360F-4014-8422-31596211BE43}" presName="parTx" presStyleLbl="revTx" presStyleIdx="2" presStyleCnt="4">
        <dgm:presLayoutVars>
          <dgm:chMax val="0"/>
          <dgm:chPref val="0"/>
        </dgm:presLayoutVars>
      </dgm:prSet>
      <dgm:spPr/>
    </dgm:pt>
    <dgm:pt modelId="{3A178CD7-BF31-4273-83B9-F2601D9BD7A0}" type="pres">
      <dgm:prSet presAssocID="{F8099940-360F-4014-8422-31596211BE43}" presName="txSpace" presStyleCnt="0"/>
      <dgm:spPr/>
    </dgm:pt>
    <dgm:pt modelId="{A04A8395-48BC-4E40-96D0-C6D760896BE2}" type="pres">
      <dgm:prSet presAssocID="{F8099940-360F-4014-8422-31596211BE43}" presName="desTx" presStyleLbl="revTx" presStyleIdx="3" presStyleCnt="4">
        <dgm:presLayoutVars/>
      </dgm:prSet>
      <dgm:spPr/>
    </dgm:pt>
  </dgm:ptLst>
  <dgm:cxnLst>
    <dgm:cxn modelId="{66B73E0D-C3EE-45AE-83B8-D74CAB5047EC}" type="presOf" srcId="{24205BBA-A50A-445B-96FA-C30D95F93673}" destId="{3883F747-3E6F-44AF-BFB1-7743480ED2FD}" srcOrd="0" destOrd="0" presId="urn:microsoft.com/office/officeart/2018/2/layout/IconLabelDescriptionList"/>
    <dgm:cxn modelId="{4D12F617-2734-4821-9F7D-130CFFA7E74D}" type="presOf" srcId="{F8099940-360F-4014-8422-31596211BE43}" destId="{AA4F65D3-79A7-47A9-9ABA-D2940E6CB3E0}" srcOrd="0" destOrd="0" presId="urn:microsoft.com/office/officeart/2018/2/layout/IconLabelDescriptionList"/>
    <dgm:cxn modelId="{C35B1C2A-A376-4295-8097-70DE799F224D}" srcId="{24205BBA-A50A-445B-96FA-C30D95F93673}" destId="{F8099940-360F-4014-8422-31596211BE43}" srcOrd="1" destOrd="0" parTransId="{E75D251A-B868-49DD-8FBC-8B811B580530}" sibTransId="{C39CE90A-928F-4469-8635-88F1EBDE4406}"/>
    <dgm:cxn modelId="{D3006D48-974F-4B66-A0BE-BE5E72BE6CB6}" type="presOf" srcId="{5942D886-291D-4270-92EC-D55684D8AB0C}" destId="{2B38742F-D5C7-4AFD-8F63-B18726D211E7}" srcOrd="0" destOrd="1" presId="urn:microsoft.com/office/officeart/2018/2/layout/IconLabelDescriptionList"/>
    <dgm:cxn modelId="{B6C45E7F-E36F-47B4-8649-E22E5525C85C}" srcId="{63F1ACB1-4CB1-4F7A-8CAB-60471AA85C8B}" destId="{A02EA427-2E82-47C0-B9C7-D1C462A11F82}" srcOrd="0" destOrd="0" parTransId="{322B687C-43BC-4450-8FDD-3471ACDB4E61}" sibTransId="{3DA6945E-82FF-4938-90BA-A1A5F826987F}"/>
    <dgm:cxn modelId="{3CB43287-C972-41B6-B151-003442FDC772}" srcId="{24205BBA-A50A-445B-96FA-C30D95F93673}" destId="{63F1ACB1-4CB1-4F7A-8CAB-60471AA85C8B}" srcOrd="0" destOrd="0" parTransId="{CA1E4646-756E-4918-944E-68DD19B3AED8}" sibTransId="{356D097C-59B2-43FE-ADC1-5C388719D5F1}"/>
    <dgm:cxn modelId="{AE7057A9-E568-451E-A088-064CFD570AE4}" type="presOf" srcId="{B9C16885-9648-435D-9CE8-8960E4157F4C}" destId="{A04A8395-48BC-4E40-96D0-C6D760896BE2}" srcOrd="0" destOrd="0" presId="urn:microsoft.com/office/officeart/2018/2/layout/IconLabelDescriptionList"/>
    <dgm:cxn modelId="{8160EFB1-BA26-46F2-80FC-8165E3939E70}" srcId="{F8099940-360F-4014-8422-31596211BE43}" destId="{C067F26A-BA7B-479E-A674-03951A830CC1}" srcOrd="1" destOrd="0" parTransId="{38C2366A-35DC-4182-9B38-C8F06338245F}" sibTransId="{E996DF57-2ED2-4859-8245-22F52CD125E3}"/>
    <dgm:cxn modelId="{4551C8D3-9F7D-465D-8861-2D6BEE36E3AA}" type="presOf" srcId="{63F1ACB1-4CB1-4F7A-8CAB-60471AA85C8B}" destId="{5733F57F-6A5E-4F11-BB8C-176B6A8A8458}" srcOrd="0" destOrd="0" presId="urn:microsoft.com/office/officeart/2018/2/layout/IconLabelDescriptionList"/>
    <dgm:cxn modelId="{9D4BB3E3-FBB4-435D-A703-1CA73C6BC385}" type="presOf" srcId="{A02EA427-2E82-47C0-B9C7-D1C462A11F82}" destId="{2B38742F-D5C7-4AFD-8F63-B18726D211E7}" srcOrd="0" destOrd="0" presId="urn:microsoft.com/office/officeart/2018/2/layout/IconLabelDescriptionList"/>
    <dgm:cxn modelId="{1EFFD6EB-8E14-471A-891B-3BE50B5B8F25}" type="presOf" srcId="{C067F26A-BA7B-479E-A674-03951A830CC1}" destId="{A04A8395-48BC-4E40-96D0-C6D760896BE2}" srcOrd="0" destOrd="1" presId="urn:microsoft.com/office/officeart/2018/2/layout/IconLabelDescriptionList"/>
    <dgm:cxn modelId="{69B0FEEF-BE6D-4630-AD74-7BE5107131C6}" srcId="{63F1ACB1-4CB1-4F7A-8CAB-60471AA85C8B}" destId="{5942D886-291D-4270-92EC-D55684D8AB0C}" srcOrd="1" destOrd="0" parTransId="{CD12ADBE-5B6D-47C4-AE4E-EFD70A3296F6}" sibTransId="{26BDCFAB-7511-4D5B-8501-E7682E913B7D}"/>
    <dgm:cxn modelId="{53C34FFC-7199-434E-80EB-6031035AC9ED}" srcId="{F8099940-360F-4014-8422-31596211BE43}" destId="{B9C16885-9648-435D-9CE8-8960E4157F4C}" srcOrd="0" destOrd="0" parTransId="{53D2DE3B-685D-4923-82CA-8D24B83F627B}" sibTransId="{0BEAD4B2-729F-4CB1-B133-3A44972F47DC}"/>
    <dgm:cxn modelId="{BA200DC6-8B36-4EBE-A7F4-9F3D206E3AF3}" type="presParOf" srcId="{3883F747-3E6F-44AF-BFB1-7743480ED2FD}" destId="{B9716380-C9A4-42EA-8FD0-69D590C4DA42}" srcOrd="0" destOrd="0" presId="urn:microsoft.com/office/officeart/2018/2/layout/IconLabelDescriptionList"/>
    <dgm:cxn modelId="{FFBEBF9E-C013-4B61-91A0-FCDC4E2C79DD}" type="presParOf" srcId="{B9716380-C9A4-42EA-8FD0-69D590C4DA42}" destId="{C53EB0BE-7417-4B5F-809C-A822C9A58F33}" srcOrd="0" destOrd="0" presId="urn:microsoft.com/office/officeart/2018/2/layout/IconLabelDescriptionList"/>
    <dgm:cxn modelId="{51EA2C4B-32E0-4677-9F3B-F2F712D15D31}" type="presParOf" srcId="{B9716380-C9A4-42EA-8FD0-69D590C4DA42}" destId="{39B9A77C-46AD-418B-AE77-8905A1A13886}" srcOrd="1" destOrd="0" presId="urn:microsoft.com/office/officeart/2018/2/layout/IconLabelDescriptionList"/>
    <dgm:cxn modelId="{531ACFBE-27F7-4CB2-8549-3B84B7E7F572}" type="presParOf" srcId="{B9716380-C9A4-42EA-8FD0-69D590C4DA42}" destId="{5733F57F-6A5E-4F11-BB8C-176B6A8A8458}" srcOrd="2" destOrd="0" presId="urn:microsoft.com/office/officeart/2018/2/layout/IconLabelDescriptionList"/>
    <dgm:cxn modelId="{054B6CBC-4DB5-4461-BA9B-291671111AE3}" type="presParOf" srcId="{B9716380-C9A4-42EA-8FD0-69D590C4DA42}" destId="{193DA878-81C2-49E1-AE25-C911D8456AEB}" srcOrd="3" destOrd="0" presId="urn:microsoft.com/office/officeart/2018/2/layout/IconLabelDescriptionList"/>
    <dgm:cxn modelId="{6D574F21-CDA6-4B26-8D45-F8EC5A2BA32E}" type="presParOf" srcId="{B9716380-C9A4-42EA-8FD0-69D590C4DA42}" destId="{2B38742F-D5C7-4AFD-8F63-B18726D211E7}" srcOrd="4" destOrd="0" presId="urn:microsoft.com/office/officeart/2018/2/layout/IconLabelDescriptionList"/>
    <dgm:cxn modelId="{FBC0D767-C4D8-4BBE-86C5-AC7A49A77753}" type="presParOf" srcId="{3883F747-3E6F-44AF-BFB1-7743480ED2FD}" destId="{B1607388-3A5D-4EF3-8C0A-94AAC01FC800}" srcOrd="1" destOrd="0" presId="urn:microsoft.com/office/officeart/2018/2/layout/IconLabelDescriptionList"/>
    <dgm:cxn modelId="{ACB9DA90-9F3E-4BD1-BE2A-8B24A9ABE089}" type="presParOf" srcId="{3883F747-3E6F-44AF-BFB1-7743480ED2FD}" destId="{E037FE03-AA0F-4C42-B5F6-5BD3ED396D5A}" srcOrd="2" destOrd="0" presId="urn:microsoft.com/office/officeart/2018/2/layout/IconLabelDescriptionList"/>
    <dgm:cxn modelId="{9244D49F-D120-4F41-9F78-FD768FAE449D}" type="presParOf" srcId="{E037FE03-AA0F-4C42-B5F6-5BD3ED396D5A}" destId="{26DF1D00-C773-4546-99FC-DBD8680CFB8F}" srcOrd="0" destOrd="0" presId="urn:microsoft.com/office/officeart/2018/2/layout/IconLabelDescriptionList"/>
    <dgm:cxn modelId="{75D9405B-209C-466D-9401-150D86B47BEF}" type="presParOf" srcId="{E037FE03-AA0F-4C42-B5F6-5BD3ED396D5A}" destId="{F06A9B01-74BC-4BFF-B89B-9075C051F031}" srcOrd="1" destOrd="0" presId="urn:microsoft.com/office/officeart/2018/2/layout/IconLabelDescriptionList"/>
    <dgm:cxn modelId="{0E2F2462-7F8F-4487-BE99-681F5DCF7182}" type="presParOf" srcId="{E037FE03-AA0F-4C42-B5F6-5BD3ED396D5A}" destId="{AA4F65D3-79A7-47A9-9ABA-D2940E6CB3E0}" srcOrd="2" destOrd="0" presId="urn:microsoft.com/office/officeart/2018/2/layout/IconLabelDescriptionList"/>
    <dgm:cxn modelId="{FC8B9CFC-76FB-42D1-A4FD-02A72613F383}" type="presParOf" srcId="{E037FE03-AA0F-4C42-B5F6-5BD3ED396D5A}" destId="{3A178CD7-BF31-4273-83B9-F2601D9BD7A0}" srcOrd="3" destOrd="0" presId="urn:microsoft.com/office/officeart/2018/2/layout/IconLabelDescriptionList"/>
    <dgm:cxn modelId="{25AEC6D5-B176-49FD-A039-C70B74E34D06}" type="presParOf" srcId="{E037FE03-AA0F-4C42-B5F6-5BD3ED396D5A}" destId="{A04A8395-48BC-4E40-96D0-C6D760896BE2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1680C1-EFAB-48F3-94A8-94400796EE7A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C264B9-A7D5-470B-8EB7-984511520F49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Shift from Excel → Python</a:t>
          </a:r>
        </a:p>
      </dsp:txBody>
      <dsp:txXfrm>
        <a:off x="398656" y="1088253"/>
        <a:ext cx="2959127" cy="1837317"/>
      </dsp:txXfrm>
    </dsp:sp>
    <dsp:sp modelId="{CD730BF8-F696-4339-A17F-693C7318881E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99CC1F-A261-4BD4-B6D4-1380608CE3DD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Industry demand (employers, </a:t>
          </a:r>
          <a:r>
            <a:rPr lang="en-US" sz="2900" kern="1200" dirty="0" err="1"/>
            <a:t>IFoA</a:t>
          </a:r>
          <a:r>
            <a:rPr lang="en-US" sz="2900" kern="1200" dirty="0"/>
            <a:t>, SOA, CAS)</a:t>
          </a:r>
        </a:p>
      </dsp:txBody>
      <dsp:txXfrm>
        <a:off x="4155097" y="1088253"/>
        <a:ext cx="2959127" cy="1837317"/>
      </dsp:txXfrm>
    </dsp:sp>
    <dsp:sp modelId="{F87943C6-6B24-4017-AC90-C50B15E03ED9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967EBE-F58B-492D-894B-2A10CADEABEF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Benefits for teaching and research</a:t>
          </a:r>
        </a:p>
      </dsp:txBody>
      <dsp:txXfrm>
        <a:off x="7911539" y="1088253"/>
        <a:ext cx="2959127" cy="18373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E7A878-01EA-4120-840A-3D565B62D415}">
      <dsp:nvSpPr>
        <dsp:cNvPr id="0" name=""/>
        <dsp:cNvSpPr/>
      </dsp:nvSpPr>
      <dsp:spPr>
        <a:xfrm>
          <a:off x="0" y="547"/>
          <a:ext cx="10515600" cy="128093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7773F2-CB92-4057-A4B3-4FAAE372018D}">
      <dsp:nvSpPr>
        <dsp:cNvPr id="0" name=""/>
        <dsp:cNvSpPr/>
      </dsp:nvSpPr>
      <dsp:spPr>
        <a:xfrm>
          <a:off x="387481" y="288756"/>
          <a:ext cx="704511" cy="7045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A14633-4DBC-4382-8163-E27DFB93DF89}">
      <dsp:nvSpPr>
        <dsp:cNvPr id="0" name=""/>
        <dsp:cNvSpPr/>
      </dsp:nvSpPr>
      <dsp:spPr>
        <a:xfrm>
          <a:off x="1479474" y="547"/>
          <a:ext cx="4732020" cy="1280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565" tIns="135565" rIns="135565" bIns="13556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Working with DataFrames (Pandas)</a:t>
          </a:r>
        </a:p>
      </dsp:txBody>
      <dsp:txXfrm>
        <a:off x="1479474" y="547"/>
        <a:ext cx="4732020" cy="1280930"/>
      </dsp:txXfrm>
    </dsp:sp>
    <dsp:sp modelId="{745C482C-625A-483E-A159-BA646E92F385}">
      <dsp:nvSpPr>
        <dsp:cNvPr id="0" name=""/>
        <dsp:cNvSpPr/>
      </dsp:nvSpPr>
      <dsp:spPr>
        <a:xfrm>
          <a:off x="6211494" y="547"/>
          <a:ext cx="4304105" cy="1280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565" tIns="135565" rIns="135565" bIns="13556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Filtering, grouping, summarizing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Example: Claim frequency by age group</a:t>
          </a:r>
        </a:p>
      </dsp:txBody>
      <dsp:txXfrm>
        <a:off x="6211494" y="547"/>
        <a:ext cx="4304105" cy="1280930"/>
      </dsp:txXfrm>
    </dsp:sp>
    <dsp:sp modelId="{FFC93538-BFBE-4E71-A20B-049F4E9A5110}">
      <dsp:nvSpPr>
        <dsp:cNvPr id="0" name=""/>
        <dsp:cNvSpPr/>
      </dsp:nvSpPr>
      <dsp:spPr>
        <a:xfrm>
          <a:off x="0" y="1601709"/>
          <a:ext cx="10515600" cy="128093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6C13D3-E137-42A4-A66C-5459A381A501}">
      <dsp:nvSpPr>
        <dsp:cNvPr id="0" name=""/>
        <dsp:cNvSpPr/>
      </dsp:nvSpPr>
      <dsp:spPr>
        <a:xfrm>
          <a:off x="387481" y="1889919"/>
          <a:ext cx="704511" cy="7045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D590E4-0D17-4EE0-AED0-4CC67610AE4A}">
      <dsp:nvSpPr>
        <dsp:cNvPr id="0" name=""/>
        <dsp:cNvSpPr/>
      </dsp:nvSpPr>
      <dsp:spPr>
        <a:xfrm>
          <a:off x="1479474" y="1601709"/>
          <a:ext cx="4732020" cy="1280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565" tIns="135565" rIns="135565" bIns="13556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Mathematical &amp; Statistical Functions</a:t>
          </a:r>
        </a:p>
      </dsp:txBody>
      <dsp:txXfrm>
        <a:off x="1479474" y="1601709"/>
        <a:ext cx="4732020" cy="1280930"/>
      </dsp:txXfrm>
    </dsp:sp>
    <dsp:sp modelId="{17A300BF-F48B-4D85-AD35-03E9C933833B}">
      <dsp:nvSpPr>
        <dsp:cNvPr id="0" name=""/>
        <dsp:cNvSpPr/>
      </dsp:nvSpPr>
      <dsp:spPr>
        <a:xfrm>
          <a:off x="6211494" y="1601709"/>
          <a:ext cx="4304105" cy="1280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565" tIns="135565" rIns="135565" bIns="13556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NumPy, SciPy basics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Example: Calculate expected present value (EPV)</a:t>
          </a:r>
        </a:p>
      </dsp:txBody>
      <dsp:txXfrm>
        <a:off x="6211494" y="1601709"/>
        <a:ext cx="4304105" cy="1280930"/>
      </dsp:txXfrm>
    </dsp:sp>
    <dsp:sp modelId="{B9C9BF8A-C79D-48C5-8620-7FB7AF6FDADF}">
      <dsp:nvSpPr>
        <dsp:cNvPr id="0" name=""/>
        <dsp:cNvSpPr/>
      </dsp:nvSpPr>
      <dsp:spPr>
        <a:xfrm>
          <a:off x="0" y="3202872"/>
          <a:ext cx="10515600" cy="128093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6C2D85-ED0E-4FBA-B9CB-4E65503EF9B1}">
      <dsp:nvSpPr>
        <dsp:cNvPr id="0" name=""/>
        <dsp:cNvSpPr/>
      </dsp:nvSpPr>
      <dsp:spPr>
        <a:xfrm>
          <a:off x="387481" y="3491081"/>
          <a:ext cx="704511" cy="7045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7F72DE-823A-4458-8C64-DD7C60371ECB}">
      <dsp:nvSpPr>
        <dsp:cNvPr id="0" name=""/>
        <dsp:cNvSpPr/>
      </dsp:nvSpPr>
      <dsp:spPr>
        <a:xfrm>
          <a:off x="1479474" y="3202872"/>
          <a:ext cx="4732020" cy="1280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565" tIns="135565" rIns="135565" bIns="13556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Visualization</a:t>
          </a:r>
        </a:p>
      </dsp:txBody>
      <dsp:txXfrm>
        <a:off x="1479474" y="3202872"/>
        <a:ext cx="4732020" cy="1280930"/>
      </dsp:txXfrm>
    </dsp:sp>
    <dsp:sp modelId="{5481B552-C08E-4174-87D5-57B23CC20E0E}">
      <dsp:nvSpPr>
        <dsp:cNvPr id="0" name=""/>
        <dsp:cNvSpPr/>
      </dsp:nvSpPr>
      <dsp:spPr>
        <a:xfrm>
          <a:off x="6211494" y="3202872"/>
          <a:ext cx="4304105" cy="1280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565" tIns="135565" rIns="135565" bIns="13556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Matplotlib / Seaborn plots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Example: Claim severity distribution graph</a:t>
          </a:r>
        </a:p>
      </dsp:txBody>
      <dsp:txXfrm>
        <a:off x="6211494" y="3202872"/>
        <a:ext cx="4304105" cy="12809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72FDBF-429C-45D2-991C-41EB5F25FB2C}">
      <dsp:nvSpPr>
        <dsp:cNvPr id="0" name=""/>
        <dsp:cNvSpPr/>
      </dsp:nvSpPr>
      <dsp:spPr>
        <a:xfrm>
          <a:off x="559800" y="792753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07256E-C919-4026-9B97-4F59E3689FC9}">
      <dsp:nvSpPr>
        <dsp:cNvPr id="0" name=""/>
        <dsp:cNvSpPr/>
      </dsp:nvSpPr>
      <dsp:spPr>
        <a:xfrm>
          <a:off x="559800" y="242940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What is Python? (simple, high-level intro)</a:t>
          </a:r>
        </a:p>
      </dsp:txBody>
      <dsp:txXfrm>
        <a:off x="559800" y="2429403"/>
        <a:ext cx="4320000" cy="648000"/>
      </dsp:txXfrm>
    </dsp:sp>
    <dsp:sp modelId="{EA3843CB-EFED-491E-8D72-1B0EE83295A7}">
      <dsp:nvSpPr>
        <dsp:cNvPr id="0" name=""/>
        <dsp:cNvSpPr/>
      </dsp:nvSpPr>
      <dsp:spPr>
        <a:xfrm>
          <a:off x="559800" y="3135380"/>
          <a:ext cx="4320000" cy="5562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Free, open-source, easy to learn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Widely used in actuarial + data science</a:t>
          </a:r>
        </a:p>
      </dsp:txBody>
      <dsp:txXfrm>
        <a:off x="559800" y="3135380"/>
        <a:ext cx="4320000" cy="556216"/>
      </dsp:txXfrm>
    </dsp:sp>
    <dsp:sp modelId="{FCCE1B8B-9815-4DFD-AF0F-DA4371D7E4E4}">
      <dsp:nvSpPr>
        <dsp:cNvPr id="0" name=""/>
        <dsp:cNvSpPr/>
      </dsp:nvSpPr>
      <dsp:spPr>
        <a:xfrm>
          <a:off x="5635800" y="792753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E220BA-60A1-4F66-84A8-AFDF6FD917A9}">
      <dsp:nvSpPr>
        <dsp:cNvPr id="0" name=""/>
        <dsp:cNvSpPr/>
      </dsp:nvSpPr>
      <dsp:spPr>
        <a:xfrm>
          <a:off x="5635800" y="242940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Setting Up the Environment</a:t>
          </a:r>
        </a:p>
      </dsp:txBody>
      <dsp:txXfrm>
        <a:off x="5635800" y="2429403"/>
        <a:ext cx="4320000" cy="648000"/>
      </dsp:txXfrm>
    </dsp:sp>
    <dsp:sp modelId="{B948CA18-95F4-4E1C-8720-8F0715DD8CA8}">
      <dsp:nvSpPr>
        <dsp:cNvPr id="0" name=""/>
        <dsp:cNvSpPr/>
      </dsp:nvSpPr>
      <dsp:spPr>
        <a:xfrm>
          <a:off x="5635800" y="3135380"/>
          <a:ext cx="4320000" cy="5562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Jupyter Notebook / Google Colab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Python packages (NumPy, Pandas, Matplotlib)</a:t>
          </a:r>
        </a:p>
      </dsp:txBody>
      <dsp:txXfrm>
        <a:off x="5635800" y="3135380"/>
        <a:ext cx="4320000" cy="5562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3545F4-22D7-452B-B917-512A3FE33CED}">
      <dsp:nvSpPr>
        <dsp:cNvPr id="0" name=""/>
        <dsp:cNvSpPr/>
      </dsp:nvSpPr>
      <dsp:spPr>
        <a:xfrm>
          <a:off x="559800" y="568149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F59FBD-7AFA-42C0-AC1F-559B0AFFD329}">
      <dsp:nvSpPr>
        <dsp:cNvPr id="0" name=""/>
        <dsp:cNvSpPr/>
      </dsp:nvSpPr>
      <dsp:spPr>
        <a:xfrm>
          <a:off x="559800" y="222411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/>
            <a:t>Python Essentials for Actuaries</a:t>
          </a:r>
        </a:p>
      </dsp:txBody>
      <dsp:txXfrm>
        <a:off x="559800" y="2224115"/>
        <a:ext cx="4320000" cy="648000"/>
      </dsp:txXfrm>
    </dsp:sp>
    <dsp:sp modelId="{DA30B193-44ED-495F-899E-41D801589123}">
      <dsp:nvSpPr>
        <dsp:cNvPr id="0" name=""/>
        <dsp:cNvSpPr/>
      </dsp:nvSpPr>
      <dsp:spPr>
        <a:xfrm>
          <a:off x="559800" y="2939076"/>
          <a:ext cx="4320000" cy="977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Variables, data types, loops, functions (with actuarial-flavored examples, e.g., mortality table loop)</a:t>
          </a:r>
        </a:p>
      </dsp:txBody>
      <dsp:txXfrm>
        <a:off x="559800" y="2939076"/>
        <a:ext cx="4320000" cy="977124"/>
      </dsp:txXfrm>
    </dsp:sp>
    <dsp:sp modelId="{2A9CC789-243D-4FA4-9A91-1BAA579E6551}">
      <dsp:nvSpPr>
        <dsp:cNvPr id="0" name=""/>
        <dsp:cNvSpPr/>
      </dsp:nvSpPr>
      <dsp:spPr>
        <a:xfrm>
          <a:off x="5635800" y="568149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F733AF-91DE-4A8D-9E47-2A484815522A}">
      <dsp:nvSpPr>
        <dsp:cNvPr id="0" name=""/>
        <dsp:cNvSpPr/>
      </dsp:nvSpPr>
      <dsp:spPr>
        <a:xfrm>
          <a:off x="5635800" y="2224115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/>
            <a:t>Data Handling</a:t>
          </a:r>
        </a:p>
      </dsp:txBody>
      <dsp:txXfrm>
        <a:off x="5635800" y="2224115"/>
        <a:ext cx="4320000" cy="648000"/>
      </dsp:txXfrm>
    </dsp:sp>
    <dsp:sp modelId="{91D49FDD-E7E7-4A41-958F-6CB0B420376A}">
      <dsp:nvSpPr>
        <dsp:cNvPr id="0" name=""/>
        <dsp:cNvSpPr/>
      </dsp:nvSpPr>
      <dsp:spPr>
        <a:xfrm>
          <a:off x="5635800" y="2939076"/>
          <a:ext cx="4320000" cy="977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Reading Excel/CSV files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Data cleaning (missing values, formatting)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Simple actuarial example: Import policy data</a:t>
          </a:r>
        </a:p>
      </dsp:txBody>
      <dsp:txXfrm>
        <a:off x="5635800" y="2939076"/>
        <a:ext cx="4320000" cy="9771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3EB0BE-7417-4B5F-809C-A822C9A58F33}">
      <dsp:nvSpPr>
        <dsp:cNvPr id="0" name=""/>
        <dsp:cNvSpPr/>
      </dsp:nvSpPr>
      <dsp:spPr>
        <a:xfrm>
          <a:off x="559800" y="757281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33F57F-6A5E-4F11-BB8C-176B6A8A8458}">
      <dsp:nvSpPr>
        <dsp:cNvPr id="0" name=""/>
        <dsp:cNvSpPr/>
      </dsp:nvSpPr>
      <dsp:spPr>
        <a:xfrm>
          <a:off x="559800" y="239698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000" kern="1200"/>
            <a:t>Automation</a:t>
          </a:r>
        </a:p>
      </dsp:txBody>
      <dsp:txXfrm>
        <a:off x="559800" y="2396982"/>
        <a:ext cx="4320000" cy="648000"/>
      </dsp:txXfrm>
    </dsp:sp>
    <dsp:sp modelId="{2B38742F-D5C7-4AFD-8F63-B18726D211E7}">
      <dsp:nvSpPr>
        <dsp:cNvPr id="0" name=""/>
        <dsp:cNvSpPr/>
      </dsp:nvSpPr>
      <dsp:spPr>
        <a:xfrm>
          <a:off x="559800" y="3104378"/>
          <a:ext cx="4320000" cy="622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Generating reports automatically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Example: Quarterly reserving tables</a:t>
          </a:r>
        </a:p>
      </dsp:txBody>
      <dsp:txXfrm>
        <a:off x="559800" y="3104378"/>
        <a:ext cx="4320000" cy="622690"/>
      </dsp:txXfrm>
    </dsp:sp>
    <dsp:sp modelId="{26DF1D00-C773-4546-99FC-DBD8680CFB8F}">
      <dsp:nvSpPr>
        <dsp:cNvPr id="0" name=""/>
        <dsp:cNvSpPr/>
      </dsp:nvSpPr>
      <dsp:spPr>
        <a:xfrm>
          <a:off x="5635800" y="757281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4F65D3-79A7-47A9-9ABA-D2940E6CB3E0}">
      <dsp:nvSpPr>
        <dsp:cNvPr id="0" name=""/>
        <dsp:cNvSpPr/>
      </dsp:nvSpPr>
      <dsp:spPr>
        <a:xfrm>
          <a:off x="5635800" y="239698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000" kern="1200"/>
            <a:t>Predictive Modeling Intro</a:t>
          </a:r>
        </a:p>
      </dsp:txBody>
      <dsp:txXfrm>
        <a:off x="5635800" y="2396982"/>
        <a:ext cx="4320000" cy="648000"/>
      </dsp:txXfrm>
    </dsp:sp>
    <dsp:sp modelId="{A04A8395-48BC-4E40-96D0-C6D760896BE2}">
      <dsp:nvSpPr>
        <dsp:cNvPr id="0" name=""/>
        <dsp:cNvSpPr/>
      </dsp:nvSpPr>
      <dsp:spPr>
        <a:xfrm>
          <a:off x="5635800" y="3104378"/>
          <a:ext cx="4320000" cy="622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Logistic regression, survival analysis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Example: Lapse probability model</a:t>
          </a:r>
        </a:p>
      </dsp:txBody>
      <dsp:txXfrm>
        <a:off x="5635800" y="3104378"/>
        <a:ext cx="4320000" cy="6226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87E9ED-FAFB-438A-8FBC-78BC5F57B1C8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1BD5E3-E8CB-4900-81BC-B2CBA7485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126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1. Keeps Your Teaching Relevant</a:t>
            </a:r>
          </a:p>
          <a:p>
            <a:r>
              <a:rPr lang="en-US" i="1" dirty="0"/>
              <a:t>If you bring Python into class:</a:t>
            </a:r>
            <a:r>
              <a:rPr lang="en-US" dirty="0"/>
              <a:t> You’re teaching with the same tools used by actuaries in companies. Students see direct value in what you teach.</a:t>
            </a:r>
          </a:p>
          <a:p>
            <a:r>
              <a:rPr lang="en-US" i="1" dirty="0"/>
              <a:t>If you don’t:</a:t>
            </a:r>
            <a:r>
              <a:rPr lang="en-US" dirty="0"/>
              <a:t> Students may feel they have to “relearn” everything later at work or through online courses, which makes your classes look a bit outdated.</a:t>
            </a:r>
          </a:p>
          <a:p>
            <a:r>
              <a:rPr lang="en-US" b="1" dirty="0"/>
              <a:t>2. Makes Classes More Engaging</a:t>
            </a:r>
          </a:p>
          <a:p>
            <a:r>
              <a:rPr lang="en-US" i="1" dirty="0"/>
              <a:t>With Python:</a:t>
            </a:r>
            <a:r>
              <a:rPr lang="en-US" dirty="0"/>
              <a:t> Imagine showing students a real dataset — say mortality rates or claim histories — and running a quick simulation live in class. Students light up when they see theory in action.</a:t>
            </a:r>
          </a:p>
          <a:p>
            <a:r>
              <a:rPr lang="en-US" i="1" dirty="0"/>
              <a:t>Without Python:</a:t>
            </a:r>
            <a:r>
              <a:rPr lang="en-US" dirty="0"/>
              <a:t> Lessons can feel abstract, stuck in formulas and static Excel sheets. Students start wondering, “But how does this work in the real world?”</a:t>
            </a:r>
          </a:p>
          <a:p>
            <a:r>
              <a:rPr lang="en-US" b="1" dirty="0"/>
              <a:t>3. Saves Teachers Time</a:t>
            </a:r>
          </a:p>
          <a:p>
            <a:r>
              <a:rPr lang="en-US" i="1" dirty="0"/>
              <a:t>With Python:</a:t>
            </a:r>
            <a:r>
              <a:rPr lang="en-US" dirty="0"/>
              <a:t> You can automate grading small assignments, re-use simulations year after year, or demonstrate complex topics (like Monte Carlo or GLMs) in minutes.</a:t>
            </a:r>
          </a:p>
          <a:p>
            <a:r>
              <a:rPr lang="en-US" i="1" dirty="0"/>
              <a:t>Without Python:</a:t>
            </a:r>
            <a:r>
              <a:rPr lang="en-US" dirty="0"/>
              <a:t> Every example needs manual effort — building new spreadsheets, slides, or long explanations that eat up your prep time.</a:t>
            </a:r>
          </a:p>
          <a:p>
            <a:r>
              <a:rPr lang="en-US" b="1" dirty="0"/>
              <a:t>4. Boosts Student Careers (and Your Reputation)</a:t>
            </a:r>
          </a:p>
          <a:p>
            <a:r>
              <a:rPr lang="en-US" i="1" dirty="0"/>
              <a:t>With Python:</a:t>
            </a:r>
            <a:r>
              <a:rPr lang="en-US" dirty="0"/>
              <a:t> Your students get jobs faster and give credit to you for teaching them practical skills. This enhances your standing as a teacher who “gets it.”</a:t>
            </a:r>
          </a:p>
          <a:p>
            <a:r>
              <a:rPr lang="en-US" i="1" dirty="0"/>
              <a:t>Without Python:</a:t>
            </a:r>
            <a:r>
              <a:rPr lang="en-US" dirty="0"/>
              <a:t> Students may still succeed, but often after re-skilling outside. They remember the online course that helped them more than your class.</a:t>
            </a:r>
          </a:p>
          <a:p>
            <a:r>
              <a:rPr lang="en-US" b="1" dirty="0"/>
              <a:t>5. Keeps You Future-Proof</a:t>
            </a:r>
          </a:p>
          <a:p>
            <a:r>
              <a:rPr lang="en-US" i="1" dirty="0"/>
              <a:t>With Python:</a:t>
            </a:r>
            <a:r>
              <a:rPr lang="en-US" dirty="0"/>
              <a:t> You stay aligned with global actuarial bodies (SOA, </a:t>
            </a:r>
            <a:r>
              <a:rPr lang="en-US" dirty="0" err="1"/>
              <a:t>IFoA</a:t>
            </a:r>
            <a:r>
              <a:rPr lang="en-US" dirty="0"/>
              <a:t>, CAS), all of which now emphasize data science and coding.</a:t>
            </a:r>
          </a:p>
          <a:p>
            <a:r>
              <a:rPr lang="en-US" i="1" dirty="0"/>
              <a:t>Without Python:</a:t>
            </a:r>
            <a:r>
              <a:rPr lang="en-US" dirty="0"/>
              <a:t> There’s a risk of your curriculum being viewed as “traditional but outdated.”</a:t>
            </a:r>
          </a:p>
          <a:p>
            <a:r>
              <a:rPr lang="en-US" b="1" dirty="0"/>
              <a:t>🌟 In Simple Words</a:t>
            </a:r>
          </a:p>
          <a:p>
            <a:r>
              <a:rPr lang="en-US" dirty="0"/>
              <a:t>Python is not about replacing what you already teach. It’s about making actuarial science </a:t>
            </a:r>
            <a:r>
              <a:rPr lang="en-US" b="1" dirty="0"/>
              <a:t>come alive</a:t>
            </a:r>
            <a:r>
              <a:rPr lang="en-US" dirty="0"/>
              <a:t> in the classroom, preparing students for the real world, and saving yourself effort along the way.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1BD5E3-E8CB-4900-81BC-B2CBA7485AC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889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1. Working with Big Data</a:t>
            </a:r>
          </a:p>
          <a:p>
            <a:r>
              <a:rPr lang="en-US" dirty="0"/>
              <a:t>Insurance companies deal with millions of claims, policies, and transactions.</a:t>
            </a:r>
          </a:p>
          <a:p>
            <a:r>
              <a:rPr lang="en-US" dirty="0"/>
              <a:t>✅ </a:t>
            </a:r>
            <a:r>
              <a:rPr lang="en-US" i="1" dirty="0"/>
              <a:t>If you know Python:</a:t>
            </a:r>
            <a:r>
              <a:rPr lang="en-US" dirty="0"/>
              <a:t> You can clean, process, and analyze data in minutes using libraries like Pandas. Imagine detecting fraud patterns across millions of health claims in a single afternoon.</a:t>
            </a:r>
          </a:p>
          <a:p>
            <a:r>
              <a:rPr lang="en-US" dirty="0"/>
              <a:t>❌ </a:t>
            </a:r>
            <a:r>
              <a:rPr lang="en-US" i="1" dirty="0"/>
              <a:t>If you don’t:</a:t>
            </a:r>
            <a:r>
              <a:rPr lang="en-US" dirty="0"/>
              <a:t> You’ll be stuck with Excel crashing when you try to open a file with half a million rows.</a:t>
            </a:r>
          </a:p>
          <a:p>
            <a:r>
              <a:rPr lang="en-US" b="1" dirty="0"/>
              <a:t>2. Predicting the Future (Literally!)</a:t>
            </a:r>
          </a:p>
          <a:p>
            <a:r>
              <a:rPr lang="en-US" dirty="0"/>
              <a:t>Actuaries forecast risks — and Python is perfect for machine learning and predictive models.</a:t>
            </a:r>
          </a:p>
          <a:p>
            <a:r>
              <a:rPr lang="en-US" dirty="0"/>
              <a:t>✅ </a:t>
            </a:r>
            <a:r>
              <a:rPr lang="en-US" i="1" dirty="0"/>
              <a:t>If you know Python:</a:t>
            </a:r>
            <a:r>
              <a:rPr lang="en-US" dirty="0"/>
              <a:t> You can build models that predict who is likely to cancel a policy or which customers are higher risk. That’s the kind of stuff companies love.</a:t>
            </a:r>
          </a:p>
          <a:p>
            <a:r>
              <a:rPr lang="en-US" dirty="0"/>
              <a:t>❌ </a:t>
            </a:r>
            <a:r>
              <a:rPr lang="en-US" i="1" dirty="0"/>
              <a:t>If you don’t:</a:t>
            </a:r>
            <a:r>
              <a:rPr lang="en-US" dirty="0"/>
              <a:t> You risk being seen as “old-school,” while data scientists step in to do the exciting projects.</a:t>
            </a:r>
          </a:p>
          <a:p>
            <a:r>
              <a:rPr lang="en-US" b="1" dirty="0"/>
              <a:t>3. Saving Time with Automation</a:t>
            </a:r>
          </a:p>
          <a:p>
            <a:r>
              <a:rPr lang="en-US" dirty="0"/>
              <a:t>A lot of actuarial work is repetitive — reserve calculations, reports, compliance filings.</a:t>
            </a:r>
          </a:p>
          <a:p>
            <a:r>
              <a:rPr lang="en-US" dirty="0"/>
              <a:t>✅ </a:t>
            </a:r>
            <a:r>
              <a:rPr lang="en-US" i="1" dirty="0"/>
              <a:t>If you know Python:</a:t>
            </a:r>
            <a:r>
              <a:rPr lang="en-US" dirty="0"/>
              <a:t> Write one script, and boom — quarterly reports generate automatically. More time for analysis and coffee ☕.</a:t>
            </a:r>
          </a:p>
          <a:p>
            <a:r>
              <a:rPr lang="en-US" dirty="0"/>
              <a:t>❌ </a:t>
            </a:r>
            <a:r>
              <a:rPr lang="en-US" i="1" dirty="0"/>
              <a:t>If you don’t:</a:t>
            </a:r>
            <a:r>
              <a:rPr lang="en-US" dirty="0"/>
              <a:t> You’ll spend nights copy-pasting numbers, double-checking formulas, and hoping you didn’t miss a zero.</a:t>
            </a:r>
          </a:p>
          <a:p>
            <a:r>
              <a:rPr lang="en-US" b="1" dirty="0"/>
              <a:t>4. Standing Out in Job Interviews</a:t>
            </a:r>
          </a:p>
          <a:p>
            <a:r>
              <a:rPr lang="en-US" dirty="0"/>
              <a:t>Employers today want actuaries who can code, and Python is the most asked for.</a:t>
            </a:r>
          </a:p>
          <a:p>
            <a:r>
              <a:rPr lang="en-US" dirty="0"/>
              <a:t>✅ </a:t>
            </a:r>
            <a:r>
              <a:rPr lang="en-US" i="1" dirty="0"/>
              <a:t>If you know Python:</a:t>
            </a:r>
            <a:r>
              <a:rPr lang="en-US" dirty="0"/>
              <a:t> You can walk into an interview and show a mini-project — maybe a claims reserving dashboard you built. Instant brownie points.</a:t>
            </a:r>
          </a:p>
          <a:p>
            <a:r>
              <a:rPr lang="en-US" dirty="0"/>
              <a:t>❌ </a:t>
            </a:r>
            <a:r>
              <a:rPr lang="en-US" i="1" dirty="0"/>
              <a:t>If you don’t:</a:t>
            </a:r>
            <a:r>
              <a:rPr lang="en-US" dirty="0"/>
              <a:t> You might still get a job, but your growth could be slower, because companies prefer people who can do both — actuarial + coding.</a:t>
            </a:r>
          </a:p>
          <a:p>
            <a:r>
              <a:rPr lang="en-US" b="1" dirty="0"/>
              <a:t>5. Connecting with Other Tools</a:t>
            </a:r>
          </a:p>
          <a:p>
            <a:r>
              <a:rPr lang="en-US" dirty="0"/>
              <a:t>Python plays well with Excel, SQL, and even actuarial software like Prophet.</a:t>
            </a:r>
          </a:p>
          <a:p>
            <a:r>
              <a:rPr lang="en-US" dirty="0"/>
              <a:t>✅ </a:t>
            </a:r>
            <a:r>
              <a:rPr lang="en-US" i="1" dirty="0"/>
              <a:t>If you know Python:</a:t>
            </a:r>
            <a:r>
              <a:rPr lang="en-US" dirty="0"/>
              <a:t> You can pull data from a database, clean it, and create an Excel dashboard — all in one go.</a:t>
            </a:r>
          </a:p>
          <a:p>
            <a:r>
              <a:rPr lang="en-US" dirty="0"/>
              <a:t>❌ </a:t>
            </a:r>
            <a:r>
              <a:rPr lang="en-US" i="1" dirty="0"/>
              <a:t>If you don’t:</a:t>
            </a:r>
            <a:r>
              <a:rPr lang="en-US" dirty="0"/>
              <a:t> You’ll depend on IT or data teams for every little task, slowing you down.</a:t>
            </a:r>
          </a:p>
          <a:p>
            <a:r>
              <a:rPr lang="en-US" b="1" dirty="0"/>
              <a:t>6. Keeping Up with the Profession</a:t>
            </a:r>
          </a:p>
          <a:p>
            <a:r>
              <a:rPr lang="en-US" dirty="0"/>
              <a:t>Globally, actuarial bodies (SOA, </a:t>
            </a:r>
            <a:r>
              <a:rPr lang="en-US" dirty="0" err="1"/>
              <a:t>IFoA</a:t>
            </a:r>
            <a:r>
              <a:rPr lang="en-US" dirty="0"/>
              <a:t>, CAS) are encouraging Python.</a:t>
            </a:r>
          </a:p>
          <a:p>
            <a:r>
              <a:rPr lang="en-US" dirty="0"/>
              <a:t>✅ </a:t>
            </a:r>
            <a:r>
              <a:rPr lang="en-US" i="1" dirty="0"/>
              <a:t>If you know Python:</a:t>
            </a:r>
            <a:r>
              <a:rPr lang="en-US" dirty="0"/>
              <a:t> You’ll be ready for case studies, research, and even overseas roles.</a:t>
            </a:r>
          </a:p>
          <a:p>
            <a:r>
              <a:rPr lang="en-US" dirty="0"/>
              <a:t>❌ </a:t>
            </a:r>
            <a:r>
              <a:rPr lang="en-US" i="1" dirty="0"/>
              <a:t>If you don’t:</a:t>
            </a:r>
            <a:r>
              <a:rPr lang="en-US" dirty="0"/>
              <a:t> You might feel left behind when exams or projects expect you to code.</a:t>
            </a:r>
          </a:p>
          <a:p>
            <a:r>
              <a:rPr lang="en-US" b="1" dirty="0"/>
              <a:t>7. Room for Innovation</a:t>
            </a:r>
          </a:p>
          <a:p>
            <a:r>
              <a:rPr lang="en-US" dirty="0"/>
              <a:t>Python is free, open-source, and has endless libraries.</a:t>
            </a:r>
          </a:p>
          <a:p>
            <a:r>
              <a:rPr lang="en-US" dirty="0"/>
              <a:t>✅ </a:t>
            </a:r>
            <a:r>
              <a:rPr lang="en-US" i="1" dirty="0"/>
              <a:t>If you know Python:</a:t>
            </a:r>
            <a:r>
              <a:rPr lang="en-US" dirty="0"/>
              <a:t> You can experiment — model climate risks, run catastrophe simulations, or even create an app for micro-insurance.</a:t>
            </a:r>
          </a:p>
          <a:p>
            <a:r>
              <a:rPr lang="en-US" dirty="0"/>
              <a:t>❌ </a:t>
            </a:r>
            <a:r>
              <a:rPr lang="en-US" i="1" dirty="0"/>
              <a:t>If you don’t:</a:t>
            </a:r>
            <a:r>
              <a:rPr lang="en-US" dirty="0"/>
              <a:t> You’ll be limited to whatever traditional tools allow you to do.</a:t>
            </a:r>
          </a:p>
          <a:p>
            <a:r>
              <a:rPr lang="en-US" b="1" dirty="0"/>
              <a:t>🌟 The Bottom Line</a:t>
            </a:r>
          </a:p>
          <a:p>
            <a:r>
              <a:rPr lang="en-US" dirty="0"/>
              <a:t>Learning Python won’t make you less of an actuary — it’ll make you a </a:t>
            </a:r>
            <a:r>
              <a:rPr lang="en-US" b="1" dirty="0"/>
              <a:t>smarter, faster, and more future-ready actuary.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1BD5E3-E8CB-4900-81BC-B2CBA7485AC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54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8A2C7-7B3F-FA71-C03E-9F7A7AEAA4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68415"/>
            <a:ext cx="9144000" cy="1241548"/>
          </a:xfrm>
        </p:spPr>
        <p:txBody>
          <a:bodyPr anchor="b"/>
          <a:lstStyle>
            <a:lvl1pPr algn="ctr"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936DF0-7B43-70EB-245A-B2D205BC49A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61827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 Name (s) | 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1340799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C2F6A-EF3B-406C-8BD3-C280FED379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4606"/>
            <a:ext cx="10515600" cy="681038"/>
          </a:xfrm>
          <a:noFill/>
        </p:spPr>
        <p:txBody>
          <a:bodyPr>
            <a:normAutofit/>
          </a:bodyPr>
          <a:lstStyle>
            <a:lvl1pPr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17D18-6789-E0A1-6AC2-B3B20111736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67319"/>
            <a:ext cx="10515600" cy="5009644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9450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235BF-EA1A-E787-D8D4-647F227EDA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984" y="65615"/>
            <a:ext cx="10515600" cy="457200"/>
          </a:xfrm>
        </p:spPr>
        <p:txBody>
          <a:bodyPr>
            <a:noAutofit/>
          </a:bodyPr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CE90B42-1DAA-2DA7-1A6C-749FD1E13C3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67319"/>
            <a:ext cx="10515600" cy="5009644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77783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EDCE2-A90E-46F5-45FB-ED0096C3DB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56"/>
            <a:ext cx="10515600" cy="127812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3C8818-D324-F573-24F6-7E140DBF4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5656" y="6487319"/>
            <a:ext cx="2743200" cy="365125"/>
          </a:xfrm>
        </p:spPr>
        <p:txBody>
          <a:bodyPr/>
          <a:lstStyle/>
          <a:p>
            <a:fld id="{2E56E1C3-8280-5F44-A2EB-A8DA9534036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DFE914D-05F9-6767-44E9-64CAB53C24C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92613"/>
            <a:ext cx="10515600" cy="448435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9836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DBDA82-57C3-EAFA-DD2C-0105CB85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1178F6-8D75-3C4A-C89A-138ECD9A4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70466-3213-3748-C1FA-B35E57BE2D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4th September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3E9B6-2BA4-A798-3ADF-318C5B0A00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4664A-9130-43E0-6B2D-5643D95A5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 b="1">
                <a:solidFill>
                  <a:schemeClr val="accent1"/>
                </a:solidFill>
              </a:defRPr>
            </a:lvl1pPr>
          </a:lstStyle>
          <a:p>
            <a:fld id="{2E56E1C3-8280-5F44-A2EB-A8DA953403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735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7D412-DA89-AFE4-304F-6F19D07996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BECCCB-6D06-269A-21FC-9FCE7F0EDE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4</a:t>
            </a:r>
            <a:r>
              <a:rPr lang="en-US" baseline="30000" dirty="0"/>
              <a:t>th</a:t>
            </a:r>
            <a:r>
              <a:rPr lang="en-US" dirty="0"/>
              <a:t> September, 2025</a:t>
            </a:r>
          </a:p>
        </p:txBody>
      </p:sp>
    </p:spTree>
    <p:extLst>
      <p:ext uri="{BB962C8B-B14F-4D97-AF65-F5344CB8AC3E}">
        <p14:creationId xmlns:p14="http://schemas.microsoft.com/office/powerpoint/2010/main" val="1185038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7687D-F450-5DB9-59C6-7BA553BC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Presenters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903C817-6384-11BA-416B-889E9381915A}"/>
              </a:ext>
            </a:extLst>
          </p:cNvPr>
          <p:cNvSpPr/>
          <p:nvPr/>
        </p:nvSpPr>
        <p:spPr>
          <a:xfrm>
            <a:off x="2105026" y="1826604"/>
            <a:ext cx="7981950" cy="2088172"/>
          </a:xfrm>
          <a:prstGeom prst="roundRect">
            <a:avLst>
              <a:gd name="adj" fmla="val 1045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65F8B36-8F9C-F648-E8AA-4BDB776C6A87}"/>
              </a:ext>
            </a:extLst>
          </p:cNvPr>
          <p:cNvSpPr/>
          <p:nvPr/>
        </p:nvSpPr>
        <p:spPr>
          <a:xfrm>
            <a:off x="2105025" y="4133851"/>
            <a:ext cx="7981951" cy="2088172"/>
          </a:xfrm>
          <a:prstGeom prst="roundRect">
            <a:avLst>
              <a:gd name="adj" fmla="val 1045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4EE9FB0-CE58-8EA5-B078-221936125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099" y="1990724"/>
            <a:ext cx="1762125" cy="17621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FC40371-245C-DE52-4583-8C77D4ABF6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099" y="4305301"/>
            <a:ext cx="1762125" cy="17621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036312-C414-4436-F083-735AD6FB360D}"/>
              </a:ext>
            </a:extLst>
          </p:cNvPr>
          <p:cNvSpPr txBox="1"/>
          <p:nvPr/>
        </p:nvSpPr>
        <p:spPr>
          <a:xfrm>
            <a:off x="4305298" y="2304934"/>
            <a:ext cx="53435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Satya Sai Mudigonda</a:t>
            </a:r>
          </a:p>
          <a:p>
            <a:r>
              <a:rPr lang="en-US" sz="2400" dirty="0">
                <a:solidFill>
                  <a:schemeClr val="bg1"/>
                </a:solidFill>
              </a:rPr>
              <a:t>Professor of Practice &amp; Coordinator, CADS, SSSIHL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6D5B63-1524-49CE-547D-677C939751F7}"/>
              </a:ext>
            </a:extLst>
          </p:cNvPr>
          <p:cNvSpPr txBox="1"/>
          <p:nvPr/>
        </p:nvSpPr>
        <p:spPr>
          <a:xfrm>
            <a:off x="4305298" y="4762438"/>
            <a:ext cx="53435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Rohan Yashraj Gupta, PhD, FIAI</a:t>
            </a:r>
          </a:p>
          <a:p>
            <a:r>
              <a:rPr lang="en-US" sz="2400" dirty="0">
                <a:solidFill>
                  <a:schemeClr val="bg1"/>
                </a:solidFill>
              </a:rPr>
              <a:t>Visiting Faculty, CADS, SSSIHL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FF9E28-DDF4-2722-E5D4-BC7C1478B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6E1C3-8280-5F44-A2EB-A8DA9534036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224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92913-185C-7ACA-A17F-342B54258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Teachers Should Learn Python?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1B7F194A-FAA1-9F7F-1ADF-1DFEA3E4B5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1165836"/>
              </p:ext>
            </p:extLst>
          </p:nvPr>
        </p:nvGraphicFramePr>
        <p:xfrm>
          <a:off x="632085" y="1907954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9C8A5D-8609-7199-16B5-F34EE28F0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6E1C3-8280-5F44-A2EB-A8DA9534036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982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5466B-0060-F552-0C95-89D6DC640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Actuarial Students Should Learn Python?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68C88-5BEA-976C-8CC0-F1DFF23E8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Working with Big Data</a:t>
            </a:r>
          </a:p>
          <a:p>
            <a:r>
              <a:rPr lang="en-US" dirty="0"/>
              <a:t>Predicting the Future (Literally!)</a:t>
            </a:r>
          </a:p>
          <a:p>
            <a:r>
              <a:rPr lang="en-US" dirty="0"/>
              <a:t>Saving Time with Automation</a:t>
            </a:r>
          </a:p>
          <a:p>
            <a:r>
              <a:rPr lang="en-US" dirty="0"/>
              <a:t>Standing Out in Job Interviews</a:t>
            </a:r>
          </a:p>
          <a:p>
            <a:r>
              <a:rPr lang="en-US" dirty="0"/>
              <a:t>Connecting with Other Tools</a:t>
            </a:r>
          </a:p>
          <a:p>
            <a:r>
              <a:rPr lang="en-US" dirty="0"/>
              <a:t>Keeping Up with the Profession</a:t>
            </a:r>
          </a:p>
          <a:p>
            <a:r>
              <a:rPr lang="en-US" dirty="0"/>
              <a:t>Room for Innovation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50170D-3359-99CC-9EA4-D165A07D6255}"/>
              </a:ext>
            </a:extLst>
          </p:cNvPr>
          <p:cNvSpPr txBox="1"/>
          <p:nvPr/>
        </p:nvSpPr>
        <p:spPr>
          <a:xfrm>
            <a:off x="-71437" y="5919743"/>
            <a:ext cx="12334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 dirty="0"/>
              <a:t>Learning Python won’t make you less of an actuary — it’ll make you a </a:t>
            </a:r>
            <a:r>
              <a:rPr lang="en-US" b="1" i="1" dirty="0"/>
              <a:t>smarter, faster, and more future-ready actuary.</a:t>
            </a: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7BDAB-9B38-EABD-B240-AF9A49E67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6E1C3-8280-5F44-A2EB-A8DA9534036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304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E286C-871E-AF75-2F62-6B2017BDA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Actuarial Applications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F53F2B3B-CC95-67C3-A7E1-1DADFB823B0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692613"/>
          <a:ext cx="10515600" cy="4484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5516FC-A3D6-892E-8CD5-C5385D3D8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6E1C3-8280-5F44-A2EB-A8DA9534036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537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DA3D9-FCBE-C529-A615-4C870B5FA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Getting Started with Python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62B415-A0BD-CD88-4A23-A9395CFFDA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0015857"/>
              </p:ext>
            </p:extLst>
          </p:nvPr>
        </p:nvGraphicFramePr>
        <p:xfrm>
          <a:off x="838200" y="1692613"/>
          <a:ext cx="10515600" cy="4484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253F62-0503-87B2-80E9-CFC62DF3D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6E1C3-8280-5F44-A2EB-A8DA9534036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068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5537D-F991-7FB9-3305-20B7F865F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Basics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D58DB1D-C5A8-2847-34EB-42ED358FB8C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692613"/>
          <a:ext cx="10515600" cy="4484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357B17-5FED-8178-5934-4311AAE66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6E1C3-8280-5F44-A2EB-A8DA9534036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443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24AE2-31B0-9BE3-8378-A6D6CF69F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Use Cases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BF1679-451B-5022-C239-1CD2D1B6166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692613"/>
          <a:ext cx="10515600" cy="4484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5CA158-41D2-A042-E1A7-98F4A2CB3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6E1C3-8280-5F44-A2EB-A8DA9534036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789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CTEX Simplified Presentation" id="{A3FA4CDF-2714-3148-BCB3-7E79399E3754}" vid="{91DFA6CA-0D1D-B343-81C7-00546A48FC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365838e-5742-406c-8643-fccf082479df">
      <Terms xmlns="http://schemas.microsoft.com/office/infopath/2007/PartnerControls"/>
    </lcf76f155ced4ddcb4097134ff3c332f>
    <TaxCatchAll xmlns="52d5e68b-42aa-4e72-89be-0e77d4ed4a9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397C6321A5CD4F9AEF20D465EC24EA" ma:contentTypeVersion="11" ma:contentTypeDescription="Create a new document." ma:contentTypeScope="" ma:versionID="62f04c541ba0253f91b331ea43e2d9ea">
  <xsd:schema xmlns:xsd="http://www.w3.org/2001/XMLSchema" xmlns:xs="http://www.w3.org/2001/XMLSchema" xmlns:p="http://schemas.microsoft.com/office/2006/metadata/properties" xmlns:ns2="7365838e-5742-406c-8643-fccf082479df" xmlns:ns3="52d5e68b-42aa-4e72-89be-0e77d4ed4a9a" targetNamespace="http://schemas.microsoft.com/office/2006/metadata/properties" ma:root="true" ma:fieldsID="5cae06a019a75c24c9c9fbb798a26d9e" ns2:_="" ns3:_="">
    <xsd:import namespace="7365838e-5742-406c-8643-fccf082479df"/>
    <xsd:import namespace="52d5e68b-42aa-4e72-89be-0e77d4ed4a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65838e-5742-406c-8643-fccf082479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a13d453-1d4d-4574-b55a-016e37864a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d5e68b-42aa-4e72-89be-0e77d4ed4a9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be32e77-3489-4dc6-98d5-1d52ffb41b53}" ma:internalName="TaxCatchAll" ma:showField="CatchAllData" ma:web="52d5e68b-42aa-4e72-89be-0e77d4ed4a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C0F0FD8-AA63-472B-8818-855F28185CF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4731122-71DB-458F-AC4E-8E8476744D67}">
  <ds:schemaRefs>
    <ds:schemaRef ds:uri="http://schemas.microsoft.com/office/2006/metadata/properties"/>
    <ds:schemaRef ds:uri="http://schemas.microsoft.com/office/infopath/2007/PartnerControls"/>
    <ds:schemaRef ds:uri="7365838e-5742-406c-8643-fccf082479df"/>
    <ds:schemaRef ds:uri="52d5e68b-42aa-4e72-89be-0e77d4ed4a9a"/>
  </ds:schemaRefs>
</ds:datastoreItem>
</file>

<file path=customXml/itemProps3.xml><?xml version="1.0" encoding="utf-8"?>
<ds:datastoreItem xmlns:ds="http://schemas.openxmlformats.org/officeDocument/2006/customXml" ds:itemID="{66018E8E-3D62-475A-9DCE-635C56ACCB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65838e-5742-406c-8643-fccf082479df"/>
    <ds:schemaRef ds:uri="52d5e68b-42aa-4e72-89be-0e77d4ed4a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ACTEX Simplified Presentation</Template>
  <TotalTime>147</TotalTime>
  <Words>1184</Words>
  <Application>Microsoft Office PowerPoint</Application>
  <PresentationFormat>Widescreen</PresentationFormat>
  <Paragraphs>107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Introduction to Python</vt:lpstr>
      <vt:lpstr>Presenters</vt:lpstr>
      <vt:lpstr>Why Teachers Should Learn Python?</vt:lpstr>
      <vt:lpstr>Why Actuarial Students Should Learn Python?</vt:lpstr>
      <vt:lpstr>Actuarial Applications</vt:lpstr>
      <vt:lpstr>Getting Started with Python</vt:lpstr>
      <vt:lpstr>Python Basics</vt:lpstr>
      <vt:lpstr>Advanced Use Cases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Rohan Yashraj Gupta</dc:creator>
  <cp:lastModifiedBy>Rohan Yashraj Gupta</cp:lastModifiedBy>
  <cp:revision>7</cp:revision>
  <dcterms:created xsi:type="dcterms:W3CDTF">2025-08-31T12:09:49Z</dcterms:created>
  <dcterms:modified xsi:type="dcterms:W3CDTF">2025-08-31T15:03:30Z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0x01010073397C6321A5CD4F9AEF20D465EC24EA</vt:lpwstr>
  </property>
</Properties>
</file>